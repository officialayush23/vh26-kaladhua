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31404E"/>
                </a:solidFill>
                <a:latin typeface="Calibri"/>
              </a:defRPr>
            </a:pPr>
            <a:r>
              <a:rPr sz="1100" b="0" i="0" u="none" strike="noStrike">
                <a:solidFill>
                  <a:srgbClr val="31404E"/>
                </a:solidFill>
                <a:latin typeface="Calibri"/>
              </a:rPr>
              <a:t>expensive_tail — total cost, lower is better</a:t>
            </a:r>
          </a:p>
        </c:rich>
      </c:tx>
      <c:layout/>
      <c:overlay val="0"/>
    </c:title>
    <c:autoTitleDeleted val="0"/>
    <c:plotArea>
      <c:layout/>
      <c:barChart>
        <c:barDir val="bar"/>
        <c:grouping val="clustered"/>
        <c:varyColors val="0"/>
        <c:ser>
          <c:idx val="0"/>
          <c:order val="0"/>
          <c:tx>
            <c:strRef>
              <c:f>Sheet1!$B$1</c:f>
              <c:strCache>
                <c:ptCount val="1"/>
                <c:pt idx="0">
                  <c:v>Total cost (USD)</c:v>
                </c:pt>
              </c:strCache>
            </c:strRef>
          </c:tx>
          <c:spPr>
            <a:solidFill>
              <a:srgbClr val="1B9C86"/>
            </a:solidFill>
            <a:effectLst/>
          </c:spPr>
          <c:invertIfNegative val="0"/>
          <c:dLbls>
            <c:numFmt formatCode="0.0" sourceLinked="0"/>
            <c:txPr>
              <a:bodyPr/>
              <a:lstStyle/>
              <a:p>
                <a:pPr>
                  <a:defRPr b="0" i="0" strike="noStrike" sz="850" u="none">
                    <a:solidFill>
                      <a:srgbClr val="31404E"/>
                    </a:solidFill>
                    <a:latin typeface="Calibri"/>
                  </a:defRPr>
                </a:pPr>
              </a:p>
            </c:txPr>
            <c:showLegendKey val="0"/>
            <c:showVal val="1"/>
            <c:showCatName val="0"/>
            <c:showSerName val="0"/>
            <c:showPercent val="0"/>
            <c:showBubbleSize val="0"/>
            <c:showLeaderLines val="0"/>
          </c:dLbls>
          <c:dPt>
            <c:idx val="0"/>
            <c:invertIfNegative val="0"/>
            <c:bubble3D val="0"/>
            <c:spPr>
              <a:solidFill>
                <a:srgbClr val="1B9C86"/>
              </a:solidFill>
              <a:effectLst/>
            </c:spPr>
          </c:dPt>
          <c:dPt>
            <c:idx val="1"/>
            <c:invertIfNegative val="0"/>
            <c:bubble3D val="0"/>
            <c:spPr>
              <a:solidFill>
                <a:srgbClr val="6B7C8C"/>
              </a:solidFill>
              <a:effectLst/>
            </c:spPr>
          </c:dPt>
          <c:dPt>
            <c:idx val="2"/>
            <c:invertIfNegative val="0"/>
            <c:bubble3D val="0"/>
            <c:spPr>
              <a:solidFill>
                <a:srgbClr val="6B7C8C"/>
              </a:solidFill>
              <a:effectLst/>
            </c:spPr>
          </c:dPt>
          <c:dPt>
            <c:idx val="3"/>
            <c:invertIfNegative val="0"/>
            <c:bubble3D val="0"/>
            <c:spPr>
              <a:solidFill>
                <a:srgbClr val="6B7C8C"/>
              </a:solidFill>
              <a:effectLst/>
            </c:spPr>
          </c:dPt>
          <c:dPt>
            <c:idx val="4"/>
            <c:invertIfNegative val="0"/>
            <c:bubble3D val="0"/>
            <c:spPr>
              <a:solidFill>
                <a:srgbClr val="6B7C8C"/>
              </a:solidFill>
              <a:effectLst/>
            </c:spPr>
          </c:dPt>
          <c:dPt>
            <c:idx val="5"/>
            <c:invertIfNegative val="0"/>
            <c:bubble3D val="0"/>
            <c:spPr>
              <a:solidFill>
                <a:srgbClr val="6B7C8C"/>
              </a:solidFill>
              <a:effectLst/>
            </c:spPr>
          </c:dPt>
          <c:dPt>
            <c:idx val="6"/>
            <c:invertIfNegative val="0"/>
            <c:bubble3D val="0"/>
            <c:spPr>
              <a:solidFill>
                <a:srgbClr val="6B7C8C"/>
              </a:solidFill>
              <a:effectLst/>
            </c:spPr>
          </c:dPt>
          <c:dPt>
            <c:idx val="7"/>
            <c:invertIfNegative val="0"/>
            <c:bubble3D val="0"/>
            <c:spPr>
              <a:solidFill>
                <a:srgbClr val="6B7C8C"/>
              </a:solidFill>
              <a:effectLst/>
            </c:spPr>
          </c:dPt>
          <c:dPt>
            <c:idx val="8"/>
            <c:invertIfNegative val="0"/>
            <c:bubble3D val="0"/>
            <c:spPr>
              <a:solidFill>
                <a:srgbClr val="6B7C8C"/>
              </a:solidFill>
              <a:effectLst/>
            </c:spPr>
          </c:dPt>
          <c:dPt>
            <c:idx val="9"/>
            <c:invertIfNegative val="0"/>
            <c:bubble3D val="0"/>
            <c:spPr>
              <a:solidFill>
                <a:srgbClr val="6B7C8C"/>
              </a:solidFill>
              <a:effectLst/>
            </c:spPr>
          </c:dPt>
          <c:cat>
            <c:multiLvlStrRef>
              <c:f>Sheet1!$A$2:$A$11</c:f>
              <c:multiLvlStrCache>
                <c:ptCount val="10"/>
                <c:lvl>
                  <c:pt idx="0">
                    <c:v>aura</c:v>
                  </c:pt>
                  <c:pt idx="1">
                    <c:v>tinylfu</c:v>
                  </c:pt>
                  <c:pt idx="2">
                    <c:v>sieve</c:v>
                  </c:pt>
                  <c:pt idx="3">
                    <c:v>lfu</c:v>
                  </c:pt>
                  <c:pt idx="4">
                    <c:v>s3fifo</c:v>
                  </c:pt>
                  <c:pt idx="5">
                    <c:v>gdsf</c:v>
                  </c:pt>
                  <c:pt idx="6">
                    <c:v>lecar</c:v>
                  </c:pt>
                  <c:pt idx="7">
                    <c:v>lru</c:v>
                  </c:pt>
                  <c:pt idx="8">
                    <c:v>gds</c:v>
                  </c:pt>
                  <c:pt idx="9">
                    <c:v>fifo</c:v>
                  </c:pt>
                </c:lvl>
              </c:multiLvlStrCache>
            </c:multiLvlStrRef>
          </c:cat>
          <c:val>
            <c:numRef>
              <c:f>Sheet1!$B$2:$B$11</c:f>
              <c:numCache>
                <c:formatCode>General</c:formatCode>
                <c:ptCount val="10"/>
                <c:pt idx="0">
                  <c:v>109.52</c:v>
                </c:pt>
                <c:pt idx="1">
                  <c:v>115.16</c:v>
                </c:pt>
                <c:pt idx="2">
                  <c:v>118.56</c:v>
                </c:pt>
                <c:pt idx="3">
                  <c:v>118.59</c:v>
                </c:pt>
                <c:pt idx="4">
                  <c:v>121.84</c:v>
                </c:pt>
                <c:pt idx="5">
                  <c:v>123.47</c:v>
                </c:pt>
                <c:pt idx="6">
                  <c:v>131.64</c:v>
                </c:pt>
                <c:pt idx="7">
                  <c:v>133.48</c:v>
                </c:pt>
                <c:pt idx="8">
                  <c:v>135.72</c:v>
                </c:pt>
                <c:pt idx="9">
                  <c:v>137.81</c:v>
                </c:pt>
              </c:numCache>
            </c:numRef>
          </c:val>
        </c:ser>
        <c:dLbls>
          <c:numFmt formatCode="0.0" sourceLinked="0"/>
          <c:txPr>
            <a:bodyPr/>
            <a:lstStyle/>
            <a:p>
              <a:pPr>
                <a:defRPr b="0" i="0" strike="noStrike" sz="850" u="none">
                  <a:solidFill>
                    <a:srgbClr val="31404E"/>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31404E"/>
                </a:solidFill>
                <a:latin typeface="Courier New"/>
              </a:defRPr>
            </a:pPr>
            <a:endParaRPr lang="en-US"/>
          </a:p>
        </c:txPr>
        <c:crossAx val="2094734552"/>
        <c:crosses val="autoZero"/>
        <c:auto val="1"/>
        <c:lblAlgn val="ctr"/>
        <c:noMultiLvlLbl val="1"/>
      </c:catAx>
      <c:valAx>
        <c:axId val="2094734552"/>
        <c:scaling>
          <c:orientation val="minMax"/>
          <c:max val="150"/>
        </c:scaling>
        <c:delete val="0"/>
        <c:axPos val="b"/>
        <c:majorGridlines>
          <c:spPr>
            <a:ln w="12700" cap="flat">
              <a:solidFill>
                <a:srgbClr val="D8DFE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6B7C8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explain the architecture yet. The next three slides are one scene: a cache makes a correct decision and the system gets worse. Everything after that is the consequence.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it as a scene, not a diagram. The cache was full, a cheap lookup arrived, something had to go, and the thing that went was the most expensive object in the pool.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GDS is the closest of these: it does carry a cost term. But the cost is supplied once and never measured again, and nothing in it predicts reuse.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only formula in the deck, on purpose. If they remember one thing, it is that the numerator is what the object saves and the denominator is what it costs to keep.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a real bug. The reward was once credited at decision time, which is the system grading its own homework: it learned that its confidence was justified whatever happened. Refusing everything would otherwise look like genius — hence 0.80, not 1.0, for a correct refusal.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Eviction, invalidation and expiry are counted as three separate events. Merging them hides the only one that indicates a bug: invalidation means the cache was wrong, eviction only means it was full.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Adoption cost, if asked: one call — get_or_regen(key, object_type, ttl_ms, regen). The SDK measures what your rebuild actually cost and hands that to the cache. Nothing else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Belady is reported as the offline optimum, not a competitor — 39.5% hit rate at $69.19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judge asks for proof of adaptation, open this tab: the belief bands and the pool-size line are the two places where the system visibly changes its mind. Nothing is backfilled.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A24"/>
        </a:solidFill>
      </p:bgPr>
    </p:bg>
    <p:spTree>
      <p:nvGrpSpPr>
        <p:cNvPr id="1" name=""/>
        <p:cNvGrpSpPr/>
        <p:nvPr/>
      </p:nvGrpSpPr>
      <p:grpSpPr>
        <a:xfrm>
          <a:off x="0" y="0"/>
          <a:ext cx="0" cy="0"/>
          <a:chOff x="0" y="0"/>
          <a:chExt cx="0" cy="0"/>
        </a:xfrm>
      </p:grpSpPr>
      <p:sp>
        <p:nvSpPr>
          <p:cNvPr id="2" name="Text 0"/>
          <p:cNvSpPr txBox="1"/>
          <p:nvPr/>
        </p:nvSpPr>
        <p:spPr>
          <a:xfrm>
            <a:off x="640080" y="1417320"/>
            <a:ext cx="5486400" cy="1005840"/>
          </a:xfrm>
          <a:prstGeom prst="rect">
            <a:avLst/>
          </a:prstGeom>
          <a:noFill/>
          <a:ln/>
        </p:spPr>
        <p:txBody>
          <a:bodyPr wrap="square" lIns="0" tIns="0" rIns="0" bIns="0" rtlCol="0" anchor="ctr"/>
          <a:lstStyle/>
          <a:p>
            <a:pPr indent="0" marL="0">
              <a:buNone/>
            </a:pPr>
            <a:r>
              <a:rPr lang="en-US" sz="6800" b="1" spc="300" kern="0" dirty="0">
                <a:solidFill>
                  <a:srgbClr val="FFFFFF"/>
                </a:solidFill>
                <a:latin typeface="Cambria" pitchFamily="34" charset="0"/>
                <a:ea typeface="Cambria" pitchFamily="34" charset="-122"/>
                <a:cs typeface="Cambria" pitchFamily="34" charset="-120"/>
              </a:rPr>
              <a:t>AURA</a:t>
            </a:r>
            <a:endParaRPr lang="en-US" sz="6800" dirty="0"/>
          </a:p>
        </p:txBody>
      </p:sp>
      <p:sp>
        <p:nvSpPr>
          <p:cNvPr id="3" name="Text 1"/>
          <p:cNvSpPr txBox="1"/>
          <p:nvPr/>
        </p:nvSpPr>
        <p:spPr>
          <a:xfrm>
            <a:off x="658368" y="2395728"/>
            <a:ext cx="6400800" cy="365760"/>
          </a:xfrm>
          <a:prstGeom prst="rect">
            <a:avLst/>
          </a:prstGeom>
          <a:noFill/>
          <a:ln/>
        </p:spPr>
        <p:txBody>
          <a:bodyPr wrap="square" lIns="0" tIns="0" rIns="0" bIns="0" rtlCol="0" anchor="ctr"/>
          <a:lstStyle/>
          <a:p>
            <a:pPr indent="0" marL="0">
              <a:buNone/>
            </a:pPr>
            <a:r>
              <a:rPr lang="en-US" sz="1700" dirty="0">
                <a:solidFill>
                  <a:srgbClr val="1B9C86"/>
                </a:solidFill>
                <a:latin typeface="Calibri" pitchFamily="34" charset="0"/>
                <a:ea typeface="Calibri" pitchFamily="34" charset="-122"/>
                <a:cs typeface="Calibri" pitchFamily="34" charset="-120"/>
              </a:rPr>
              <a:t>Adaptive Utility &amp; Runtime-Aware cache</a:t>
            </a:r>
            <a:endParaRPr lang="en-US" sz="1700" dirty="0"/>
          </a:p>
        </p:txBody>
      </p:sp>
      <p:sp>
        <p:nvSpPr>
          <p:cNvPr id="4" name="Text 2"/>
          <p:cNvSpPr txBox="1"/>
          <p:nvPr/>
        </p:nvSpPr>
        <p:spPr>
          <a:xfrm>
            <a:off x="658368" y="2852928"/>
            <a:ext cx="5852160" cy="822960"/>
          </a:xfrm>
          <a:prstGeom prst="rect">
            <a:avLst/>
          </a:prstGeom>
          <a:noFill/>
          <a:ln/>
        </p:spPr>
        <p:txBody>
          <a:bodyPr wrap="square" lIns="0" tIns="0" rIns="0" bIns="0" rtlCol="0" anchor="ctr"/>
          <a:lstStyle/>
          <a:p>
            <a:pPr indent="0" marL="0">
              <a:lnSpc>
                <a:spcPts val="2100"/>
              </a:lnSpc>
              <a:buNone/>
            </a:pPr>
            <a:r>
              <a:rPr lang="en-US" sz="1350" dirty="0">
                <a:solidFill>
                  <a:srgbClr val="9AAAB8"/>
                </a:solidFill>
                <a:latin typeface="Calibri" pitchFamily="34" charset="0"/>
                <a:ea typeface="Calibri" pitchFamily="34" charset="-122"/>
                <a:cs typeface="Calibri" pitchFamily="34" charset="-120"/>
              </a:rPr>
              <a:t>A cache that scores every object in dollars of backend work saved per dollar of</a:t>
            </a:r>
            <a:endParaRPr lang="en-US" sz="1350" dirty="0"/>
          </a:p>
          <a:p>
            <a:pPr indent="0" marL="0">
              <a:lnSpc>
                <a:spcPts val="2100"/>
              </a:lnSpc>
              <a:buNone/>
            </a:pPr>
            <a:r>
              <a:rPr lang="en-US" sz="1350" dirty="0">
                <a:solidFill>
                  <a:srgbClr val="9AAAB8"/>
                </a:solidFill>
                <a:latin typeface="Calibri" pitchFamily="34" charset="0"/>
                <a:ea typeface="Calibri" pitchFamily="34" charset="-122"/>
                <a:cs typeface="Calibri" pitchFamily="34" charset="-120"/>
              </a:rPr>
              <a:t>memory rented — and resizes itself when the arithmetic says to.</a:t>
            </a:r>
            <a:endParaRPr lang="en-US" sz="1350" dirty="0"/>
          </a:p>
        </p:txBody>
      </p:sp>
      <p:sp>
        <p:nvSpPr>
          <p:cNvPr id="5" name="Text 3"/>
          <p:cNvSpPr txBox="1"/>
          <p:nvPr/>
        </p:nvSpPr>
        <p:spPr>
          <a:xfrm>
            <a:off x="658368" y="4114800"/>
            <a:ext cx="5486400" cy="274320"/>
          </a:xfrm>
          <a:prstGeom prst="rect">
            <a:avLst/>
          </a:prstGeom>
          <a:noFill/>
          <a:ln/>
        </p:spPr>
        <p:txBody>
          <a:bodyPr wrap="square" lIns="0" tIns="0" rIns="0" bIns="0" rtlCol="0" anchor="ctr"/>
          <a:lstStyle/>
          <a:p>
            <a:pPr indent="0" marL="0">
              <a:buNone/>
            </a:pPr>
            <a:r>
              <a:rPr lang="en-US" sz="1100" spc="100" kern="0" dirty="0">
                <a:solidFill>
                  <a:srgbClr val="9AAAB8"/>
                </a:solidFill>
                <a:latin typeface="Calibri" pitchFamily="34" charset="0"/>
                <a:ea typeface="Calibri" pitchFamily="34" charset="-122"/>
                <a:cs typeface="Calibri" pitchFamily="34" charset="-120"/>
              </a:rPr>
              <a:t>VH26  ·  Application Scaling  ·  Team KalaDhua</a:t>
            </a:r>
            <a:endParaRPr lang="en-US" sz="1100" dirty="0"/>
          </a:p>
        </p:txBody>
      </p:sp>
      <p:sp>
        <p:nvSpPr>
          <p:cNvPr id="6" name="Shape 4"/>
          <p:cNvSpPr/>
          <p:nvPr/>
        </p:nvSpPr>
        <p:spPr>
          <a:xfrm>
            <a:off x="6446520" y="1371600"/>
            <a:ext cx="2148840" cy="2240280"/>
          </a:xfrm>
          <a:prstGeom prst="roundRect">
            <a:avLst>
              <a:gd name="adj" fmla="val 3404"/>
            </a:avLst>
          </a:prstGeom>
          <a:solidFill>
            <a:srgbClr val="1E2933"/>
          </a:solidFill>
          <a:ln w="12700">
            <a:solidFill>
              <a:srgbClr val="1E2933"/>
            </a:solidFill>
            <a:prstDash val="solid"/>
          </a:ln>
        </p:spPr>
      </p:sp>
      <p:sp>
        <p:nvSpPr>
          <p:cNvPr id="7" name="Text 5"/>
          <p:cNvSpPr txBox="1"/>
          <p:nvPr/>
        </p:nvSpPr>
        <p:spPr>
          <a:xfrm>
            <a:off x="6446520" y="1572768"/>
            <a:ext cx="2148840" cy="731520"/>
          </a:xfrm>
          <a:prstGeom prst="rect">
            <a:avLst/>
          </a:prstGeom>
          <a:noFill/>
          <a:ln/>
        </p:spPr>
        <p:txBody>
          <a:bodyPr wrap="square" lIns="0" tIns="0" rIns="0" bIns="0" rtlCol="0" anchor="ctr"/>
          <a:lstStyle/>
          <a:p>
            <a:pPr algn="ctr" indent="0" marL="0">
              <a:buNone/>
            </a:pPr>
            <a:r>
              <a:rPr lang="en-US" sz="4600" b="1" dirty="0">
                <a:solidFill>
                  <a:srgbClr val="1B9C86"/>
                </a:solidFill>
                <a:latin typeface="Cambria" pitchFamily="34" charset="0"/>
                <a:ea typeface="Cambria" pitchFamily="34" charset="-122"/>
                <a:cs typeface="Cambria" pitchFamily="34" charset="-120"/>
              </a:rPr>
              <a:t>5 / 6</a:t>
            </a:r>
            <a:endParaRPr lang="en-US" sz="4600" dirty="0"/>
          </a:p>
        </p:txBody>
      </p:sp>
      <p:sp>
        <p:nvSpPr>
          <p:cNvPr id="8" name="Text 6"/>
          <p:cNvSpPr txBox="1"/>
          <p:nvPr/>
        </p:nvSpPr>
        <p:spPr>
          <a:xfrm>
            <a:off x="6446520" y="2286000"/>
            <a:ext cx="2148840" cy="27432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scenarios won</a:t>
            </a:r>
            <a:endParaRPr lang="en-US" sz="1200" dirty="0"/>
          </a:p>
        </p:txBody>
      </p:sp>
      <p:sp>
        <p:nvSpPr>
          <p:cNvPr id="9" name="Text 7"/>
          <p:cNvSpPr txBox="1"/>
          <p:nvPr/>
        </p:nvSpPr>
        <p:spPr>
          <a:xfrm>
            <a:off x="6446520" y="2633472"/>
            <a:ext cx="2148840" cy="822960"/>
          </a:xfrm>
          <a:prstGeom prst="rect">
            <a:avLst/>
          </a:prstGeom>
          <a:noFill/>
          <a:ln/>
        </p:spPr>
        <p:txBody>
          <a:bodyPr wrap="square" lIns="0" tIns="0" rIns="0" bIns="0" rtlCol="0" anchor="ctr"/>
          <a:lstStyle/>
          <a:p>
            <a:pPr algn="ctr" indent="0" marL="0">
              <a:lnSpc>
                <a:spcPts val="1500"/>
              </a:lnSpc>
              <a:buNone/>
            </a:pPr>
            <a:r>
              <a:rPr lang="en-US" sz="1000" dirty="0">
                <a:solidFill>
                  <a:srgbClr val="9AAAB8"/>
                </a:solidFill>
                <a:latin typeface="Calibri" pitchFamily="34" charset="0"/>
                <a:ea typeface="Calibri" pitchFamily="34" charset="-122"/>
                <a:cs typeface="Calibri" pitchFamily="34" charset="-120"/>
              </a:rPr>
              <a:t>against 9 real baseline</a:t>
            </a:r>
            <a:endParaRPr lang="en-US" sz="1000" dirty="0"/>
          </a:p>
          <a:p>
            <a:pPr algn="ctr" indent="0" marL="0">
              <a:lnSpc>
                <a:spcPts val="1500"/>
              </a:lnSpc>
              <a:buNone/>
            </a:pPr>
            <a:r>
              <a:rPr lang="en-US" sz="1000" dirty="0">
                <a:solidFill>
                  <a:srgbClr val="9AAAB8"/>
                </a:solidFill>
                <a:latin typeface="Calibri" pitchFamily="34" charset="0"/>
                <a:ea typeface="Calibri" pitchFamily="34" charset="-122"/>
                <a:cs typeface="Calibri" pitchFamily="34" charset="-120"/>
              </a:rPr>
              <a:t>implementations, one</a:t>
            </a:r>
            <a:endParaRPr lang="en-US" sz="1000" dirty="0"/>
          </a:p>
          <a:p>
            <a:pPr algn="ctr" indent="0" marL="0">
              <a:lnSpc>
                <a:spcPts val="1500"/>
              </a:lnSpc>
              <a:buNone/>
            </a:pPr>
            <a:r>
              <a:rPr lang="en-US" sz="1000" dirty="0">
                <a:solidFill>
                  <a:srgbClr val="9AAAB8"/>
                </a:solidFill>
                <a:latin typeface="Calibri" pitchFamily="34" charset="0"/>
                <a:ea typeface="Calibri" pitchFamily="34" charset="-122"/>
                <a:cs typeface="Calibri" pitchFamily="34" charset="-120"/>
              </a:rPr>
              <a:t>identical request stream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A24"/>
        </a:solidFill>
      </p:bgPr>
    </p:bg>
    <p:spTree>
      <p:nvGrpSpPr>
        <p:cNvPr id="1" name=""/>
        <p:cNvGrpSpPr/>
        <p:nvPr/>
      </p:nvGrpSpPr>
      <p:grpSpPr>
        <a:xfrm>
          <a:off x="0" y="0"/>
          <a:ext cx="0" cy="0"/>
          <a:chOff x="0" y="0"/>
          <a:chExt cx="0" cy="0"/>
        </a:xfrm>
      </p:grpSpPr>
      <p:sp>
        <p:nvSpPr>
          <p:cNvPr id="2" name="Text 0"/>
          <p:cNvSpPr txBox="1"/>
          <p:nvPr/>
        </p:nvSpPr>
        <p:spPr>
          <a:xfrm>
            <a:off x="640080" y="1325880"/>
            <a:ext cx="7863840" cy="256032"/>
          </a:xfrm>
          <a:prstGeom prst="rect">
            <a:avLst/>
          </a:prstGeom>
          <a:noFill/>
          <a:ln/>
        </p:spPr>
        <p:txBody>
          <a:bodyPr wrap="square" lIns="0" tIns="0" rIns="0" bIns="0" rtlCol="0" anchor="ctr"/>
          <a:lstStyle/>
          <a:p>
            <a:pPr indent="0" marL="0">
              <a:buNone/>
            </a:pPr>
            <a:r>
              <a:rPr lang="en-US" sz="1100" b="1" spc="200" kern="0" dirty="0">
                <a:solidFill>
                  <a:srgbClr val="1B9C86"/>
                </a:solidFill>
                <a:latin typeface="Calibri" pitchFamily="34" charset="0"/>
                <a:ea typeface="Calibri" pitchFamily="34" charset="-122"/>
                <a:cs typeface="Calibri" pitchFamily="34" charset="-120"/>
              </a:rPr>
              <a:t>ACT ONE</a:t>
            </a:r>
            <a:endParaRPr lang="en-US" sz="1100" dirty="0"/>
          </a:p>
        </p:txBody>
      </p:sp>
      <p:sp>
        <p:nvSpPr>
          <p:cNvPr id="3" name="Text 1"/>
          <p:cNvSpPr txBox="1"/>
          <p:nvPr/>
        </p:nvSpPr>
        <p:spPr>
          <a:xfrm>
            <a:off x="640080" y="1691640"/>
            <a:ext cx="7863840" cy="1371600"/>
          </a:xfrm>
          <a:prstGeom prst="rect">
            <a:avLst/>
          </a:prstGeom>
          <a:noFill/>
          <a:ln/>
        </p:spPr>
        <p:txBody>
          <a:bodyPr wrap="square" lIns="0" tIns="0" rIns="0" bIns="0" rtlCol="0" anchor="ctr"/>
          <a:lstStyle/>
          <a:p>
            <a:pPr indent="0" marL="0">
              <a:lnSpc>
                <a:spcPts val="4600"/>
              </a:lnSpc>
              <a:buNone/>
            </a:pPr>
            <a:r>
              <a:rPr lang="en-US" sz="3800" b="1" dirty="0">
                <a:solidFill>
                  <a:srgbClr val="FFFFFF"/>
                </a:solidFill>
                <a:latin typeface="Cambria" pitchFamily="34" charset="0"/>
                <a:ea typeface="Cambria" pitchFamily="34" charset="-122"/>
                <a:cs typeface="Cambria" pitchFamily="34" charset="-120"/>
              </a:rPr>
              <a:t>What does a full cache</a:t>
            </a:r>
            <a:endParaRPr lang="en-US" sz="3800" dirty="0"/>
          </a:p>
          <a:p>
            <a:pPr indent="0" marL="0">
              <a:lnSpc>
                <a:spcPts val="4600"/>
              </a:lnSpc>
              <a:buNone/>
            </a:pPr>
            <a:r>
              <a:rPr lang="en-US" sz="3800" b="1" dirty="0">
                <a:solidFill>
                  <a:srgbClr val="FFFFFF"/>
                </a:solidFill>
                <a:latin typeface="Cambria" pitchFamily="34" charset="0"/>
                <a:ea typeface="Cambria" pitchFamily="34" charset="-122"/>
                <a:cs typeface="Cambria" pitchFamily="34" charset="-120"/>
              </a:rPr>
              <a:t>throw away?</a:t>
            </a:r>
            <a:endParaRPr lang="en-US" sz="3800" dirty="0"/>
          </a:p>
        </p:txBody>
      </p:sp>
      <p:sp>
        <p:nvSpPr>
          <p:cNvPr id="4" name="Text 2"/>
          <p:cNvSpPr txBox="1"/>
          <p:nvPr/>
        </p:nvSpPr>
        <p:spPr>
          <a:xfrm>
            <a:off x="658368" y="3310128"/>
            <a:ext cx="6949440" cy="548640"/>
          </a:xfrm>
          <a:prstGeom prst="rect">
            <a:avLst/>
          </a:prstGeom>
          <a:noFill/>
          <a:ln/>
        </p:spPr>
        <p:txBody>
          <a:bodyPr wrap="square" lIns="0" tIns="0" rIns="0" bIns="0" rtlCol="0" anchor="ctr"/>
          <a:lstStyle/>
          <a:p>
            <a:pPr indent="0" marL="0">
              <a:lnSpc>
                <a:spcPts val="1900"/>
              </a:lnSpc>
              <a:buNone/>
            </a:pPr>
            <a:r>
              <a:rPr lang="en-US" sz="1250" dirty="0">
                <a:solidFill>
                  <a:srgbClr val="9AAAB8"/>
                </a:solidFill>
                <a:latin typeface="Calibri" pitchFamily="34" charset="0"/>
                <a:ea typeface="Calibri" pitchFamily="34" charset="-122"/>
                <a:cs typeface="Calibri" pitchFamily="34" charset="-120"/>
              </a:rPr>
              <a:t>It answers that question a million times a day. Almost none of them know what the answer cost.</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ctr"/>
          <a:lstStyle/>
          <a:p>
            <a:pPr indent="0" marL="0">
              <a:buNone/>
            </a:pPr>
            <a:r>
              <a:rPr lang="en-US" sz="1100" b="1" spc="200" kern="0" dirty="0">
                <a:solidFill>
                  <a:srgbClr val="1B9C86"/>
                </a:solidFill>
                <a:latin typeface="Calibri" pitchFamily="34" charset="0"/>
                <a:ea typeface="Calibri" pitchFamily="34" charset="-122"/>
                <a:cs typeface="Calibri" pitchFamily="34" charset="-120"/>
              </a:rPr>
              <a:t>THE MOMENT IT GOES WRONG</a:t>
            </a:r>
            <a:endParaRPr lang="en-US" sz="1100" dirty="0"/>
          </a:p>
        </p:txBody>
      </p:sp>
      <p:sp>
        <p:nvSpPr>
          <p:cNvPr id="3" name="Text 1"/>
          <p:cNvSpPr txBox="1"/>
          <p:nvPr/>
        </p:nvSpPr>
        <p:spPr>
          <a:xfrm>
            <a:off x="548640" y="658368"/>
            <a:ext cx="8229600" cy="731520"/>
          </a:xfrm>
          <a:prstGeom prst="rect">
            <a:avLst/>
          </a:prstGeom>
          <a:noFill/>
          <a:ln/>
        </p:spPr>
        <p:txBody>
          <a:bodyPr wrap="square" lIns="0" tIns="0" rIns="0" bIns="0" rtlCol="0" anchor="t"/>
          <a:lstStyle/>
          <a:p>
            <a:pPr indent="0" marL="0">
              <a:buNone/>
            </a:pPr>
            <a:r>
              <a:rPr lang="en-US" sz="2800" b="1" dirty="0">
                <a:solidFill>
                  <a:srgbClr val="141A24"/>
                </a:solidFill>
                <a:latin typeface="Cambria" pitchFamily="34" charset="0"/>
                <a:ea typeface="Cambria" pitchFamily="34" charset="-122"/>
                <a:cs typeface="Cambria" pitchFamily="34" charset="-120"/>
              </a:rPr>
              <a:t>The cache did its job. The system got worse.</a:t>
            </a:r>
            <a:endParaRPr lang="en-US" sz="2800" dirty="0"/>
          </a:p>
        </p:txBody>
      </p:sp>
      <p:sp>
        <p:nvSpPr>
          <p:cNvPr id="4" name="Shape 2"/>
          <p:cNvSpPr/>
          <p:nvPr/>
        </p:nvSpPr>
        <p:spPr>
          <a:xfrm>
            <a:off x="548640" y="1371600"/>
            <a:ext cx="3931920" cy="1554480"/>
          </a:xfrm>
          <a:prstGeom prst="roundRect">
            <a:avLst>
              <a:gd name="adj" fmla="val 3529"/>
            </a:avLst>
          </a:prstGeom>
          <a:solidFill>
            <a:srgbClr val="FBE9D4"/>
          </a:solidFill>
          <a:ln w="12700">
            <a:solidFill>
              <a:srgbClr val="FBE9D4"/>
            </a:solidFill>
            <a:prstDash val="solid"/>
          </a:ln>
          <a:effectLst>
            <a:outerShdw sx="100000" sy="100000" kx="0" ky="0" algn="bl" rotWithShape="0" blurRad="101600" dist="12700" dir="5400000">
              <a:srgbClr val="8CA0B3">
                <a:alpha val="10000"/>
              </a:srgbClr>
            </a:outerShdw>
          </a:effectLst>
        </p:spPr>
      </p:sp>
      <p:sp>
        <p:nvSpPr>
          <p:cNvPr id="5" name="Text 3"/>
          <p:cNvSpPr txBox="1"/>
          <p:nvPr/>
        </p:nvSpPr>
        <p:spPr>
          <a:xfrm>
            <a:off x="804672" y="1499616"/>
            <a:ext cx="3474720" cy="256032"/>
          </a:xfrm>
          <a:prstGeom prst="rect">
            <a:avLst/>
          </a:prstGeom>
          <a:noFill/>
          <a:ln/>
        </p:spPr>
        <p:txBody>
          <a:bodyPr wrap="square" lIns="0" tIns="0" rIns="0" bIns="0" rtlCol="0" anchor="ctr"/>
          <a:lstStyle/>
          <a:p>
            <a:pPr indent="0" marL="0">
              <a:buNone/>
            </a:pPr>
            <a:r>
              <a:rPr lang="en-US" sz="1250" b="1" dirty="0">
                <a:solidFill>
                  <a:srgbClr val="D97A16"/>
                </a:solidFill>
                <a:latin typeface="Calibri" pitchFamily="34" charset="0"/>
                <a:ea typeface="Calibri" pitchFamily="34" charset="-122"/>
                <a:cs typeface="Calibri" pitchFamily="34" charset="-120"/>
              </a:rPr>
              <a:t>The analytics rollup</a:t>
            </a:r>
            <a:endParaRPr lang="en-US" sz="1250" dirty="0"/>
          </a:p>
        </p:txBody>
      </p:sp>
      <p:sp>
        <p:nvSpPr>
          <p:cNvPr id="6" name="Text 4"/>
          <p:cNvSpPr txBox="1"/>
          <p:nvPr/>
        </p:nvSpPr>
        <p:spPr>
          <a:xfrm>
            <a:off x="804672" y="1810512"/>
            <a:ext cx="3474720" cy="640080"/>
          </a:xfrm>
          <a:prstGeom prst="rect">
            <a:avLst/>
          </a:prstGeom>
          <a:noFill/>
          <a:ln/>
        </p:spPr>
        <p:txBody>
          <a:bodyPr wrap="square" lIns="0" tIns="0" rIns="0" bIns="0" rtlCol="0" anchor="ctr"/>
          <a:lstStyle/>
          <a:p>
            <a:pPr indent="0" marL="0">
              <a:lnSpc>
                <a:spcPts val="1700"/>
              </a:lnSpc>
              <a:buNone/>
            </a:pPr>
            <a:r>
              <a:rPr lang="en-US" sz="1150" dirty="0">
                <a:solidFill>
                  <a:srgbClr val="31404E"/>
                </a:solidFill>
                <a:latin typeface="Calibri" pitchFamily="34" charset="0"/>
                <a:ea typeface="Calibri" pitchFamily="34" charset="-122"/>
                <a:cs typeface="Calibri" pitchFamily="34" charset="-120"/>
              </a:rPr>
              <a:t>900 ms of database time to build</a:t>
            </a:r>
            <a:endParaRPr lang="en-US" sz="1150" dirty="0"/>
          </a:p>
          <a:p>
            <a:pPr indent="0" marL="0">
              <a:lnSpc>
                <a:spcPts val="1700"/>
              </a:lnSpc>
              <a:buNone/>
            </a:pPr>
            <a:r>
              <a:rPr lang="en-US" sz="1150" dirty="0">
                <a:solidFill>
                  <a:srgbClr val="31404E"/>
                </a:solidFill>
                <a:latin typeface="Calibri" pitchFamily="34" charset="0"/>
                <a:ea typeface="Calibri" pitchFamily="34" charset="-122"/>
                <a:cs typeface="Calibri" pitchFamily="34" charset="-120"/>
              </a:rPr>
              <a:t>last touched a minute ago</a:t>
            </a:r>
            <a:endParaRPr lang="en-US" sz="1150" dirty="0"/>
          </a:p>
        </p:txBody>
      </p:sp>
      <p:sp>
        <p:nvSpPr>
          <p:cNvPr id="7" name="Text 5"/>
          <p:cNvSpPr txBox="1"/>
          <p:nvPr/>
        </p:nvSpPr>
        <p:spPr>
          <a:xfrm>
            <a:off x="804672" y="2487168"/>
            <a:ext cx="3474720" cy="274320"/>
          </a:xfrm>
          <a:prstGeom prst="rect">
            <a:avLst/>
          </a:prstGeom>
          <a:noFill/>
          <a:ln/>
        </p:spPr>
        <p:txBody>
          <a:bodyPr wrap="square" lIns="0" tIns="0" rIns="0" bIns="0" rtlCol="0" anchor="ctr"/>
          <a:lstStyle/>
          <a:p>
            <a:pPr indent="0" marL="0">
              <a:buNone/>
            </a:pPr>
            <a:r>
              <a:rPr lang="en-US" sz="1200" b="1" dirty="0">
                <a:solidFill>
                  <a:srgbClr val="B3402F"/>
                </a:solidFill>
                <a:latin typeface="Calibri" pitchFamily="34" charset="0"/>
                <a:ea typeface="Calibri" pitchFamily="34" charset="-122"/>
                <a:cs typeface="Calibri" pitchFamily="34" charset="-120"/>
              </a:rPr>
              <a:t>evicted</a:t>
            </a:r>
            <a:endParaRPr lang="en-US" sz="1200" dirty="0"/>
          </a:p>
        </p:txBody>
      </p:sp>
      <p:sp>
        <p:nvSpPr>
          <p:cNvPr id="8" name="Shape 6"/>
          <p:cNvSpPr/>
          <p:nvPr/>
        </p:nvSpPr>
        <p:spPr>
          <a:xfrm>
            <a:off x="4663440" y="1371600"/>
            <a:ext cx="3931920" cy="1554480"/>
          </a:xfrm>
          <a:prstGeom prst="roundRect">
            <a:avLst>
              <a:gd name="adj" fmla="val 3529"/>
            </a:avLst>
          </a:prstGeom>
          <a:solidFill>
            <a:srgbClr val="F1F4F7"/>
          </a:solidFill>
          <a:ln w="12700">
            <a:solidFill>
              <a:srgbClr val="F1F4F7"/>
            </a:solidFill>
            <a:prstDash val="solid"/>
          </a:ln>
          <a:effectLst>
            <a:outerShdw sx="100000" sy="100000" kx="0" ky="0" algn="bl" rotWithShape="0" blurRad="101600" dist="12700" dir="5400000">
              <a:srgbClr val="8CA0B3">
                <a:alpha val="10000"/>
              </a:srgbClr>
            </a:outerShdw>
          </a:effectLst>
        </p:spPr>
      </p:sp>
      <p:sp>
        <p:nvSpPr>
          <p:cNvPr id="9" name="Text 7"/>
          <p:cNvSpPr txBox="1"/>
          <p:nvPr/>
        </p:nvSpPr>
        <p:spPr>
          <a:xfrm>
            <a:off x="4919472" y="1499616"/>
            <a:ext cx="3474720" cy="256032"/>
          </a:xfrm>
          <a:prstGeom prst="rect">
            <a:avLst/>
          </a:prstGeom>
          <a:noFill/>
          <a:ln/>
        </p:spPr>
        <p:txBody>
          <a:bodyPr wrap="square" lIns="0" tIns="0" rIns="0" bIns="0" rtlCol="0" anchor="ctr"/>
          <a:lstStyle/>
          <a:p>
            <a:pPr indent="0" marL="0">
              <a:buNone/>
            </a:pPr>
            <a:r>
              <a:rPr lang="en-US" sz="1250" b="1" dirty="0">
                <a:solidFill>
                  <a:srgbClr val="141A24"/>
                </a:solidFill>
                <a:latin typeface="Calibri" pitchFamily="34" charset="0"/>
                <a:ea typeface="Calibri" pitchFamily="34" charset="-122"/>
                <a:cs typeface="Calibri" pitchFamily="34" charset="-120"/>
              </a:rPr>
              <a:t>The product lookup</a:t>
            </a:r>
            <a:endParaRPr lang="en-US" sz="1250" dirty="0"/>
          </a:p>
        </p:txBody>
      </p:sp>
      <p:sp>
        <p:nvSpPr>
          <p:cNvPr id="10" name="Text 8"/>
          <p:cNvSpPr txBox="1"/>
          <p:nvPr/>
        </p:nvSpPr>
        <p:spPr>
          <a:xfrm>
            <a:off x="4919472" y="1810512"/>
            <a:ext cx="3474720" cy="640080"/>
          </a:xfrm>
          <a:prstGeom prst="rect">
            <a:avLst/>
          </a:prstGeom>
          <a:noFill/>
          <a:ln/>
        </p:spPr>
        <p:txBody>
          <a:bodyPr wrap="square" lIns="0" tIns="0" rIns="0" bIns="0" rtlCol="0" anchor="ctr"/>
          <a:lstStyle/>
          <a:p>
            <a:pPr indent="0" marL="0">
              <a:lnSpc>
                <a:spcPts val="1700"/>
              </a:lnSpc>
              <a:buNone/>
            </a:pPr>
            <a:r>
              <a:rPr lang="en-US" sz="1150" dirty="0">
                <a:solidFill>
                  <a:srgbClr val="31404E"/>
                </a:solidFill>
                <a:latin typeface="Calibri" pitchFamily="34" charset="0"/>
                <a:ea typeface="Calibri" pitchFamily="34" charset="-122"/>
                <a:cs typeface="Calibri" pitchFamily="34" charset="-120"/>
              </a:rPr>
              <a:t>a primary-key read, near enough free</a:t>
            </a:r>
            <a:endParaRPr lang="en-US" sz="1150" dirty="0"/>
          </a:p>
          <a:p>
            <a:pPr indent="0" marL="0">
              <a:lnSpc>
                <a:spcPts val="1700"/>
              </a:lnSpc>
              <a:buNone/>
            </a:pPr>
            <a:r>
              <a:rPr lang="en-US" sz="1150" dirty="0">
                <a:solidFill>
                  <a:srgbClr val="31404E"/>
                </a:solidFill>
                <a:latin typeface="Calibri" pitchFamily="34" charset="0"/>
                <a:ea typeface="Calibri" pitchFamily="34" charset="-122"/>
                <a:cs typeface="Calibri" pitchFamily="34" charset="-120"/>
              </a:rPr>
              <a:t>touched a moment ago</a:t>
            </a:r>
            <a:endParaRPr lang="en-US" sz="1150" dirty="0"/>
          </a:p>
        </p:txBody>
      </p:sp>
      <p:sp>
        <p:nvSpPr>
          <p:cNvPr id="11" name="Text 9"/>
          <p:cNvSpPr txBox="1"/>
          <p:nvPr/>
        </p:nvSpPr>
        <p:spPr>
          <a:xfrm>
            <a:off x="4919472" y="2487168"/>
            <a:ext cx="3474720" cy="274320"/>
          </a:xfrm>
          <a:prstGeom prst="rect">
            <a:avLst/>
          </a:prstGeom>
          <a:noFill/>
          <a:ln/>
        </p:spPr>
        <p:txBody>
          <a:bodyPr wrap="square" lIns="0" tIns="0" rIns="0" bIns="0" rtlCol="0" anchor="ctr"/>
          <a:lstStyle/>
          <a:p>
            <a:pPr indent="0" marL="0">
              <a:buNone/>
            </a:pPr>
            <a:r>
              <a:rPr lang="en-US" sz="1200" b="1" dirty="0">
                <a:solidFill>
                  <a:srgbClr val="1B9C86"/>
                </a:solidFill>
                <a:latin typeface="Calibri" pitchFamily="34" charset="0"/>
                <a:ea typeface="Calibri" pitchFamily="34" charset="-122"/>
                <a:cs typeface="Calibri" pitchFamily="34" charset="-120"/>
              </a:rPr>
              <a:t>kept</a:t>
            </a:r>
            <a:endParaRPr lang="en-US" sz="1200" dirty="0"/>
          </a:p>
        </p:txBody>
      </p:sp>
      <p:sp>
        <p:nvSpPr>
          <p:cNvPr id="12" name="Shape 10"/>
          <p:cNvSpPr/>
          <p:nvPr/>
        </p:nvSpPr>
        <p:spPr>
          <a:xfrm>
            <a:off x="548640" y="3063240"/>
            <a:ext cx="8046720" cy="1051560"/>
          </a:xfrm>
          <a:prstGeom prst="roundRect">
            <a:avLst>
              <a:gd name="adj" fmla="val 5217"/>
            </a:avLst>
          </a:prstGeom>
          <a:solidFill>
            <a:srgbClr val="F7E2DE"/>
          </a:solidFill>
          <a:ln w="12700">
            <a:solidFill>
              <a:srgbClr val="F7E2DE"/>
            </a:solidFill>
            <a:prstDash val="solid"/>
          </a:ln>
          <a:effectLst>
            <a:outerShdw sx="100000" sy="100000" kx="0" ky="0" algn="bl" rotWithShape="0" blurRad="101600" dist="12700" dir="5400000">
              <a:srgbClr val="8CA0B3">
                <a:alpha val="10000"/>
              </a:srgbClr>
            </a:outerShdw>
          </a:effectLst>
        </p:spPr>
      </p:sp>
      <p:sp>
        <p:nvSpPr>
          <p:cNvPr id="13" name="Text 11"/>
          <p:cNvSpPr txBox="1"/>
          <p:nvPr/>
        </p:nvSpPr>
        <p:spPr>
          <a:xfrm>
            <a:off x="804672" y="3182112"/>
            <a:ext cx="7589520" cy="274320"/>
          </a:xfrm>
          <a:prstGeom prst="rect">
            <a:avLst/>
          </a:prstGeom>
          <a:noFill/>
          <a:ln/>
        </p:spPr>
        <p:txBody>
          <a:bodyPr wrap="square" lIns="0" tIns="0" rIns="0" bIns="0" rtlCol="0" anchor="ctr"/>
          <a:lstStyle/>
          <a:p>
            <a:pPr indent="0" marL="0">
              <a:buNone/>
            </a:pPr>
            <a:r>
              <a:rPr lang="en-US" sz="1250" b="1" dirty="0">
                <a:solidFill>
                  <a:srgbClr val="B3402F"/>
                </a:solidFill>
                <a:latin typeface="Calibri" pitchFamily="34" charset="0"/>
                <a:ea typeface="Calibri" pitchFamily="34" charset="-122"/>
                <a:cs typeface="Calibri" pitchFamily="34" charset="-120"/>
              </a:rPr>
              <a:t>Same size. Same one hit each. A hundred times the difference in price.</a:t>
            </a:r>
            <a:endParaRPr lang="en-US" sz="1250" dirty="0"/>
          </a:p>
        </p:txBody>
      </p:sp>
      <p:sp>
        <p:nvSpPr>
          <p:cNvPr id="14" name="Text 12"/>
          <p:cNvSpPr txBox="1"/>
          <p:nvPr/>
        </p:nvSpPr>
        <p:spPr>
          <a:xfrm>
            <a:off x="804672" y="3474720"/>
            <a:ext cx="7589520" cy="566928"/>
          </a:xfrm>
          <a:prstGeom prst="rect">
            <a:avLst/>
          </a:prstGeom>
          <a:noFill/>
          <a:ln/>
        </p:spPr>
        <p:txBody>
          <a:bodyPr wrap="square" lIns="0" tIns="0" rIns="0" bIns="0" rtlCol="0" anchor="ctr"/>
          <a:lstStyle/>
          <a:p>
            <a:pPr indent="0" marL="0">
              <a:lnSpc>
                <a:spcPts val="1500"/>
              </a:lnSpc>
              <a:buNone/>
            </a:pPr>
            <a:r>
              <a:rPr lang="en-US" sz="1100" dirty="0">
                <a:solidFill>
                  <a:srgbClr val="31404E"/>
                </a:solidFill>
                <a:latin typeface="Calibri" pitchFamily="34" charset="0"/>
                <a:ea typeface="Calibri" pitchFamily="34" charset="-122"/>
                <a:cs typeface="Calibri" pitchFamily="34" charset="-120"/>
              </a:rPr>
              <a:t>LRU did not choose the cheaper object to keep. It chose the one that arrived more recently, which happened to be the cheaper one. It cannot tell the difference, because arrival order carries no information about what anything cost to build.</a:t>
            </a:r>
            <a:endParaRPr lang="en-US" sz="1100" dirty="0"/>
          </a:p>
        </p:txBody>
      </p:sp>
      <p:sp>
        <p:nvSpPr>
          <p:cNvPr id="15" name="Text 13"/>
          <p:cNvSpPr txBox="1"/>
          <p:nvPr/>
        </p:nvSpPr>
        <p:spPr>
          <a:xfrm>
            <a:off x="548640" y="4261104"/>
            <a:ext cx="7680960" cy="502920"/>
          </a:xfrm>
          <a:prstGeom prst="rect">
            <a:avLst/>
          </a:prstGeom>
          <a:noFill/>
          <a:ln/>
        </p:spPr>
        <p:txBody>
          <a:bodyPr wrap="square" lIns="0" tIns="0" rIns="0" bIns="0" rtlCol="0" anchor="ctr"/>
          <a:lstStyle/>
          <a:p>
            <a:pPr indent="0" marL="0">
              <a:lnSpc>
                <a:spcPts val="1700"/>
              </a:lnSpc>
              <a:buNone/>
            </a:pPr>
            <a:r>
              <a:rPr lang="en-US" sz="1200" i="1" dirty="0">
                <a:solidFill>
                  <a:srgbClr val="6B7C8C"/>
                </a:solidFill>
                <a:latin typeface="Calibri" pitchFamily="34" charset="0"/>
                <a:ea typeface="Calibri" pitchFamily="34" charset="-122"/>
                <a:cs typeface="Calibri" pitchFamily="34" charset="-120"/>
              </a:rPr>
              <a:t>The policy was followed exactly. The next request for that rollup pays 900 ms of database time again.</a:t>
            </a:r>
            <a:endParaRPr lang="en-US" sz="1200" dirty="0"/>
          </a:p>
        </p:txBody>
      </p:sp>
      <p:sp>
        <p:nvSpPr>
          <p:cNvPr id="16" name="Text 14"/>
          <p:cNvSpPr txBox="1"/>
          <p:nvPr/>
        </p:nvSpPr>
        <p:spPr>
          <a:xfrm>
            <a:off x="8321040" y="4864608"/>
            <a:ext cx="457200" cy="237744"/>
          </a:xfrm>
          <a:prstGeom prst="rect">
            <a:avLst/>
          </a:prstGeom>
          <a:noFill/>
          <a:ln/>
        </p:spPr>
        <p:txBody>
          <a:bodyPr wrap="square" lIns="0" tIns="0" rIns="0" bIns="0" rtlCol="0" anchor="ctr"/>
          <a:lstStyle/>
          <a:p>
            <a:pPr algn="r" indent="0" marL="0">
              <a:buNone/>
            </a:pPr>
            <a:r>
              <a:rPr lang="en-US" sz="1000" dirty="0">
                <a:solidFill>
                  <a:srgbClr val="6B7C8C"/>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ctr"/>
          <a:lstStyle/>
          <a:p>
            <a:pPr indent="0" marL="0">
              <a:buNone/>
            </a:pPr>
            <a:r>
              <a:rPr lang="en-US" sz="1100" b="1" spc="200" kern="0" dirty="0">
                <a:solidFill>
                  <a:srgbClr val="1B9C86"/>
                </a:solidFill>
                <a:latin typeface="Calibri" pitchFamily="34" charset="0"/>
                <a:ea typeface="Calibri" pitchFamily="34" charset="-122"/>
                <a:cs typeface="Calibri" pitchFamily="34" charset="-120"/>
              </a:rPr>
              <a:t>THE BLIND SPOT IS GENERAL</a:t>
            </a:r>
            <a:endParaRPr lang="en-US" sz="1100" dirty="0"/>
          </a:p>
        </p:txBody>
      </p:sp>
      <p:sp>
        <p:nvSpPr>
          <p:cNvPr id="3" name="Text 1"/>
          <p:cNvSpPr txBox="1"/>
          <p:nvPr/>
        </p:nvSpPr>
        <p:spPr>
          <a:xfrm>
            <a:off x="548640" y="658368"/>
            <a:ext cx="8229600" cy="731520"/>
          </a:xfrm>
          <a:prstGeom prst="rect">
            <a:avLst/>
          </a:prstGeom>
          <a:noFill/>
          <a:ln/>
        </p:spPr>
        <p:txBody>
          <a:bodyPr wrap="square" lIns="0" tIns="0" rIns="0" bIns="0" rtlCol="0" anchor="t"/>
          <a:lstStyle/>
          <a:p>
            <a:pPr indent="0" marL="0">
              <a:buNone/>
            </a:pPr>
            <a:r>
              <a:rPr lang="en-US" sz="2700" b="1" dirty="0">
                <a:solidFill>
                  <a:srgbClr val="141A24"/>
                </a:solidFill>
                <a:latin typeface="Cambria" pitchFamily="34" charset="0"/>
                <a:ea typeface="Cambria" pitchFamily="34" charset="-122"/>
                <a:cs typeface="Cambria" pitchFamily="34" charset="-120"/>
              </a:rPr>
              <a:t>Every conventional policy ranks on a proxy</a:t>
            </a:r>
            <a:endParaRPr lang="en-US" sz="2700" dirty="0"/>
          </a:p>
        </p:txBody>
      </p:sp>
      <p:sp>
        <p:nvSpPr>
          <p:cNvPr id="4" name="Text 2"/>
          <p:cNvSpPr txBox="1"/>
          <p:nvPr/>
        </p:nvSpPr>
        <p:spPr>
          <a:xfrm>
            <a:off x="566928" y="1371600"/>
            <a:ext cx="1554480" cy="219456"/>
          </a:xfrm>
          <a:prstGeom prst="rect">
            <a:avLst/>
          </a:prstGeom>
          <a:noFill/>
          <a:ln/>
        </p:spPr>
        <p:txBody>
          <a:bodyPr wrap="square" lIns="0" tIns="0" rIns="0" bIns="0" rtlCol="0" anchor="ctr"/>
          <a:lstStyle/>
          <a:p>
            <a:pPr indent="0" marL="0">
              <a:buNone/>
            </a:pPr>
            <a:r>
              <a:rPr lang="en-US" sz="950" b="1" spc="100" kern="0" dirty="0">
                <a:solidFill>
                  <a:srgbClr val="6B7C8C"/>
                </a:solidFill>
                <a:latin typeface="Calibri" pitchFamily="34" charset="0"/>
                <a:ea typeface="Calibri" pitchFamily="34" charset="-122"/>
                <a:cs typeface="Calibri" pitchFamily="34" charset="-120"/>
              </a:rPr>
              <a:t>policy</a:t>
            </a:r>
            <a:endParaRPr lang="en-US" sz="950" dirty="0"/>
          </a:p>
        </p:txBody>
      </p:sp>
      <p:sp>
        <p:nvSpPr>
          <p:cNvPr id="5" name="Text 3"/>
          <p:cNvSpPr txBox="1"/>
          <p:nvPr/>
        </p:nvSpPr>
        <p:spPr>
          <a:xfrm>
            <a:off x="2286000" y="1371600"/>
            <a:ext cx="2743200" cy="219456"/>
          </a:xfrm>
          <a:prstGeom prst="rect">
            <a:avLst/>
          </a:prstGeom>
          <a:noFill/>
          <a:ln/>
        </p:spPr>
        <p:txBody>
          <a:bodyPr wrap="square" lIns="0" tIns="0" rIns="0" bIns="0" rtlCol="0" anchor="ctr"/>
          <a:lstStyle/>
          <a:p>
            <a:pPr indent="0" marL="0">
              <a:buNone/>
            </a:pPr>
            <a:r>
              <a:rPr lang="en-US" sz="950" b="1" spc="100" kern="0" dirty="0">
                <a:solidFill>
                  <a:srgbClr val="6B7C8C"/>
                </a:solidFill>
                <a:latin typeface="Calibri" pitchFamily="34" charset="0"/>
                <a:ea typeface="Calibri" pitchFamily="34" charset="-122"/>
                <a:cs typeface="Calibri" pitchFamily="34" charset="-120"/>
              </a:rPr>
              <a:t>ranks on</a:t>
            </a:r>
            <a:endParaRPr lang="en-US" sz="950" dirty="0"/>
          </a:p>
        </p:txBody>
      </p:sp>
      <p:sp>
        <p:nvSpPr>
          <p:cNvPr id="6" name="Text 4"/>
          <p:cNvSpPr txBox="1"/>
          <p:nvPr/>
        </p:nvSpPr>
        <p:spPr>
          <a:xfrm>
            <a:off x="5212080" y="1371600"/>
            <a:ext cx="3383280" cy="219456"/>
          </a:xfrm>
          <a:prstGeom prst="rect">
            <a:avLst/>
          </a:prstGeom>
          <a:noFill/>
          <a:ln/>
        </p:spPr>
        <p:txBody>
          <a:bodyPr wrap="square" lIns="0" tIns="0" rIns="0" bIns="0" rtlCol="0" anchor="ctr"/>
          <a:lstStyle/>
          <a:p>
            <a:pPr indent="0" marL="0">
              <a:buNone/>
            </a:pPr>
            <a:r>
              <a:rPr lang="en-US" sz="950" b="1" spc="100" kern="0" dirty="0">
                <a:solidFill>
                  <a:srgbClr val="D97A16"/>
                </a:solidFill>
                <a:latin typeface="Calibri" pitchFamily="34" charset="0"/>
                <a:ea typeface="Calibri" pitchFamily="34" charset="-122"/>
                <a:cs typeface="Calibri" pitchFamily="34" charset="-120"/>
              </a:rPr>
              <a:t>cannot see</a:t>
            </a:r>
            <a:endParaRPr lang="en-US" sz="950" dirty="0"/>
          </a:p>
        </p:txBody>
      </p:sp>
      <p:sp>
        <p:nvSpPr>
          <p:cNvPr id="7" name="Text 5"/>
          <p:cNvSpPr txBox="1"/>
          <p:nvPr/>
        </p:nvSpPr>
        <p:spPr>
          <a:xfrm>
            <a:off x="566928" y="1691640"/>
            <a:ext cx="1645920" cy="274320"/>
          </a:xfrm>
          <a:prstGeom prst="rect">
            <a:avLst/>
          </a:prstGeom>
          <a:noFill/>
          <a:ln/>
        </p:spPr>
        <p:txBody>
          <a:bodyPr wrap="square" lIns="0" tIns="0" rIns="0" bIns="0" rtlCol="0" anchor="ctr"/>
          <a:lstStyle/>
          <a:p>
            <a:pPr indent="0" marL="0">
              <a:buNone/>
            </a:pPr>
            <a:r>
              <a:rPr lang="en-US" sz="1100" b="1" dirty="0">
                <a:solidFill>
                  <a:srgbClr val="141A24"/>
                </a:solidFill>
                <a:latin typeface="Courier New" pitchFamily="34" charset="0"/>
                <a:ea typeface="Courier New" pitchFamily="34" charset="-122"/>
                <a:cs typeface="Courier New" pitchFamily="34" charset="-120"/>
              </a:rPr>
              <a:t>lru</a:t>
            </a:r>
            <a:endParaRPr lang="en-US" sz="1100" dirty="0"/>
          </a:p>
        </p:txBody>
      </p:sp>
      <p:sp>
        <p:nvSpPr>
          <p:cNvPr id="8" name="Text 6"/>
          <p:cNvSpPr txBox="1"/>
          <p:nvPr/>
        </p:nvSpPr>
        <p:spPr>
          <a:xfrm>
            <a:off x="2286000" y="1691640"/>
            <a:ext cx="2834640" cy="502920"/>
          </a:xfrm>
          <a:prstGeom prst="rect">
            <a:avLst/>
          </a:prstGeom>
          <a:noFill/>
          <a:ln/>
        </p:spPr>
        <p:txBody>
          <a:bodyPr wrap="square" lIns="0" tIns="0" rIns="0" bIns="0" rtlCol="0" anchor="ctr"/>
          <a:lstStyle/>
          <a:p>
            <a:pPr indent="0" marL="0">
              <a:lnSpc>
                <a:spcPts val="1400"/>
              </a:lnSpc>
              <a:buNone/>
            </a:pPr>
            <a:r>
              <a:rPr lang="en-US" sz="1100" dirty="0">
                <a:solidFill>
                  <a:srgbClr val="31404E"/>
                </a:solidFill>
                <a:latin typeface="Calibri" pitchFamily="34" charset="0"/>
                <a:ea typeface="Calibri" pitchFamily="34" charset="-122"/>
                <a:cs typeface="Calibri" pitchFamily="34" charset="-120"/>
              </a:rPr>
              <a:t>the order things arrived in</a:t>
            </a:r>
            <a:endParaRPr lang="en-US" sz="1100" dirty="0"/>
          </a:p>
        </p:txBody>
      </p:sp>
      <p:sp>
        <p:nvSpPr>
          <p:cNvPr id="9" name="Text 7"/>
          <p:cNvSpPr txBox="1"/>
          <p:nvPr/>
        </p:nvSpPr>
        <p:spPr>
          <a:xfrm>
            <a:off x="5212080" y="1691640"/>
            <a:ext cx="3383280" cy="502920"/>
          </a:xfrm>
          <a:prstGeom prst="rect">
            <a:avLst/>
          </a:prstGeom>
          <a:noFill/>
          <a:ln/>
        </p:spPr>
        <p:txBody>
          <a:bodyPr wrap="square" lIns="0" tIns="0" rIns="0" bIns="0" rtlCol="0" anchor="ctr"/>
          <a:lstStyle/>
          <a:p>
            <a:pPr indent="0" marL="0">
              <a:lnSpc>
                <a:spcPts val="1400"/>
              </a:lnSpc>
              <a:buNone/>
            </a:pPr>
            <a:r>
              <a:rPr lang="en-US" sz="1100" dirty="0">
                <a:solidFill>
                  <a:srgbClr val="6B7C8C"/>
                </a:solidFill>
                <a:latin typeface="Calibri" pitchFamily="34" charset="0"/>
                <a:ea typeface="Calibri" pitchFamily="34" charset="-122"/>
                <a:cs typeface="Calibri" pitchFamily="34" charset="-120"/>
              </a:rPr>
              <a:t>what any of them cost to build</a:t>
            </a:r>
            <a:endParaRPr lang="en-US" sz="1100" dirty="0"/>
          </a:p>
        </p:txBody>
      </p:sp>
      <p:sp>
        <p:nvSpPr>
          <p:cNvPr id="10" name="Text 8"/>
          <p:cNvSpPr txBox="1"/>
          <p:nvPr/>
        </p:nvSpPr>
        <p:spPr>
          <a:xfrm>
            <a:off x="566928" y="2313432"/>
            <a:ext cx="1645920" cy="274320"/>
          </a:xfrm>
          <a:prstGeom prst="rect">
            <a:avLst/>
          </a:prstGeom>
          <a:noFill/>
          <a:ln/>
        </p:spPr>
        <p:txBody>
          <a:bodyPr wrap="square" lIns="0" tIns="0" rIns="0" bIns="0" rtlCol="0" anchor="ctr"/>
          <a:lstStyle/>
          <a:p>
            <a:pPr indent="0" marL="0">
              <a:buNone/>
            </a:pPr>
            <a:r>
              <a:rPr lang="en-US" sz="1100" b="1" dirty="0">
                <a:solidFill>
                  <a:srgbClr val="141A24"/>
                </a:solidFill>
                <a:latin typeface="Courier New" pitchFamily="34" charset="0"/>
                <a:ea typeface="Courier New" pitchFamily="34" charset="-122"/>
                <a:cs typeface="Courier New" pitchFamily="34" charset="-120"/>
              </a:rPr>
              <a:t>lfu</a:t>
            </a:r>
            <a:endParaRPr lang="en-US" sz="1100" dirty="0"/>
          </a:p>
        </p:txBody>
      </p:sp>
      <p:sp>
        <p:nvSpPr>
          <p:cNvPr id="11" name="Text 9"/>
          <p:cNvSpPr txBox="1"/>
          <p:nvPr/>
        </p:nvSpPr>
        <p:spPr>
          <a:xfrm>
            <a:off x="2286000" y="2313432"/>
            <a:ext cx="2834640" cy="502920"/>
          </a:xfrm>
          <a:prstGeom prst="rect">
            <a:avLst/>
          </a:prstGeom>
          <a:noFill/>
          <a:ln/>
        </p:spPr>
        <p:txBody>
          <a:bodyPr wrap="square" lIns="0" tIns="0" rIns="0" bIns="0" rtlCol="0" anchor="ctr"/>
          <a:lstStyle/>
          <a:p>
            <a:pPr indent="0" marL="0">
              <a:lnSpc>
                <a:spcPts val="1400"/>
              </a:lnSpc>
              <a:buNone/>
            </a:pPr>
            <a:r>
              <a:rPr lang="en-US" sz="1100" dirty="0">
                <a:solidFill>
                  <a:srgbClr val="31404E"/>
                </a:solidFill>
                <a:latin typeface="Calibri" pitchFamily="34" charset="0"/>
                <a:ea typeface="Calibri" pitchFamily="34" charset="-122"/>
                <a:cs typeface="Calibri" pitchFamily="34" charset="-120"/>
              </a:rPr>
              <a:t>how often it has been asked for</a:t>
            </a:r>
            <a:endParaRPr lang="en-US" sz="1100" dirty="0"/>
          </a:p>
        </p:txBody>
      </p:sp>
      <p:sp>
        <p:nvSpPr>
          <p:cNvPr id="12" name="Text 10"/>
          <p:cNvSpPr txBox="1"/>
          <p:nvPr/>
        </p:nvSpPr>
        <p:spPr>
          <a:xfrm>
            <a:off x="5212080" y="2313432"/>
            <a:ext cx="3383280" cy="502920"/>
          </a:xfrm>
          <a:prstGeom prst="rect">
            <a:avLst/>
          </a:prstGeom>
          <a:noFill/>
          <a:ln/>
        </p:spPr>
        <p:txBody>
          <a:bodyPr wrap="square" lIns="0" tIns="0" rIns="0" bIns="0" rtlCol="0" anchor="ctr"/>
          <a:lstStyle/>
          <a:p>
            <a:pPr indent="0" marL="0">
              <a:lnSpc>
                <a:spcPts val="1400"/>
              </a:lnSpc>
              <a:buNone/>
            </a:pPr>
            <a:r>
              <a:rPr lang="en-US" sz="1100" dirty="0">
                <a:solidFill>
                  <a:srgbClr val="6B7C8C"/>
                </a:solidFill>
                <a:latin typeface="Calibri" pitchFamily="34" charset="0"/>
                <a:ea typeface="Calibri" pitchFamily="34" charset="-122"/>
                <a:cs typeface="Calibri" pitchFamily="34" charset="-120"/>
              </a:rPr>
              <a:t>what a single hit was worth</a:t>
            </a:r>
            <a:endParaRPr lang="en-US" sz="1100" dirty="0"/>
          </a:p>
        </p:txBody>
      </p:sp>
      <p:sp>
        <p:nvSpPr>
          <p:cNvPr id="13" name="Text 11"/>
          <p:cNvSpPr txBox="1"/>
          <p:nvPr/>
        </p:nvSpPr>
        <p:spPr>
          <a:xfrm>
            <a:off x="566928" y="2935224"/>
            <a:ext cx="1645920" cy="274320"/>
          </a:xfrm>
          <a:prstGeom prst="rect">
            <a:avLst/>
          </a:prstGeom>
          <a:noFill/>
          <a:ln/>
        </p:spPr>
        <p:txBody>
          <a:bodyPr wrap="square" lIns="0" tIns="0" rIns="0" bIns="0" rtlCol="0" anchor="ctr"/>
          <a:lstStyle/>
          <a:p>
            <a:pPr indent="0" marL="0">
              <a:buNone/>
            </a:pPr>
            <a:r>
              <a:rPr lang="en-US" sz="1100" b="1" dirty="0">
                <a:solidFill>
                  <a:srgbClr val="141A24"/>
                </a:solidFill>
                <a:latin typeface="Courier New" pitchFamily="34" charset="0"/>
                <a:ea typeface="Courier New" pitchFamily="34" charset="-122"/>
                <a:cs typeface="Courier New" pitchFamily="34" charset="-120"/>
              </a:rPr>
              <a:t>gds / gdsf</a:t>
            </a:r>
            <a:endParaRPr lang="en-US" sz="1100" dirty="0"/>
          </a:p>
        </p:txBody>
      </p:sp>
      <p:sp>
        <p:nvSpPr>
          <p:cNvPr id="14" name="Text 12"/>
          <p:cNvSpPr txBox="1"/>
          <p:nvPr/>
        </p:nvSpPr>
        <p:spPr>
          <a:xfrm>
            <a:off x="2286000" y="2935224"/>
            <a:ext cx="2834640" cy="502920"/>
          </a:xfrm>
          <a:prstGeom prst="rect">
            <a:avLst/>
          </a:prstGeom>
          <a:noFill/>
          <a:ln/>
        </p:spPr>
        <p:txBody>
          <a:bodyPr wrap="square" lIns="0" tIns="0" rIns="0" bIns="0" rtlCol="0" anchor="ctr"/>
          <a:lstStyle/>
          <a:p>
            <a:pPr indent="0" marL="0">
              <a:lnSpc>
                <a:spcPts val="1400"/>
              </a:lnSpc>
              <a:buNone/>
            </a:pPr>
            <a:r>
              <a:rPr lang="en-US" sz="1100" dirty="0">
                <a:solidFill>
                  <a:srgbClr val="31404E"/>
                </a:solidFill>
                <a:latin typeface="Calibri" pitchFamily="34" charset="0"/>
                <a:ea typeface="Calibri" pitchFamily="34" charset="-122"/>
                <a:cs typeface="Calibri" pitchFamily="34" charset="-120"/>
              </a:rPr>
              <a:t>size, and a cost weight it was handed</a:t>
            </a:r>
            <a:endParaRPr lang="en-US" sz="1100" dirty="0"/>
          </a:p>
        </p:txBody>
      </p:sp>
      <p:sp>
        <p:nvSpPr>
          <p:cNvPr id="15" name="Text 13"/>
          <p:cNvSpPr txBox="1"/>
          <p:nvPr/>
        </p:nvSpPr>
        <p:spPr>
          <a:xfrm>
            <a:off x="5212080" y="2935224"/>
            <a:ext cx="3383280" cy="502920"/>
          </a:xfrm>
          <a:prstGeom prst="rect">
            <a:avLst/>
          </a:prstGeom>
          <a:noFill/>
          <a:ln/>
        </p:spPr>
        <p:txBody>
          <a:bodyPr wrap="square" lIns="0" tIns="0" rIns="0" bIns="0" rtlCol="0" anchor="ctr"/>
          <a:lstStyle/>
          <a:p>
            <a:pPr indent="0" marL="0">
              <a:lnSpc>
                <a:spcPts val="1400"/>
              </a:lnSpc>
              <a:buNone/>
            </a:pPr>
            <a:r>
              <a:rPr lang="en-US" sz="1100" dirty="0">
                <a:solidFill>
                  <a:srgbClr val="6B7C8C"/>
                </a:solidFill>
                <a:latin typeface="Calibri" pitchFamily="34" charset="0"/>
                <a:ea typeface="Calibri" pitchFamily="34" charset="-122"/>
                <a:cs typeface="Calibri" pitchFamily="34" charset="-120"/>
              </a:rPr>
              <a:t>whether that cost is still true, and whether the object will be wanted again</a:t>
            </a:r>
            <a:endParaRPr lang="en-US" sz="1100" dirty="0"/>
          </a:p>
        </p:txBody>
      </p:sp>
      <p:sp>
        <p:nvSpPr>
          <p:cNvPr id="16" name="Text 14"/>
          <p:cNvSpPr txBox="1"/>
          <p:nvPr/>
        </p:nvSpPr>
        <p:spPr>
          <a:xfrm>
            <a:off x="566928" y="3557016"/>
            <a:ext cx="1645920" cy="274320"/>
          </a:xfrm>
          <a:prstGeom prst="rect">
            <a:avLst/>
          </a:prstGeom>
          <a:noFill/>
          <a:ln/>
        </p:spPr>
        <p:txBody>
          <a:bodyPr wrap="square" lIns="0" tIns="0" rIns="0" bIns="0" rtlCol="0" anchor="ctr"/>
          <a:lstStyle/>
          <a:p>
            <a:pPr indent="0" marL="0">
              <a:buNone/>
            </a:pPr>
            <a:r>
              <a:rPr lang="en-US" sz="1100" b="1" dirty="0">
                <a:solidFill>
                  <a:srgbClr val="141A24"/>
                </a:solidFill>
                <a:latin typeface="Courier New" pitchFamily="34" charset="0"/>
                <a:ea typeface="Courier New" pitchFamily="34" charset="-122"/>
                <a:cs typeface="Courier New" pitchFamily="34" charset="-120"/>
              </a:rPr>
              <a:t>w-tinylfu</a:t>
            </a:r>
            <a:endParaRPr lang="en-US" sz="1100" dirty="0"/>
          </a:p>
        </p:txBody>
      </p:sp>
      <p:sp>
        <p:nvSpPr>
          <p:cNvPr id="17" name="Text 15"/>
          <p:cNvSpPr txBox="1"/>
          <p:nvPr/>
        </p:nvSpPr>
        <p:spPr>
          <a:xfrm>
            <a:off x="2286000" y="3557016"/>
            <a:ext cx="2834640" cy="502920"/>
          </a:xfrm>
          <a:prstGeom prst="rect">
            <a:avLst/>
          </a:prstGeom>
          <a:noFill/>
          <a:ln/>
        </p:spPr>
        <p:txBody>
          <a:bodyPr wrap="square" lIns="0" tIns="0" rIns="0" bIns="0" rtlCol="0" anchor="ctr"/>
          <a:lstStyle/>
          <a:p>
            <a:pPr indent="0" marL="0">
              <a:lnSpc>
                <a:spcPts val="1400"/>
              </a:lnSpc>
              <a:buNone/>
            </a:pPr>
            <a:r>
              <a:rPr lang="en-US" sz="1100" dirty="0">
                <a:solidFill>
                  <a:srgbClr val="31404E"/>
                </a:solidFill>
                <a:latin typeface="Calibri" pitchFamily="34" charset="0"/>
                <a:ea typeface="Calibri" pitchFamily="34" charset="-122"/>
                <a:cs typeface="Calibri" pitchFamily="34" charset="-120"/>
              </a:rPr>
              <a:t>a frequency sketch, cheaply kept</a:t>
            </a:r>
            <a:endParaRPr lang="en-US" sz="1100" dirty="0"/>
          </a:p>
        </p:txBody>
      </p:sp>
      <p:sp>
        <p:nvSpPr>
          <p:cNvPr id="18" name="Text 16"/>
          <p:cNvSpPr txBox="1"/>
          <p:nvPr/>
        </p:nvSpPr>
        <p:spPr>
          <a:xfrm>
            <a:off x="5212080" y="3557016"/>
            <a:ext cx="3383280" cy="502920"/>
          </a:xfrm>
          <a:prstGeom prst="rect">
            <a:avLst/>
          </a:prstGeom>
          <a:noFill/>
          <a:ln/>
        </p:spPr>
        <p:txBody>
          <a:bodyPr wrap="square" lIns="0" tIns="0" rIns="0" bIns="0" rtlCol="0" anchor="ctr"/>
          <a:lstStyle/>
          <a:p>
            <a:pPr indent="0" marL="0">
              <a:lnSpc>
                <a:spcPts val="1400"/>
              </a:lnSpc>
              <a:buNone/>
            </a:pPr>
            <a:r>
              <a:rPr lang="en-US" sz="1100" dirty="0">
                <a:solidFill>
                  <a:srgbClr val="6B7C8C"/>
                </a:solidFill>
                <a:latin typeface="Calibri" pitchFamily="34" charset="0"/>
                <a:ea typeface="Calibri" pitchFamily="34" charset="-122"/>
                <a:cs typeface="Calibri" pitchFamily="34" charset="-120"/>
              </a:rPr>
              <a:t>the same thing LFU cannot see, with better bookkeeping</a:t>
            </a:r>
            <a:endParaRPr lang="en-US" sz="1100" dirty="0"/>
          </a:p>
        </p:txBody>
      </p:sp>
      <p:sp>
        <p:nvSpPr>
          <p:cNvPr id="19" name="Shape 17"/>
          <p:cNvSpPr/>
          <p:nvPr/>
        </p:nvSpPr>
        <p:spPr>
          <a:xfrm>
            <a:off x="548640" y="4114800"/>
            <a:ext cx="8046720" cy="685800"/>
          </a:xfrm>
          <a:prstGeom prst="roundRect">
            <a:avLst>
              <a:gd name="adj" fmla="val 8000"/>
            </a:avLst>
          </a:prstGeom>
          <a:solidFill>
            <a:srgbClr val="D9F0EB"/>
          </a:solidFill>
          <a:ln w="12700">
            <a:solidFill>
              <a:srgbClr val="D9F0EB"/>
            </a:solidFill>
            <a:prstDash val="solid"/>
          </a:ln>
          <a:effectLst>
            <a:outerShdw sx="100000" sy="100000" kx="0" ky="0" algn="bl" rotWithShape="0" blurRad="101600" dist="12700" dir="5400000">
              <a:srgbClr val="8CA0B3">
                <a:alpha val="10000"/>
              </a:srgbClr>
            </a:outerShdw>
          </a:effectLst>
        </p:spPr>
      </p:sp>
      <p:sp>
        <p:nvSpPr>
          <p:cNvPr id="20" name="Text 18"/>
          <p:cNvSpPr txBox="1"/>
          <p:nvPr/>
        </p:nvSpPr>
        <p:spPr>
          <a:xfrm>
            <a:off x="804672" y="4242816"/>
            <a:ext cx="7589520" cy="457200"/>
          </a:xfrm>
          <a:prstGeom prst="rect">
            <a:avLst/>
          </a:prstGeom>
          <a:noFill/>
          <a:ln/>
        </p:spPr>
        <p:txBody>
          <a:bodyPr wrap="square" lIns="0" tIns="0" rIns="0" bIns="0" rtlCol="0" anchor="ctr"/>
          <a:lstStyle/>
          <a:p>
            <a:pPr indent="0" marL="0">
              <a:lnSpc>
                <a:spcPts val="1500"/>
              </a:lnSpc>
              <a:buNone/>
            </a:pPr>
            <a:r>
              <a:rPr lang="en-US" sz="1150" dirty="0">
                <a:solidFill>
                  <a:srgbClr val="31404E"/>
                </a:solidFill>
                <a:latin typeface="Calibri" pitchFamily="34" charset="0"/>
                <a:ea typeface="Calibri" pitchFamily="34" charset="-122"/>
                <a:cs typeface="Calibri" pitchFamily="34" charset="-120"/>
              </a:rPr>
              <a:t>None of them is wrong. Each ranks on something cheap to observe, and each pays for it at exactly the moment the cheap thing stops tracking value.</a:t>
            </a:r>
            <a:endParaRPr lang="en-US" sz="1150" dirty="0"/>
          </a:p>
        </p:txBody>
      </p:sp>
      <p:sp>
        <p:nvSpPr>
          <p:cNvPr id="21" name="Text 19"/>
          <p:cNvSpPr txBox="1"/>
          <p:nvPr/>
        </p:nvSpPr>
        <p:spPr>
          <a:xfrm>
            <a:off x="8321040" y="4864608"/>
            <a:ext cx="457200" cy="237744"/>
          </a:xfrm>
          <a:prstGeom prst="rect">
            <a:avLst/>
          </a:prstGeom>
          <a:noFill/>
          <a:ln/>
        </p:spPr>
        <p:txBody>
          <a:bodyPr wrap="square" lIns="0" tIns="0" rIns="0" bIns="0" rtlCol="0" anchor="ctr"/>
          <a:lstStyle/>
          <a:p>
            <a:pPr algn="r" indent="0" marL="0">
              <a:buNone/>
            </a:pPr>
            <a:r>
              <a:rPr lang="en-US" sz="1000" dirty="0">
                <a:solidFill>
                  <a:srgbClr val="6B7C8C"/>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A24"/>
        </a:solidFill>
      </p:bgPr>
    </p:bg>
    <p:spTree>
      <p:nvGrpSpPr>
        <p:cNvPr id="1" name=""/>
        <p:cNvGrpSpPr/>
        <p:nvPr/>
      </p:nvGrpSpPr>
      <p:grpSpPr>
        <a:xfrm>
          <a:off x="0" y="0"/>
          <a:ext cx="0" cy="0"/>
          <a:chOff x="0" y="0"/>
          <a:chExt cx="0" cy="0"/>
        </a:xfrm>
      </p:grpSpPr>
      <p:sp>
        <p:nvSpPr>
          <p:cNvPr id="2" name="Text 0"/>
          <p:cNvSpPr txBox="1"/>
          <p:nvPr/>
        </p:nvSpPr>
        <p:spPr>
          <a:xfrm>
            <a:off x="640080" y="1325880"/>
            <a:ext cx="7863840" cy="256032"/>
          </a:xfrm>
          <a:prstGeom prst="rect">
            <a:avLst/>
          </a:prstGeom>
          <a:noFill/>
          <a:ln/>
        </p:spPr>
        <p:txBody>
          <a:bodyPr wrap="square" lIns="0" tIns="0" rIns="0" bIns="0" rtlCol="0" anchor="ctr"/>
          <a:lstStyle/>
          <a:p>
            <a:pPr indent="0" marL="0">
              <a:buNone/>
            </a:pPr>
            <a:r>
              <a:rPr lang="en-US" sz="1100" b="1" spc="200" kern="0" dirty="0">
                <a:solidFill>
                  <a:srgbClr val="1B9C86"/>
                </a:solidFill>
                <a:latin typeface="Calibri" pitchFamily="34" charset="0"/>
                <a:ea typeface="Calibri" pitchFamily="34" charset="-122"/>
                <a:cs typeface="Calibri" pitchFamily="34" charset="-120"/>
              </a:rPr>
              <a:t>ACT TWO</a:t>
            </a:r>
            <a:endParaRPr lang="en-US" sz="1100" dirty="0"/>
          </a:p>
        </p:txBody>
      </p:sp>
      <p:sp>
        <p:nvSpPr>
          <p:cNvPr id="3" name="Text 1"/>
          <p:cNvSpPr txBox="1"/>
          <p:nvPr/>
        </p:nvSpPr>
        <p:spPr>
          <a:xfrm>
            <a:off x="640080" y="1691640"/>
            <a:ext cx="7863840" cy="1371600"/>
          </a:xfrm>
          <a:prstGeom prst="rect">
            <a:avLst/>
          </a:prstGeom>
          <a:noFill/>
          <a:ln/>
        </p:spPr>
        <p:txBody>
          <a:bodyPr wrap="square" lIns="0" tIns="0" rIns="0" bIns="0" rtlCol="0" anchor="ctr"/>
          <a:lstStyle/>
          <a:p>
            <a:pPr indent="0" marL="0">
              <a:lnSpc>
                <a:spcPts val="4600"/>
              </a:lnSpc>
              <a:buNone/>
            </a:pPr>
            <a:r>
              <a:rPr lang="en-US" sz="3800" b="1" dirty="0">
                <a:solidFill>
                  <a:srgbClr val="FFFFFF"/>
                </a:solidFill>
                <a:latin typeface="Cambria" pitchFamily="34" charset="0"/>
                <a:ea typeface="Cambria" pitchFamily="34" charset="-122"/>
                <a:cs typeface="Cambria" pitchFamily="34" charset="-120"/>
              </a:rPr>
              <a:t>What would it need to know</a:t>
            </a:r>
            <a:endParaRPr lang="en-US" sz="3800" dirty="0"/>
          </a:p>
          <a:p>
            <a:pPr indent="0" marL="0">
              <a:lnSpc>
                <a:spcPts val="4600"/>
              </a:lnSpc>
              <a:buNone/>
            </a:pPr>
            <a:r>
              <a:rPr lang="en-US" sz="3800" b="1" dirty="0">
                <a:solidFill>
                  <a:srgbClr val="FFFFFF"/>
                </a:solidFill>
                <a:latin typeface="Cambria" pitchFamily="34" charset="0"/>
                <a:ea typeface="Cambria" pitchFamily="34" charset="-122"/>
                <a:cs typeface="Cambria" pitchFamily="34" charset="-120"/>
              </a:rPr>
              <a:t>to get that right?</a:t>
            </a:r>
            <a:endParaRPr lang="en-US" sz="3800" dirty="0"/>
          </a:p>
        </p:txBody>
      </p:sp>
      <p:sp>
        <p:nvSpPr>
          <p:cNvPr id="4" name="Text 2"/>
          <p:cNvSpPr txBox="1"/>
          <p:nvPr/>
        </p:nvSpPr>
        <p:spPr>
          <a:xfrm>
            <a:off x="658368" y="3310128"/>
            <a:ext cx="6949440" cy="548640"/>
          </a:xfrm>
          <a:prstGeom prst="rect">
            <a:avLst/>
          </a:prstGeom>
          <a:noFill/>
          <a:ln/>
        </p:spPr>
        <p:txBody>
          <a:bodyPr wrap="square" lIns="0" tIns="0" rIns="0" bIns="0" rtlCol="0" anchor="ctr"/>
          <a:lstStyle/>
          <a:p>
            <a:pPr indent="0" marL="0">
              <a:lnSpc>
                <a:spcPts val="1900"/>
              </a:lnSpc>
              <a:buNone/>
            </a:pPr>
            <a:r>
              <a:rPr lang="en-US" sz="1250" dirty="0">
                <a:solidFill>
                  <a:srgbClr val="9AAAB8"/>
                </a:solidFill>
                <a:latin typeface="Calibri" pitchFamily="34" charset="0"/>
                <a:ea typeface="Calibri" pitchFamily="34" charset="-122"/>
                <a:cs typeface="Calibri" pitchFamily="34" charset="-120"/>
              </a:rPr>
              <a:t>Four questions. The score is only the arithmetic that follows from them.</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ctr"/>
          <a:lstStyle/>
          <a:p>
            <a:pPr indent="0" marL="0">
              <a:buNone/>
            </a:pPr>
            <a:r>
              <a:rPr lang="en-US" sz="1100" b="1" spc="200" kern="0" dirty="0">
                <a:solidFill>
                  <a:srgbClr val="1B9C86"/>
                </a:solidFill>
                <a:latin typeface="Calibri" pitchFamily="34" charset="0"/>
                <a:ea typeface="Calibri" pitchFamily="34" charset="-122"/>
                <a:cs typeface="Calibri" pitchFamily="34" charset="-120"/>
              </a:rPr>
              <a:t>THE SCORE</a:t>
            </a:r>
            <a:endParaRPr lang="en-US" sz="1100" dirty="0"/>
          </a:p>
        </p:txBody>
      </p:sp>
      <p:sp>
        <p:nvSpPr>
          <p:cNvPr id="3" name="Text 1"/>
          <p:cNvSpPr txBox="1"/>
          <p:nvPr/>
        </p:nvSpPr>
        <p:spPr>
          <a:xfrm>
            <a:off x="548640" y="658368"/>
            <a:ext cx="8229600" cy="731520"/>
          </a:xfrm>
          <a:prstGeom prst="rect">
            <a:avLst/>
          </a:prstGeom>
          <a:noFill/>
          <a:ln/>
        </p:spPr>
        <p:txBody>
          <a:bodyPr wrap="square" lIns="0" tIns="0" rIns="0" bIns="0" rtlCol="0" anchor="t"/>
          <a:lstStyle/>
          <a:p>
            <a:pPr indent="0" marL="0">
              <a:buNone/>
            </a:pPr>
            <a:r>
              <a:rPr lang="en-US" sz="2500" b="1" dirty="0">
                <a:solidFill>
                  <a:srgbClr val="141A24"/>
                </a:solidFill>
                <a:latin typeface="Cambria" pitchFamily="34" charset="0"/>
                <a:ea typeface="Cambria" pitchFamily="34" charset="-122"/>
                <a:cs typeface="Cambria" pitchFamily="34" charset="-120"/>
              </a:rPr>
              <a:t>Dollars of backend work saved, per dollar rented</a:t>
            </a:r>
            <a:endParaRPr lang="en-US" sz="2500" dirty="0"/>
          </a:p>
        </p:txBody>
      </p:sp>
      <p:sp>
        <p:nvSpPr>
          <p:cNvPr id="4" name="Shape 2"/>
          <p:cNvSpPr/>
          <p:nvPr/>
        </p:nvSpPr>
        <p:spPr>
          <a:xfrm>
            <a:off x="548640" y="1371600"/>
            <a:ext cx="5029200" cy="1280160"/>
          </a:xfrm>
          <a:prstGeom prst="roundRect">
            <a:avLst>
              <a:gd name="adj" fmla="val 3571"/>
            </a:avLst>
          </a:prstGeom>
          <a:solidFill>
            <a:srgbClr val="141A24"/>
          </a:solidFill>
          <a:ln w="12700">
            <a:solidFill>
              <a:srgbClr val="141A24"/>
            </a:solidFill>
            <a:prstDash val="solid"/>
          </a:ln>
        </p:spPr>
      </p:sp>
      <p:sp>
        <p:nvSpPr>
          <p:cNvPr id="5" name="Text 3"/>
          <p:cNvSpPr txBox="1"/>
          <p:nvPr/>
        </p:nvSpPr>
        <p:spPr>
          <a:xfrm>
            <a:off x="749808" y="1517904"/>
            <a:ext cx="4626864" cy="987552"/>
          </a:xfrm>
          <a:prstGeom prst="rect">
            <a:avLst/>
          </a:prstGeom>
          <a:noFill/>
          <a:ln/>
        </p:spPr>
        <p:txBody>
          <a:bodyPr wrap="square" lIns="0" tIns="0" rIns="0" bIns="0" rtlCol="0" anchor="ctr"/>
          <a:lstStyle/>
          <a:p>
            <a:pPr indent="0" marL="0">
              <a:lnSpc>
                <a:spcPts val="1500"/>
              </a:lnSpc>
              <a:buNone/>
            </a:pPr>
            <a:r>
              <a:rPr lang="en-US" sz="1000" dirty="0">
                <a:solidFill>
                  <a:srgbClr val="E6EDF3"/>
                </a:solidFill>
                <a:latin typeface="Courier New" pitchFamily="34" charset="0"/>
                <a:ea typeface="Courier New" pitchFamily="34" charset="-122"/>
                <a:cs typeface="Courier New" pitchFamily="34" charset="-120"/>
              </a:rPr>
              <a:t>                rebuild_cost x reuses x tail_risk</a:t>
            </a:r>
            <a:endParaRPr lang="en-US" sz="1000" dirty="0"/>
          </a:p>
          <a:p>
            <a:pPr indent="0" marL="0">
              <a:lnSpc>
                <a:spcPts val="1500"/>
              </a:lnSpc>
              <a:buNone/>
            </a:pPr>
            <a:r>
              <a:rPr lang="en-US" sz="1000" dirty="0">
                <a:solidFill>
                  <a:srgbClr val="E6EDF3"/>
                </a:solidFill>
                <a:latin typeface="Courier New" pitchFamily="34" charset="0"/>
                <a:ea typeface="Courier New" pitchFamily="34" charset="-122"/>
                <a:cs typeface="Courier New" pitchFamily="34" charset="-120"/>
              </a:rPr>
              <a:t>value_density = ---------------------------------</a:t>
            </a:r>
            <a:endParaRPr lang="en-US" sz="1000" dirty="0"/>
          </a:p>
          <a:p>
            <a:pPr indent="0" marL="0">
              <a:lnSpc>
                <a:spcPts val="1500"/>
              </a:lnSpc>
              <a:buNone/>
            </a:pPr>
            <a:r>
              <a:rPr lang="en-US" sz="1000" dirty="0">
                <a:solidFill>
                  <a:srgbClr val="E6EDF3"/>
                </a:solidFill>
                <a:latin typeface="Courier New" pitchFamily="34" charset="0"/>
                <a:ea typeface="Courier New" pitchFamily="34" charset="-122"/>
                <a:cs typeface="Courier New" pitchFamily="34" charset="-120"/>
              </a:rPr>
              <a:t>                          holding_cost</a:t>
            </a:r>
            <a:endParaRPr lang="en-US" sz="1000" dirty="0"/>
          </a:p>
        </p:txBody>
      </p:sp>
      <p:sp>
        <p:nvSpPr>
          <p:cNvPr id="6" name="Text 4"/>
          <p:cNvSpPr txBox="1"/>
          <p:nvPr/>
        </p:nvSpPr>
        <p:spPr>
          <a:xfrm>
            <a:off x="5806440" y="1371600"/>
            <a:ext cx="2788920" cy="237744"/>
          </a:xfrm>
          <a:prstGeom prst="rect">
            <a:avLst/>
          </a:prstGeom>
          <a:noFill/>
          <a:ln/>
        </p:spPr>
        <p:txBody>
          <a:bodyPr wrap="square" lIns="0" tIns="0" rIns="0" bIns="0" rtlCol="0" anchor="ctr"/>
          <a:lstStyle/>
          <a:p>
            <a:pPr indent="0" marL="0">
              <a:buNone/>
            </a:pPr>
            <a:r>
              <a:rPr lang="en-US" sz="1100" b="1" dirty="0">
                <a:solidFill>
                  <a:srgbClr val="1B9C86"/>
                </a:solidFill>
                <a:latin typeface="Calibri" pitchFamily="34" charset="0"/>
                <a:ea typeface="Calibri" pitchFamily="34" charset="-122"/>
                <a:cs typeface="Calibri" pitchFamily="34" charset="-120"/>
              </a:rPr>
              <a:t>Read it aloud as</a:t>
            </a:r>
            <a:endParaRPr lang="en-US" sz="1100" dirty="0"/>
          </a:p>
        </p:txBody>
      </p:sp>
      <p:sp>
        <p:nvSpPr>
          <p:cNvPr id="7" name="Text 5"/>
          <p:cNvSpPr txBox="1"/>
          <p:nvPr/>
        </p:nvSpPr>
        <p:spPr>
          <a:xfrm>
            <a:off x="5806440" y="1664208"/>
            <a:ext cx="2788920" cy="1188720"/>
          </a:xfrm>
          <a:prstGeom prst="rect">
            <a:avLst/>
          </a:prstGeom>
          <a:noFill/>
          <a:ln/>
        </p:spPr>
        <p:txBody>
          <a:bodyPr wrap="square" lIns="0" tIns="0" rIns="0" bIns="0" rtlCol="0" anchor="ctr"/>
          <a:lstStyle/>
          <a:p>
            <a:pPr indent="0" marL="0">
              <a:lnSpc>
                <a:spcPts val="2100"/>
              </a:lnSpc>
              <a:buNone/>
            </a:pPr>
            <a:r>
              <a:rPr lang="en-US" sz="1400" i="1" dirty="0">
                <a:solidFill>
                  <a:srgbClr val="141A24"/>
                </a:solidFill>
                <a:latin typeface="Cambria" pitchFamily="34" charset="0"/>
                <a:ea typeface="Cambria" pitchFamily="34" charset="-122"/>
                <a:cs typeface="Cambria" pitchFamily="34" charset="-120"/>
              </a:rPr>
              <a:t>“What will this object save me, per dollar it costs me to keep it?”</a:t>
            </a:r>
            <a:endParaRPr lang="en-US" sz="1400" dirty="0"/>
          </a:p>
        </p:txBody>
      </p:sp>
      <p:sp>
        <p:nvSpPr>
          <p:cNvPr id="8" name="Shape 6"/>
          <p:cNvSpPr/>
          <p:nvPr/>
        </p:nvSpPr>
        <p:spPr>
          <a:xfrm>
            <a:off x="548640" y="2926080"/>
            <a:ext cx="1883664" cy="1051560"/>
          </a:xfrm>
          <a:prstGeom prst="roundRect">
            <a:avLst>
              <a:gd name="adj" fmla="val 5217"/>
            </a:avLst>
          </a:prstGeom>
          <a:solidFill>
            <a:srgbClr val="F1F4F7"/>
          </a:solidFill>
          <a:ln w="12700">
            <a:solidFill>
              <a:srgbClr val="F1F4F7"/>
            </a:solidFill>
            <a:prstDash val="solid"/>
          </a:ln>
          <a:effectLst>
            <a:outerShdw sx="100000" sy="100000" kx="0" ky="0" algn="bl" rotWithShape="0" blurRad="101600" dist="12700" dir="5400000">
              <a:srgbClr val="8CA0B3">
                <a:alpha val="10000"/>
              </a:srgbClr>
            </a:outerShdw>
          </a:effectLst>
        </p:spPr>
      </p:sp>
      <p:sp>
        <p:nvSpPr>
          <p:cNvPr id="9" name="Text 7"/>
          <p:cNvSpPr txBox="1"/>
          <p:nvPr/>
        </p:nvSpPr>
        <p:spPr>
          <a:xfrm>
            <a:off x="713232" y="3035808"/>
            <a:ext cx="1645920" cy="219456"/>
          </a:xfrm>
          <a:prstGeom prst="rect">
            <a:avLst/>
          </a:prstGeom>
          <a:noFill/>
          <a:ln/>
        </p:spPr>
        <p:txBody>
          <a:bodyPr wrap="square" lIns="0" tIns="0" rIns="0" bIns="0" rtlCol="0" anchor="ctr"/>
          <a:lstStyle/>
          <a:p>
            <a:pPr indent="0" marL="0">
              <a:buNone/>
            </a:pPr>
            <a:r>
              <a:rPr lang="en-US" sz="950" b="1" dirty="0">
                <a:solidFill>
                  <a:srgbClr val="1B9C86"/>
                </a:solidFill>
                <a:latin typeface="Courier New" pitchFamily="34" charset="0"/>
                <a:ea typeface="Courier New" pitchFamily="34" charset="-122"/>
                <a:cs typeface="Courier New" pitchFamily="34" charset="-120"/>
              </a:rPr>
              <a:t>rebuild_cost</a:t>
            </a:r>
            <a:endParaRPr lang="en-US" sz="950" dirty="0"/>
          </a:p>
        </p:txBody>
      </p:sp>
      <p:sp>
        <p:nvSpPr>
          <p:cNvPr id="10" name="Text 8"/>
          <p:cNvSpPr txBox="1"/>
          <p:nvPr/>
        </p:nvSpPr>
        <p:spPr>
          <a:xfrm>
            <a:off x="713232" y="3273552"/>
            <a:ext cx="1591056" cy="640080"/>
          </a:xfrm>
          <a:prstGeom prst="rect">
            <a:avLst/>
          </a:prstGeom>
          <a:noFill/>
          <a:ln/>
        </p:spPr>
        <p:txBody>
          <a:bodyPr wrap="square" lIns="0" tIns="0" rIns="0" bIns="0" rtlCol="0" anchor="ctr"/>
          <a:lstStyle/>
          <a:p>
            <a:pPr indent="0" marL="0">
              <a:lnSpc>
                <a:spcPts val="1150"/>
              </a:lnSpc>
              <a:buNone/>
            </a:pPr>
            <a:r>
              <a:rPr lang="en-US" sz="900" dirty="0">
                <a:solidFill>
                  <a:srgbClr val="31404E"/>
                </a:solidFill>
                <a:latin typeface="Calibri" pitchFamily="34" charset="0"/>
                <a:ea typeface="Calibri" pitchFamily="34" charset="-122"/>
                <a:cs typeface="Calibri" pitchFamily="34" charset="-120"/>
              </a:rPr>
              <a:t>What did it cost to build? CPU, GPU, database, bytes and paid-API dollars, kept apart.</a:t>
            </a:r>
            <a:endParaRPr lang="en-US" sz="900" dirty="0"/>
          </a:p>
        </p:txBody>
      </p:sp>
      <p:sp>
        <p:nvSpPr>
          <p:cNvPr id="11" name="Shape 9"/>
          <p:cNvSpPr/>
          <p:nvPr/>
        </p:nvSpPr>
        <p:spPr>
          <a:xfrm>
            <a:off x="2596896" y="2926080"/>
            <a:ext cx="1883664" cy="1051560"/>
          </a:xfrm>
          <a:prstGeom prst="roundRect">
            <a:avLst>
              <a:gd name="adj" fmla="val 5217"/>
            </a:avLst>
          </a:prstGeom>
          <a:solidFill>
            <a:srgbClr val="F1F4F7"/>
          </a:solidFill>
          <a:ln w="12700">
            <a:solidFill>
              <a:srgbClr val="F1F4F7"/>
            </a:solidFill>
            <a:prstDash val="solid"/>
          </a:ln>
          <a:effectLst>
            <a:outerShdw sx="100000" sy="100000" kx="0" ky="0" algn="bl" rotWithShape="0" blurRad="101600" dist="12700" dir="5400000">
              <a:srgbClr val="8CA0B3">
                <a:alpha val="10000"/>
              </a:srgbClr>
            </a:outerShdw>
          </a:effectLst>
        </p:spPr>
      </p:sp>
      <p:sp>
        <p:nvSpPr>
          <p:cNvPr id="12" name="Text 10"/>
          <p:cNvSpPr txBox="1"/>
          <p:nvPr/>
        </p:nvSpPr>
        <p:spPr>
          <a:xfrm>
            <a:off x="2761488" y="3035808"/>
            <a:ext cx="1645920" cy="219456"/>
          </a:xfrm>
          <a:prstGeom prst="rect">
            <a:avLst/>
          </a:prstGeom>
          <a:noFill/>
          <a:ln/>
        </p:spPr>
        <p:txBody>
          <a:bodyPr wrap="square" lIns="0" tIns="0" rIns="0" bIns="0" rtlCol="0" anchor="ctr"/>
          <a:lstStyle/>
          <a:p>
            <a:pPr indent="0" marL="0">
              <a:buNone/>
            </a:pPr>
            <a:r>
              <a:rPr lang="en-US" sz="950" b="1" dirty="0">
                <a:solidFill>
                  <a:srgbClr val="1B9C86"/>
                </a:solidFill>
                <a:latin typeface="Courier New" pitchFamily="34" charset="0"/>
                <a:ea typeface="Courier New" pitchFamily="34" charset="-122"/>
                <a:cs typeface="Courier New" pitchFamily="34" charset="-120"/>
              </a:rPr>
              <a:t>reuses</a:t>
            </a:r>
            <a:endParaRPr lang="en-US" sz="950" dirty="0"/>
          </a:p>
        </p:txBody>
      </p:sp>
      <p:sp>
        <p:nvSpPr>
          <p:cNvPr id="13" name="Text 11"/>
          <p:cNvSpPr txBox="1"/>
          <p:nvPr/>
        </p:nvSpPr>
        <p:spPr>
          <a:xfrm>
            <a:off x="2761488" y="3273552"/>
            <a:ext cx="1591056" cy="640080"/>
          </a:xfrm>
          <a:prstGeom prst="rect">
            <a:avLst/>
          </a:prstGeom>
          <a:noFill/>
          <a:ln/>
        </p:spPr>
        <p:txBody>
          <a:bodyPr wrap="square" lIns="0" tIns="0" rIns="0" bIns="0" rtlCol="0" anchor="ctr"/>
          <a:lstStyle/>
          <a:p>
            <a:pPr indent="0" marL="0">
              <a:lnSpc>
                <a:spcPts val="1150"/>
              </a:lnSpc>
              <a:buNone/>
            </a:pPr>
            <a:r>
              <a:rPr lang="en-US" sz="900" dirty="0">
                <a:solidFill>
                  <a:srgbClr val="31404E"/>
                </a:solidFill>
                <a:latin typeface="Calibri" pitchFamily="34" charset="0"/>
                <a:ea typeface="Calibri" pitchFamily="34" charset="-122"/>
                <a:cs typeface="Calibri" pitchFamily="34" charset="-120"/>
              </a:rPr>
              <a:t>Will it be wanted again, and how soon?</a:t>
            </a:r>
            <a:endParaRPr lang="en-US" sz="900" dirty="0"/>
          </a:p>
        </p:txBody>
      </p:sp>
      <p:sp>
        <p:nvSpPr>
          <p:cNvPr id="14" name="Shape 12"/>
          <p:cNvSpPr/>
          <p:nvPr/>
        </p:nvSpPr>
        <p:spPr>
          <a:xfrm>
            <a:off x="4645152" y="2926080"/>
            <a:ext cx="1883664" cy="1051560"/>
          </a:xfrm>
          <a:prstGeom prst="roundRect">
            <a:avLst>
              <a:gd name="adj" fmla="val 5217"/>
            </a:avLst>
          </a:prstGeom>
          <a:solidFill>
            <a:srgbClr val="F1F4F7"/>
          </a:solidFill>
          <a:ln w="12700">
            <a:solidFill>
              <a:srgbClr val="F1F4F7"/>
            </a:solidFill>
            <a:prstDash val="solid"/>
          </a:ln>
          <a:effectLst>
            <a:outerShdw sx="100000" sy="100000" kx="0" ky="0" algn="bl" rotWithShape="0" blurRad="101600" dist="12700" dir="5400000">
              <a:srgbClr val="8CA0B3">
                <a:alpha val="10000"/>
              </a:srgbClr>
            </a:outerShdw>
          </a:effectLst>
        </p:spPr>
      </p:sp>
      <p:sp>
        <p:nvSpPr>
          <p:cNvPr id="15" name="Text 13"/>
          <p:cNvSpPr txBox="1"/>
          <p:nvPr/>
        </p:nvSpPr>
        <p:spPr>
          <a:xfrm>
            <a:off x="4809744" y="3035808"/>
            <a:ext cx="1645920" cy="219456"/>
          </a:xfrm>
          <a:prstGeom prst="rect">
            <a:avLst/>
          </a:prstGeom>
          <a:noFill/>
          <a:ln/>
        </p:spPr>
        <p:txBody>
          <a:bodyPr wrap="square" lIns="0" tIns="0" rIns="0" bIns="0" rtlCol="0" anchor="ctr"/>
          <a:lstStyle/>
          <a:p>
            <a:pPr indent="0" marL="0">
              <a:buNone/>
            </a:pPr>
            <a:r>
              <a:rPr lang="en-US" sz="950" b="1" dirty="0">
                <a:solidFill>
                  <a:srgbClr val="1B9C86"/>
                </a:solidFill>
                <a:latin typeface="Courier New" pitchFamily="34" charset="0"/>
                <a:ea typeface="Courier New" pitchFamily="34" charset="-122"/>
                <a:cs typeface="Courier New" pitchFamily="34" charset="-120"/>
              </a:rPr>
              <a:t>tail_risk</a:t>
            </a:r>
            <a:endParaRPr lang="en-US" sz="950" dirty="0"/>
          </a:p>
        </p:txBody>
      </p:sp>
      <p:sp>
        <p:nvSpPr>
          <p:cNvPr id="16" name="Text 14"/>
          <p:cNvSpPr txBox="1"/>
          <p:nvPr/>
        </p:nvSpPr>
        <p:spPr>
          <a:xfrm>
            <a:off x="4809744" y="3273552"/>
            <a:ext cx="1591056" cy="640080"/>
          </a:xfrm>
          <a:prstGeom prst="rect">
            <a:avLst/>
          </a:prstGeom>
          <a:noFill/>
          <a:ln/>
        </p:spPr>
        <p:txBody>
          <a:bodyPr wrap="square" lIns="0" tIns="0" rIns="0" bIns="0" rtlCol="0" anchor="ctr"/>
          <a:lstStyle/>
          <a:p>
            <a:pPr indent="0" marL="0">
              <a:lnSpc>
                <a:spcPts val="1150"/>
              </a:lnSpc>
              <a:buNone/>
            </a:pPr>
            <a:r>
              <a:rPr lang="en-US" sz="900" dirty="0">
                <a:solidFill>
                  <a:srgbClr val="31404E"/>
                </a:solidFill>
                <a:latin typeface="Calibri" pitchFamily="34" charset="0"/>
                <a:ea typeface="Calibri" pitchFamily="34" charset="-122"/>
                <a:cs typeface="Calibri" pitchFamily="34" charset="-120"/>
              </a:rPr>
              <a:t>How bad is it if we are wrong about this one?</a:t>
            </a:r>
            <a:endParaRPr lang="en-US" sz="900" dirty="0"/>
          </a:p>
        </p:txBody>
      </p:sp>
      <p:sp>
        <p:nvSpPr>
          <p:cNvPr id="17" name="Shape 15"/>
          <p:cNvSpPr/>
          <p:nvPr/>
        </p:nvSpPr>
        <p:spPr>
          <a:xfrm>
            <a:off x="6693408" y="2926080"/>
            <a:ext cx="1883664" cy="1051560"/>
          </a:xfrm>
          <a:prstGeom prst="roundRect">
            <a:avLst>
              <a:gd name="adj" fmla="val 5217"/>
            </a:avLst>
          </a:prstGeom>
          <a:solidFill>
            <a:srgbClr val="F1F4F7"/>
          </a:solidFill>
          <a:ln w="12700">
            <a:solidFill>
              <a:srgbClr val="F1F4F7"/>
            </a:solidFill>
            <a:prstDash val="solid"/>
          </a:ln>
          <a:effectLst>
            <a:outerShdw sx="100000" sy="100000" kx="0" ky="0" algn="bl" rotWithShape="0" blurRad="101600" dist="12700" dir="5400000">
              <a:srgbClr val="8CA0B3">
                <a:alpha val="10000"/>
              </a:srgbClr>
            </a:outerShdw>
          </a:effectLst>
        </p:spPr>
      </p:sp>
      <p:sp>
        <p:nvSpPr>
          <p:cNvPr id="18" name="Text 16"/>
          <p:cNvSpPr txBox="1"/>
          <p:nvPr/>
        </p:nvSpPr>
        <p:spPr>
          <a:xfrm>
            <a:off x="6858000" y="3035808"/>
            <a:ext cx="1645920" cy="219456"/>
          </a:xfrm>
          <a:prstGeom prst="rect">
            <a:avLst/>
          </a:prstGeom>
          <a:noFill/>
          <a:ln/>
        </p:spPr>
        <p:txBody>
          <a:bodyPr wrap="square" lIns="0" tIns="0" rIns="0" bIns="0" rtlCol="0" anchor="ctr"/>
          <a:lstStyle/>
          <a:p>
            <a:pPr indent="0" marL="0">
              <a:buNone/>
            </a:pPr>
            <a:r>
              <a:rPr lang="en-US" sz="950" b="1" dirty="0">
                <a:solidFill>
                  <a:srgbClr val="1B9C86"/>
                </a:solidFill>
                <a:latin typeface="Courier New" pitchFamily="34" charset="0"/>
                <a:ea typeface="Courier New" pitchFamily="34" charset="-122"/>
                <a:cs typeface="Courier New" pitchFamily="34" charset="-120"/>
              </a:rPr>
              <a:t>holding_cost</a:t>
            </a:r>
            <a:endParaRPr lang="en-US" sz="950" dirty="0"/>
          </a:p>
        </p:txBody>
      </p:sp>
      <p:sp>
        <p:nvSpPr>
          <p:cNvPr id="19" name="Text 17"/>
          <p:cNvSpPr txBox="1"/>
          <p:nvPr/>
        </p:nvSpPr>
        <p:spPr>
          <a:xfrm>
            <a:off x="6858000" y="3273552"/>
            <a:ext cx="1591056" cy="640080"/>
          </a:xfrm>
          <a:prstGeom prst="rect">
            <a:avLst/>
          </a:prstGeom>
          <a:noFill/>
          <a:ln/>
        </p:spPr>
        <p:txBody>
          <a:bodyPr wrap="square" lIns="0" tIns="0" rIns="0" bIns="0" rtlCol="0" anchor="ctr"/>
          <a:lstStyle/>
          <a:p>
            <a:pPr indent="0" marL="0">
              <a:lnSpc>
                <a:spcPts val="1150"/>
              </a:lnSpc>
              <a:buNone/>
            </a:pPr>
            <a:r>
              <a:rPr lang="en-US" sz="900" dirty="0">
                <a:solidFill>
                  <a:srgbClr val="31404E"/>
                </a:solidFill>
                <a:latin typeface="Calibri" pitchFamily="34" charset="0"/>
                <a:ea typeface="Calibri" pitchFamily="34" charset="-122"/>
                <a:cs typeface="Calibri" pitchFamily="34" charset="-120"/>
              </a:rPr>
              <a:t>What does the space cost while we hold it?</a:t>
            </a:r>
            <a:endParaRPr lang="en-US" sz="900" dirty="0"/>
          </a:p>
        </p:txBody>
      </p:sp>
      <p:sp>
        <p:nvSpPr>
          <p:cNvPr id="20" name="Text 18"/>
          <p:cNvSpPr txBox="1"/>
          <p:nvPr/>
        </p:nvSpPr>
        <p:spPr>
          <a:xfrm>
            <a:off x="548640" y="4160520"/>
            <a:ext cx="7680960" cy="548640"/>
          </a:xfrm>
          <a:prstGeom prst="rect">
            <a:avLst/>
          </a:prstGeom>
          <a:noFill/>
          <a:ln/>
        </p:spPr>
        <p:txBody>
          <a:bodyPr wrap="square" lIns="0" tIns="0" rIns="0" bIns="0" rtlCol="0" anchor="ctr"/>
          <a:lstStyle/>
          <a:p>
            <a:pPr indent="0" marL="0">
              <a:lnSpc>
                <a:spcPts val="1500"/>
              </a:lnSpc>
              <a:buNone/>
            </a:pPr>
            <a:r>
              <a:rPr lang="en-US" sz="1100" i="1" dirty="0">
                <a:solidFill>
                  <a:srgbClr val="6B7C8C"/>
                </a:solidFill>
                <a:latin typeface="Calibri" pitchFamily="34" charset="0"/>
                <a:ea typeface="Calibri" pitchFamily="34" charset="-122"/>
                <a:cs typeface="Calibri" pitchFamily="34" charset="-120"/>
              </a:rPr>
              <a:t>Two objects that both take 300 ms to rebuild can differ 100× in price — one burns a GPU, the other holds a database connection. Collapsing that into “latency” is the information loss.</a:t>
            </a:r>
            <a:endParaRPr lang="en-US" sz="1100" dirty="0"/>
          </a:p>
        </p:txBody>
      </p:sp>
      <p:sp>
        <p:nvSpPr>
          <p:cNvPr id="21" name="Text 19"/>
          <p:cNvSpPr txBox="1"/>
          <p:nvPr/>
        </p:nvSpPr>
        <p:spPr>
          <a:xfrm>
            <a:off x="8321040" y="4864608"/>
            <a:ext cx="457200" cy="237744"/>
          </a:xfrm>
          <a:prstGeom prst="rect">
            <a:avLst/>
          </a:prstGeom>
          <a:noFill/>
          <a:ln/>
        </p:spPr>
        <p:txBody>
          <a:bodyPr wrap="square" lIns="0" tIns="0" rIns="0" bIns="0" rtlCol="0" anchor="ctr"/>
          <a:lstStyle/>
          <a:p>
            <a:pPr algn="r" indent="0" marL="0">
              <a:buNone/>
            </a:pPr>
            <a:r>
              <a:rPr lang="en-US" sz="1000" dirty="0">
                <a:solidFill>
                  <a:srgbClr val="6B7C8C"/>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ctr"/>
          <a:lstStyle/>
          <a:p>
            <a:pPr indent="0" marL="0">
              <a:buNone/>
            </a:pPr>
            <a:r>
              <a:rPr lang="en-US" sz="1100" b="1" spc="200" kern="0" dirty="0">
                <a:solidFill>
                  <a:srgbClr val="1B9C86"/>
                </a:solidFill>
                <a:latin typeface="Calibri" pitchFamily="34" charset="0"/>
                <a:ea typeface="Calibri" pitchFamily="34" charset="-122"/>
                <a:cs typeface="Calibri" pitchFamily="34" charset="-120"/>
              </a:rPr>
              <a:t>THE HARD TERM</a:t>
            </a:r>
            <a:endParaRPr lang="en-US" sz="1100" dirty="0"/>
          </a:p>
        </p:txBody>
      </p:sp>
      <p:sp>
        <p:nvSpPr>
          <p:cNvPr id="3" name="Text 1"/>
          <p:cNvSpPr txBox="1"/>
          <p:nvPr/>
        </p:nvSpPr>
        <p:spPr>
          <a:xfrm>
            <a:off x="548640" y="658368"/>
            <a:ext cx="8229600" cy="731520"/>
          </a:xfrm>
          <a:prstGeom prst="rect">
            <a:avLst/>
          </a:prstGeom>
          <a:noFill/>
          <a:ln/>
        </p:spPr>
        <p:txBody>
          <a:bodyPr wrap="square" lIns="0" tIns="0" rIns="0" bIns="0" rtlCol="0" anchor="t"/>
          <a:lstStyle/>
          <a:p>
            <a:pPr indent="0" marL="0">
              <a:buNone/>
            </a:pPr>
            <a:r>
              <a:rPr lang="en-US" sz="2800" b="1" dirty="0">
                <a:solidFill>
                  <a:srgbClr val="141A24"/>
                </a:solidFill>
                <a:latin typeface="Cambria" pitchFamily="34" charset="0"/>
                <a:ea typeface="Cambria" pitchFamily="34" charset="-122"/>
                <a:cs typeface="Cambria" pitchFamily="34" charset="-120"/>
              </a:rPr>
              <a:t>Three are measured. The fourth is a guess.</a:t>
            </a:r>
            <a:endParaRPr lang="en-US" sz="2800" dirty="0"/>
          </a:p>
        </p:txBody>
      </p:sp>
      <p:sp>
        <p:nvSpPr>
          <p:cNvPr id="4" name="Shape 2"/>
          <p:cNvSpPr/>
          <p:nvPr/>
        </p:nvSpPr>
        <p:spPr>
          <a:xfrm>
            <a:off x="548640" y="1371600"/>
            <a:ext cx="1883664" cy="914400"/>
          </a:xfrm>
          <a:prstGeom prst="roundRect">
            <a:avLst>
              <a:gd name="adj" fmla="val 6000"/>
            </a:avLst>
          </a:prstGeom>
          <a:solidFill>
            <a:srgbClr val="D9F0EB"/>
          </a:solidFill>
          <a:ln w="12700">
            <a:solidFill>
              <a:srgbClr val="D9F0EB"/>
            </a:solidFill>
            <a:prstDash val="solid"/>
          </a:ln>
          <a:effectLst>
            <a:outerShdw sx="100000" sy="100000" kx="0" ky="0" algn="bl" rotWithShape="0" blurRad="101600" dist="12700" dir="5400000">
              <a:srgbClr val="8CA0B3">
                <a:alpha val="10000"/>
              </a:srgbClr>
            </a:outerShdw>
          </a:effectLst>
        </p:spPr>
      </p:sp>
      <p:sp>
        <p:nvSpPr>
          <p:cNvPr id="5" name="Text 3"/>
          <p:cNvSpPr txBox="1"/>
          <p:nvPr/>
        </p:nvSpPr>
        <p:spPr>
          <a:xfrm>
            <a:off x="713232" y="1481328"/>
            <a:ext cx="1645920" cy="219456"/>
          </a:xfrm>
          <a:prstGeom prst="rect">
            <a:avLst/>
          </a:prstGeom>
          <a:noFill/>
          <a:ln/>
        </p:spPr>
        <p:txBody>
          <a:bodyPr wrap="square" lIns="0" tIns="0" rIns="0" bIns="0" rtlCol="0" anchor="ctr"/>
          <a:lstStyle/>
          <a:p>
            <a:pPr indent="0" marL="0">
              <a:buNone/>
            </a:pPr>
            <a:r>
              <a:rPr lang="en-US" sz="950" b="1" dirty="0">
                <a:solidFill>
                  <a:srgbClr val="1B9C86"/>
                </a:solidFill>
                <a:latin typeface="Courier New" pitchFamily="34" charset="0"/>
                <a:ea typeface="Courier New" pitchFamily="34" charset="-122"/>
                <a:cs typeface="Courier New" pitchFamily="34" charset="-120"/>
              </a:rPr>
              <a:t>rebuild_cost</a:t>
            </a:r>
            <a:endParaRPr lang="en-US" sz="950" dirty="0"/>
          </a:p>
        </p:txBody>
      </p:sp>
      <p:sp>
        <p:nvSpPr>
          <p:cNvPr id="6" name="Text 4"/>
          <p:cNvSpPr txBox="1"/>
          <p:nvPr/>
        </p:nvSpPr>
        <p:spPr>
          <a:xfrm>
            <a:off x="713232" y="1719072"/>
            <a:ext cx="1591056" cy="512064"/>
          </a:xfrm>
          <a:prstGeom prst="rect">
            <a:avLst/>
          </a:prstGeom>
          <a:noFill/>
          <a:ln/>
        </p:spPr>
        <p:txBody>
          <a:bodyPr wrap="square" lIns="0" tIns="0" rIns="0" bIns="0" rtlCol="0" anchor="ctr"/>
          <a:lstStyle/>
          <a:p>
            <a:pPr indent="0" marL="0">
              <a:lnSpc>
                <a:spcPts val="1150"/>
              </a:lnSpc>
              <a:buNone/>
            </a:pPr>
            <a:r>
              <a:rPr lang="en-US" sz="900" dirty="0">
                <a:solidFill>
                  <a:srgbClr val="31404E"/>
                </a:solidFill>
                <a:latin typeface="Calibri" pitchFamily="34" charset="0"/>
                <a:ea typeface="Calibri" pitchFamily="34" charset="-122"/>
                <a:cs typeface="Calibri" pitchFamily="34" charset="-120"/>
              </a:rPr>
              <a:t>measured, as your rebuild actually runs</a:t>
            </a:r>
            <a:endParaRPr lang="en-US" sz="900" dirty="0"/>
          </a:p>
        </p:txBody>
      </p:sp>
      <p:sp>
        <p:nvSpPr>
          <p:cNvPr id="7" name="Shape 5"/>
          <p:cNvSpPr/>
          <p:nvPr/>
        </p:nvSpPr>
        <p:spPr>
          <a:xfrm>
            <a:off x="2596896" y="1371600"/>
            <a:ext cx="1883664" cy="914400"/>
          </a:xfrm>
          <a:prstGeom prst="roundRect">
            <a:avLst>
              <a:gd name="adj" fmla="val 6000"/>
            </a:avLst>
          </a:prstGeom>
          <a:solidFill>
            <a:srgbClr val="D9F0EB"/>
          </a:solidFill>
          <a:ln w="12700">
            <a:solidFill>
              <a:srgbClr val="D9F0EB"/>
            </a:solidFill>
            <a:prstDash val="solid"/>
          </a:ln>
          <a:effectLst>
            <a:outerShdw sx="100000" sy="100000" kx="0" ky="0" algn="bl" rotWithShape="0" blurRad="101600" dist="12700" dir="5400000">
              <a:srgbClr val="8CA0B3">
                <a:alpha val="10000"/>
              </a:srgbClr>
            </a:outerShdw>
          </a:effectLst>
        </p:spPr>
      </p:sp>
      <p:sp>
        <p:nvSpPr>
          <p:cNvPr id="8" name="Text 6"/>
          <p:cNvSpPr txBox="1"/>
          <p:nvPr/>
        </p:nvSpPr>
        <p:spPr>
          <a:xfrm>
            <a:off x="2761488" y="1481328"/>
            <a:ext cx="1645920" cy="219456"/>
          </a:xfrm>
          <a:prstGeom prst="rect">
            <a:avLst/>
          </a:prstGeom>
          <a:noFill/>
          <a:ln/>
        </p:spPr>
        <p:txBody>
          <a:bodyPr wrap="square" lIns="0" tIns="0" rIns="0" bIns="0" rtlCol="0" anchor="ctr"/>
          <a:lstStyle/>
          <a:p>
            <a:pPr indent="0" marL="0">
              <a:buNone/>
            </a:pPr>
            <a:r>
              <a:rPr lang="en-US" sz="950" b="1" dirty="0">
                <a:solidFill>
                  <a:srgbClr val="1B9C86"/>
                </a:solidFill>
                <a:latin typeface="Courier New" pitchFamily="34" charset="0"/>
                <a:ea typeface="Courier New" pitchFamily="34" charset="-122"/>
                <a:cs typeface="Courier New" pitchFamily="34" charset="-120"/>
              </a:rPr>
              <a:t>tail_risk</a:t>
            </a:r>
            <a:endParaRPr lang="en-US" sz="950" dirty="0"/>
          </a:p>
        </p:txBody>
      </p:sp>
      <p:sp>
        <p:nvSpPr>
          <p:cNvPr id="9" name="Text 7"/>
          <p:cNvSpPr txBox="1"/>
          <p:nvPr/>
        </p:nvSpPr>
        <p:spPr>
          <a:xfrm>
            <a:off x="2761488" y="1719072"/>
            <a:ext cx="1591056" cy="512064"/>
          </a:xfrm>
          <a:prstGeom prst="rect">
            <a:avLst/>
          </a:prstGeom>
          <a:noFill/>
          <a:ln/>
        </p:spPr>
        <p:txBody>
          <a:bodyPr wrap="square" lIns="0" tIns="0" rIns="0" bIns="0" rtlCol="0" anchor="ctr"/>
          <a:lstStyle/>
          <a:p>
            <a:pPr indent="0" marL="0">
              <a:lnSpc>
                <a:spcPts val="1150"/>
              </a:lnSpc>
              <a:buNone/>
            </a:pPr>
            <a:r>
              <a:rPr lang="en-US" sz="900" dirty="0">
                <a:solidFill>
                  <a:srgbClr val="31404E"/>
                </a:solidFill>
                <a:latin typeface="Calibri" pitchFamily="34" charset="0"/>
                <a:ea typeface="Calibri" pitchFamily="34" charset="-122"/>
                <a:cs typeface="Calibri" pitchFamily="34" charset="-120"/>
              </a:rPr>
              <a:t>measured, from the variance of that cost</a:t>
            </a:r>
            <a:endParaRPr lang="en-US" sz="900" dirty="0"/>
          </a:p>
        </p:txBody>
      </p:sp>
      <p:sp>
        <p:nvSpPr>
          <p:cNvPr id="10" name="Shape 8"/>
          <p:cNvSpPr/>
          <p:nvPr/>
        </p:nvSpPr>
        <p:spPr>
          <a:xfrm>
            <a:off x="4645152" y="1371600"/>
            <a:ext cx="1883664" cy="914400"/>
          </a:xfrm>
          <a:prstGeom prst="roundRect">
            <a:avLst>
              <a:gd name="adj" fmla="val 6000"/>
            </a:avLst>
          </a:prstGeom>
          <a:solidFill>
            <a:srgbClr val="D9F0EB"/>
          </a:solidFill>
          <a:ln w="12700">
            <a:solidFill>
              <a:srgbClr val="D9F0EB"/>
            </a:solidFill>
            <a:prstDash val="solid"/>
          </a:ln>
          <a:effectLst>
            <a:outerShdw sx="100000" sy="100000" kx="0" ky="0" algn="bl" rotWithShape="0" blurRad="101600" dist="12700" dir="5400000">
              <a:srgbClr val="8CA0B3">
                <a:alpha val="10000"/>
              </a:srgbClr>
            </a:outerShdw>
          </a:effectLst>
        </p:spPr>
      </p:sp>
      <p:sp>
        <p:nvSpPr>
          <p:cNvPr id="11" name="Text 9"/>
          <p:cNvSpPr txBox="1"/>
          <p:nvPr/>
        </p:nvSpPr>
        <p:spPr>
          <a:xfrm>
            <a:off x="4809744" y="1481328"/>
            <a:ext cx="1645920" cy="219456"/>
          </a:xfrm>
          <a:prstGeom prst="rect">
            <a:avLst/>
          </a:prstGeom>
          <a:noFill/>
          <a:ln/>
        </p:spPr>
        <p:txBody>
          <a:bodyPr wrap="square" lIns="0" tIns="0" rIns="0" bIns="0" rtlCol="0" anchor="ctr"/>
          <a:lstStyle/>
          <a:p>
            <a:pPr indent="0" marL="0">
              <a:buNone/>
            </a:pPr>
            <a:r>
              <a:rPr lang="en-US" sz="950" b="1" dirty="0">
                <a:solidFill>
                  <a:srgbClr val="1B9C86"/>
                </a:solidFill>
                <a:latin typeface="Courier New" pitchFamily="34" charset="0"/>
                <a:ea typeface="Courier New" pitchFamily="34" charset="-122"/>
                <a:cs typeface="Courier New" pitchFamily="34" charset="-120"/>
              </a:rPr>
              <a:t>holding_cost</a:t>
            </a:r>
            <a:endParaRPr lang="en-US" sz="950" dirty="0"/>
          </a:p>
        </p:txBody>
      </p:sp>
      <p:sp>
        <p:nvSpPr>
          <p:cNvPr id="12" name="Text 10"/>
          <p:cNvSpPr txBox="1"/>
          <p:nvPr/>
        </p:nvSpPr>
        <p:spPr>
          <a:xfrm>
            <a:off x="4809744" y="1719072"/>
            <a:ext cx="1591056" cy="512064"/>
          </a:xfrm>
          <a:prstGeom prst="rect">
            <a:avLst/>
          </a:prstGeom>
          <a:noFill/>
          <a:ln/>
        </p:spPr>
        <p:txBody>
          <a:bodyPr wrap="square" lIns="0" tIns="0" rIns="0" bIns="0" rtlCol="0" anchor="ctr"/>
          <a:lstStyle/>
          <a:p>
            <a:pPr indent="0" marL="0">
              <a:lnSpc>
                <a:spcPts val="1150"/>
              </a:lnSpc>
              <a:buNone/>
            </a:pPr>
            <a:r>
              <a:rPr lang="en-US" sz="900" dirty="0">
                <a:solidFill>
                  <a:srgbClr val="31404E"/>
                </a:solidFill>
                <a:latin typeface="Calibri" pitchFamily="34" charset="0"/>
                <a:ea typeface="Calibri" pitchFamily="34" charset="-122"/>
                <a:cs typeface="Calibri" pitchFamily="34" charset="-120"/>
              </a:rPr>
              <a:t>priced, from bytes and time held</a:t>
            </a:r>
            <a:endParaRPr lang="en-US" sz="900" dirty="0"/>
          </a:p>
        </p:txBody>
      </p:sp>
      <p:sp>
        <p:nvSpPr>
          <p:cNvPr id="13" name="Shape 11"/>
          <p:cNvSpPr/>
          <p:nvPr/>
        </p:nvSpPr>
        <p:spPr>
          <a:xfrm>
            <a:off x="6693408" y="1371600"/>
            <a:ext cx="1883664" cy="914400"/>
          </a:xfrm>
          <a:prstGeom prst="roundRect">
            <a:avLst>
              <a:gd name="adj" fmla="val 6000"/>
            </a:avLst>
          </a:prstGeom>
          <a:solidFill>
            <a:srgbClr val="FBE9D4"/>
          </a:solidFill>
          <a:ln w="12700">
            <a:solidFill>
              <a:srgbClr val="FBE9D4"/>
            </a:solidFill>
            <a:prstDash val="solid"/>
          </a:ln>
          <a:effectLst>
            <a:outerShdw sx="100000" sy="100000" kx="0" ky="0" algn="bl" rotWithShape="0" blurRad="101600" dist="12700" dir="5400000">
              <a:srgbClr val="8CA0B3">
                <a:alpha val="10000"/>
              </a:srgbClr>
            </a:outerShdw>
          </a:effectLst>
        </p:spPr>
      </p:sp>
      <p:sp>
        <p:nvSpPr>
          <p:cNvPr id="14" name="Text 12"/>
          <p:cNvSpPr txBox="1"/>
          <p:nvPr/>
        </p:nvSpPr>
        <p:spPr>
          <a:xfrm>
            <a:off x="6858000" y="1481328"/>
            <a:ext cx="1645920" cy="219456"/>
          </a:xfrm>
          <a:prstGeom prst="rect">
            <a:avLst/>
          </a:prstGeom>
          <a:noFill/>
          <a:ln/>
        </p:spPr>
        <p:txBody>
          <a:bodyPr wrap="square" lIns="0" tIns="0" rIns="0" bIns="0" rtlCol="0" anchor="ctr"/>
          <a:lstStyle/>
          <a:p>
            <a:pPr indent="0" marL="0">
              <a:buNone/>
            </a:pPr>
            <a:r>
              <a:rPr lang="en-US" sz="950" b="1" dirty="0">
                <a:solidFill>
                  <a:srgbClr val="D97A16"/>
                </a:solidFill>
                <a:latin typeface="Courier New" pitchFamily="34" charset="0"/>
                <a:ea typeface="Courier New" pitchFamily="34" charset="-122"/>
                <a:cs typeface="Courier New" pitchFamily="34" charset="-120"/>
              </a:rPr>
              <a:t>reuses</a:t>
            </a:r>
            <a:endParaRPr lang="en-US" sz="950" dirty="0"/>
          </a:p>
        </p:txBody>
      </p:sp>
      <p:sp>
        <p:nvSpPr>
          <p:cNvPr id="15" name="Text 13"/>
          <p:cNvSpPr txBox="1"/>
          <p:nvPr/>
        </p:nvSpPr>
        <p:spPr>
          <a:xfrm>
            <a:off x="6858000" y="1719072"/>
            <a:ext cx="1591056" cy="512064"/>
          </a:xfrm>
          <a:prstGeom prst="rect">
            <a:avLst/>
          </a:prstGeom>
          <a:noFill/>
          <a:ln/>
        </p:spPr>
        <p:txBody>
          <a:bodyPr wrap="square" lIns="0" tIns="0" rIns="0" bIns="0" rtlCol="0" anchor="ctr"/>
          <a:lstStyle/>
          <a:p>
            <a:pPr indent="0" marL="0">
              <a:lnSpc>
                <a:spcPts val="1150"/>
              </a:lnSpc>
              <a:buNone/>
            </a:pPr>
            <a:r>
              <a:rPr lang="en-US" sz="900" dirty="0">
                <a:solidFill>
                  <a:srgbClr val="31404E"/>
                </a:solidFill>
                <a:latin typeface="Calibri" pitchFamily="34" charset="0"/>
                <a:ea typeface="Calibri" pitchFamily="34" charset="-122"/>
                <a:cs typeface="Calibri" pitchFamily="34" charset="-120"/>
              </a:rPr>
              <a:t>cannot be measured — it is about the future</a:t>
            </a:r>
            <a:endParaRPr lang="en-US" sz="900" dirty="0"/>
          </a:p>
        </p:txBody>
      </p:sp>
      <p:sp>
        <p:nvSpPr>
          <p:cNvPr id="16" name="Shape 14"/>
          <p:cNvSpPr/>
          <p:nvPr/>
        </p:nvSpPr>
        <p:spPr>
          <a:xfrm>
            <a:off x="822960" y="2999232"/>
            <a:ext cx="7498080" cy="32004"/>
          </a:xfrm>
          <a:prstGeom prst="rect">
            <a:avLst/>
          </a:prstGeom>
          <a:solidFill>
            <a:srgbClr val="D8DFE6"/>
          </a:solidFill>
          <a:ln w="12700">
            <a:solidFill>
              <a:srgbClr val="D8DFE6"/>
            </a:solidFill>
            <a:prstDash val="solid"/>
          </a:ln>
        </p:spPr>
      </p:sp>
      <p:sp>
        <p:nvSpPr>
          <p:cNvPr id="17" name="Shape 15"/>
          <p:cNvSpPr/>
          <p:nvPr/>
        </p:nvSpPr>
        <p:spPr>
          <a:xfrm>
            <a:off x="1271016" y="2907792"/>
            <a:ext cx="201168" cy="201168"/>
          </a:xfrm>
          <a:prstGeom prst="ellipse">
            <a:avLst/>
          </a:prstGeom>
          <a:solidFill>
            <a:srgbClr val="1B9C86"/>
          </a:solidFill>
          <a:ln w="12700">
            <a:solidFill>
              <a:srgbClr val="1B9C86"/>
            </a:solidFill>
            <a:prstDash val="solid"/>
          </a:ln>
        </p:spPr>
      </p:sp>
      <p:sp>
        <p:nvSpPr>
          <p:cNvPr id="18" name="Text 16"/>
          <p:cNvSpPr txBox="1"/>
          <p:nvPr/>
        </p:nvSpPr>
        <p:spPr>
          <a:xfrm>
            <a:off x="548640" y="2578608"/>
            <a:ext cx="1645920" cy="256032"/>
          </a:xfrm>
          <a:prstGeom prst="rect">
            <a:avLst/>
          </a:prstGeom>
          <a:noFill/>
          <a:ln/>
        </p:spPr>
        <p:txBody>
          <a:bodyPr wrap="square" lIns="0" tIns="0" rIns="0" bIns="0" rtlCol="0" anchor="ctr"/>
          <a:lstStyle/>
          <a:p>
            <a:pPr algn="ctr" indent="0" marL="0">
              <a:buNone/>
            </a:pPr>
            <a:r>
              <a:rPr lang="en-US" sz="1200" b="1" dirty="0">
                <a:solidFill>
                  <a:srgbClr val="141A24"/>
                </a:solidFill>
                <a:latin typeface="Courier New" pitchFamily="34" charset="0"/>
                <a:ea typeface="Courier New" pitchFamily="34" charset="-122"/>
                <a:cs typeface="Courier New" pitchFamily="34" charset="-120"/>
              </a:rPr>
              <a:t>10 s</a:t>
            </a:r>
            <a:endParaRPr lang="en-US" sz="1200" dirty="0"/>
          </a:p>
        </p:txBody>
      </p:sp>
      <p:sp>
        <p:nvSpPr>
          <p:cNvPr id="19" name="Text 17"/>
          <p:cNvSpPr txBox="1"/>
          <p:nvPr/>
        </p:nvSpPr>
        <p:spPr>
          <a:xfrm>
            <a:off x="548640" y="3200400"/>
            <a:ext cx="1645920" cy="256032"/>
          </a:xfrm>
          <a:prstGeom prst="rect">
            <a:avLst/>
          </a:prstGeom>
          <a:noFill/>
          <a:ln/>
        </p:spPr>
        <p:txBody>
          <a:bodyPr wrap="square" lIns="0" tIns="0" rIns="0" bIns="0" rtlCol="0" anchor="ctr"/>
          <a:lstStyle/>
          <a:p>
            <a:pPr algn="ctr" indent="0" marL="0">
              <a:buNone/>
            </a:pPr>
            <a:r>
              <a:rPr lang="en-US" sz="1050" dirty="0">
                <a:solidFill>
                  <a:srgbClr val="6B7C8C"/>
                </a:solidFill>
                <a:latin typeface="Calibri" pitchFamily="34" charset="0"/>
                <a:ea typeface="Calibri" pitchFamily="34" charset="-122"/>
                <a:cs typeface="Calibri" pitchFamily="34" charset="-120"/>
              </a:rPr>
              <a:t>decides admission</a:t>
            </a:r>
            <a:endParaRPr lang="en-US" sz="1050" dirty="0"/>
          </a:p>
        </p:txBody>
      </p:sp>
      <p:sp>
        <p:nvSpPr>
          <p:cNvPr id="20" name="Shape 18"/>
          <p:cNvSpPr/>
          <p:nvPr/>
        </p:nvSpPr>
        <p:spPr>
          <a:xfrm>
            <a:off x="3922776" y="2907792"/>
            <a:ext cx="201168" cy="201168"/>
          </a:xfrm>
          <a:prstGeom prst="ellipse">
            <a:avLst/>
          </a:prstGeom>
          <a:solidFill>
            <a:srgbClr val="1B9C86"/>
          </a:solidFill>
          <a:ln w="12700">
            <a:solidFill>
              <a:srgbClr val="1B9C86"/>
            </a:solidFill>
            <a:prstDash val="solid"/>
          </a:ln>
        </p:spPr>
      </p:sp>
      <p:sp>
        <p:nvSpPr>
          <p:cNvPr id="21" name="Text 19"/>
          <p:cNvSpPr txBox="1"/>
          <p:nvPr/>
        </p:nvSpPr>
        <p:spPr>
          <a:xfrm>
            <a:off x="3200400" y="2578608"/>
            <a:ext cx="1645920" cy="256032"/>
          </a:xfrm>
          <a:prstGeom prst="rect">
            <a:avLst/>
          </a:prstGeom>
          <a:noFill/>
          <a:ln/>
        </p:spPr>
        <p:txBody>
          <a:bodyPr wrap="square" lIns="0" tIns="0" rIns="0" bIns="0" rtlCol="0" anchor="ctr"/>
          <a:lstStyle/>
          <a:p>
            <a:pPr algn="ctr" indent="0" marL="0">
              <a:buNone/>
            </a:pPr>
            <a:r>
              <a:rPr lang="en-US" sz="1200" b="1" dirty="0">
                <a:solidFill>
                  <a:srgbClr val="141A24"/>
                </a:solidFill>
                <a:latin typeface="Courier New" pitchFamily="34" charset="0"/>
                <a:ea typeface="Courier New" pitchFamily="34" charset="-122"/>
                <a:cs typeface="Courier New" pitchFamily="34" charset="-120"/>
              </a:rPr>
              <a:t>60 s</a:t>
            </a:r>
            <a:endParaRPr lang="en-US" sz="1200" dirty="0"/>
          </a:p>
        </p:txBody>
      </p:sp>
      <p:sp>
        <p:nvSpPr>
          <p:cNvPr id="22" name="Text 20"/>
          <p:cNvSpPr txBox="1"/>
          <p:nvPr/>
        </p:nvSpPr>
        <p:spPr>
          <a:xfrm>
            <a:off x="3200400" y="3200400"/>
            <a:ext cx="1645920" cy="256032"/>
          </a:xfrm>
          <a:prstGeom prst="rect">
            <a:avLst/>
          </a:prstGeom>
          <a:noFill/>
          <a:ln/>
        </p:spPr>
        <p:txBody>
          <a:bodyPr wrap="square" lIns="0" tIns="0" rIns="0" bIns="0" rtlCol="0" anchor="ctr"/>
          <a:lstStyle/>
          <a:p>
            <a:pPr algn="ctr" indent="0" marL="0">
              <a:buNone/>
            </a:pPr>
            <a:r>
              <a:rPr lang="en-US" sz="1050" dirty="0">
                <a:solidFill>
                  <a:srgbClr val="6B7C8C"/>
                </a:solidFill>
                <a:latin typeface="Calibri" pitchFamily="34" charset="0"/>
                <a:ea typeface="Calibri" pitchFamily="34" charset="-122"/>
                <a:cs typeface="Calibri" pitchFamily="34" charset="-120"/>
              </a:rPr>
              <a:t>decides eviction</a:t>
            </a:r>
            <a:endParaRPr lang="en-US" sz="1050" dirty="0"/>
          </a:p>
        </p:txBody>
      </p:sp>
      <p:sp>
        <p:nvSpPr>
          <p:cNvPr id="23" name="Shape 21"/>
          <p:cNvSpPr/>
          <p:nvPr/>
        </p:nvSpPr>
        <p:spPr>
          <a:xfrm>
            <a:off x="7123176" y="2907792"/>
            <a:ext cx="201168" cy="201168"/>
          </a:xfrm>
          <a:prstGeom prst="ellipse">
            <a:avLst/>
          </a:prstGeom>
          <a:solidFill>
            <a:srgbClr val="1B9C86"/>
          </a:solidFill>
          <a:ln w="12700">
            <a:solidFill>
              <a:srgbClr val="1B9C86"/>
            </a:solidFill>
            <a:prstDash val="solid"/>
          </a:ln>
        </p:spPr>
      </p:sp>
      <p:sp>
        <p:nvSpPr>
          <p:cNvPr id="24" name="Text 22"/>
          <p:cNvSpPr txBox="1"/>
          <p:nvPr/>
        </p:nvSpPr>
        <p:spPr>
          <a:xfrm>
            <a:off x="6400800" y="2578608"/>
            <a:ext cx="1645920" cy="256032"/>
          </a:xfrm>
          <a:prstGeom prst="rect">
            <a:avLst/>
          </a:prstGeom>
          <a:noFill/>
          <a:ln/>
        </p:spPr>
        <p:txBody>
          <a:bodyPr wrap="square" lIns="0" tIns="0" rIns="0" bIns="0" rtlCol="0" anchor="ctr"/>
          <a:lstStyle/>
          <a:p>
            <a:pPr algn="ctr" indent="0" marL="0">
              <a:buNone/>
            </a:pPr>
            <a:r>
              <a:rPr lang="en-US" sz="1200" b="1" dirty="0">
                <a:solidFill>
                  <a:srgbClr val="141A24"/>
                </a:solidFill>
                <a:latin typeface="Courier New" pitchFamily="34" charset="0"/>
                <a:ea typeface="Courier New" pitchFamily="34" charset="-122"/>
                <a:cs typeface="Courier New" pitchFamily="34" charset="-120"/>
              </a:rPr>
              <a:t>600 s</a:t>
            </a:r>
            <a:endParaRPr lang="en-US" sz="1200" dirty="0"/>
          </a:p>
        </p:txBody>
      </p:sp>
      <p:sp>
        <p:nvSpPr>
          <p:cNvPr id="25" name="Text 23"/>
          <p:cNvSpPr txBox="1"/>
          <p:nvPr/>
        </p:nvSpPr>
        <p:spPr>
          <a:xfrm>
            <a:off x="6400800" y="3200400"/>
            <a:ext cx="1645920" cy="256032"/>
          </a:xfrm>
          <a:prstGeom prst="rect">
            <a:avLst/>
          </a:prstGeom>
          <a:noFill/>
          <a:ln/>
        </p:spPr>
        <p:txBody>
          <a:bodyPr wrap="square" lIns="0" tIns="0" rIns="0" bIns="0" rtlCol="0" anchor="ctr"/>
          <a:lstStyle/>
          <a:p>
            <a:pPr algn="ctr" indent="0" marL="0">
              <a:buNone/>
            </a:pPr>
            <a:r>
              <a:rPr lang="en-US" sz="1050" dirty="0">
                <a:solidFill>
                  <a:srgbClr val="6B7C8C"/>
                </a:solidFill>
                <a:latin typeface="Calibri" pitchFamily="34" charset="0"/>
                <a:ea typeface="Calibri" pitchFamily="34" charset="-122"/>
                <a:cs typeface="Calibri" pitchFamily="34" charset="-120"/>
              </a:rPr>
              <a:t>decides refresh</a:t>
            </a:r>
            <a:endParaRPr lang="en-US" sz="1050" dirty="0"/>
          </a:p>
        </p:txBody>
      </p:sp>
      <p:sp>
        <p:nvSpPr>
          <p:cNvPr id="26" name="Text 24"/>
          <p:cNvSpPr txBox="1"/>
          <p:nvPr/>
        </p:nvSpPr>
        <p:spPr>
          <a:xfrm>
            <a:off x="548640" y="3703320"/>
            <a:ext cx="7680960" cy="502920"/>
          </a:xfrm>
          <a:prstGeom prst="rect">
            <a:avLst/>
          </a:prstGeom>
          <a:noFill/>
          <a:ln/>
        </p:spPr>
        <p:txBody>
          <a:bodyPr wrap="square" lIns="0" tIns="0" rIns="0" bIns="0" rtlCol="0" anchor="ctr"/>
          <a:lstStyle/>
          <a:p>
            <a:pPr indent="0" marL="0">
              <a:lnSpc>
                <a:spcPts val="1500"/>
              </a:lnSpc>
              <a:buNone/>
            </a:pPr>
            <a:r>
              <a:rPr lang="en-US" sz="1150" dirty="0">
                <a:solidFill>
                  <a:srgbClr val="31404E"/>
                </a:solidFill>
                <a:latin typeface="Calibri" pitchFamily="34" charset="0"/>
                <a:ea typeface="Calibri" pitchFamily="34" charset="-122"/>
                <a:cs typeface="Calibri" pitchFamily="34" charset="-120"/>
              </a:rPr>
              <a:t>Expected reuses is a blend of all three horizons, scaled by the fraction of TTL still left. A blend of estimates is still an estimate.</a:t>
            </a:r>
            <a:endParaRPr lang="en-US" sz="1150" dirty="0"/>
          </a:p>
        </p:txBody>
      </p:sp>
      <p:sp>
        <p:nvSpPr>
          <p:cNvPr id="27" name="Text 25"/>
          <p:cNvSpPr txBox="1"/>
          <p:nvPr/>
        </p:nvSpPr>
        <p:spPr>
          <a:xfrm>
            <a:off x="548640" y="4315968"/>
            <a:ext cx="7680960" cy="502920"/>
          </a:xfrm>
          <a:prstGeom prst="rect">
            <a:avLst/>
          </a:prstGeom>
          <a:noFill/>
          <a:ln/>
        </p:spPr>
        <p:txBody>
          <a:bodyPr wrap="square" lIns="0" tIns="0" rIns="0" bIns="0" rtlCol="0" anchor="ctr"/>
          <a:lstStyle/>
          <a:p>
            <a:pPr indent="0" marL="0">
              <a:lnSpc>
                <a:spcPts val="1500"/>
              </a:lnSpc>
              <a:buNone/>
            </a:pPr>
            <a:r>
              <a:rPr lang="en-US" sz="1150" i="1" dirty="0">
                <a:solidFill>
                  <a:srgbClr val="1B9C86"/>
                </a:solidFill>
                <a:latin typeface="Calibri" pitchFamily="34" charset="0"/>
                <a:ea typeface="Calibri" pitchFamily="34" charset="-122"/>
                <a:cs typeface="Calibri" pitchFamily="34" charset="-120"/>
              </a:rPr>
              <a:t>So the question stops being how to compute the score, and becomes how to learn the one part of it nobody can measure.</a:t>
            </a:r>
            <a:endParaRPr lang="en-US" sz="1150" dirty="0"/>
          </a:p>
        </p:txBody>
      </p:sp>
      <p:sp>
        <p:nvSpPr>
          <p:cNvPr id="28" name="Text 26"/>
          <p:cNvSpPr txBox="1"/>
          <p:nvPr/>
        </p:nvSpPr>
        <p:spPr>
          <a:xfrm>
            <a:off x="8321040" y="4864608"/>
            <a:ext cx="457200" cy="237744"/>
          </a:xfrm>
          <a:prstGeom prst="rect">
            <a:avLst/>
          </a:prstGeom>
          <a:noFill/>
          <a:ln/>
        </p:spPr>
        <p:txBody>
          <a:bodyPr wrap="square" lIns="0" tIns="0" rIns="0" bIns="0" rtlCol="0" anchor="ctr"/>
          <a:lstStyle/>
          <a:p>
            <a:pPr algn="r" indent="0" marL="0">
              <a:buNone/>
            </a:pPr>
            <a:r>
              <a:rPr lang="en-US" sz="1000" dirty="0">
                <a:solidFill>
                  <a:srgbClr val="6B7C8C"/>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A24"/>
        </a:solidFill>
      </p:bgPr>
    </p:bg>
    <p:spTree>
      <p:nvGrpSpPr>
        <p:cNvPr id="1" name=""/>
        <p:cNvGrpSpPr/>
        <p:nvPr/>
      </p:nvGrpSpPr>
      <p:grpSpPr>
        <a:xfrm>
          <a:off x="0" y="0"/>
          <a:ext cx="0" cy="0"/>
          <a:chOff x="0" y="0"/>
          <a:chExt cx="0" cy="0"/>
        </a:xfrm>
      </p:grpSpPr>
      <p:sp>
        <p:nvSpPr>
          <p:cNvPr id="2" name="Text 0"/>
          <p:cNvSpPr txBox="1"/>
          <p:nvPr/>
        </p:nvSpPr>
        <p:spPr>
          <a:xfrm>
            <a:off x="640080" y="1325880"/>
            <a:ext cx="7863840" cy="256032"/>
          </a:xfrm>
          <a:prstGeom prst="rect">
            <a:avLst/>
          </a:prstGeom>
          <a:noFill/>
          <a:ln/>
        </p:spPr>
        <p:txBody>
          <a:bodyPr wrap="square" lIns="0" tIns="0" rIns="0" bIns="0" rtlCol="0" anchor="ctr"/>
          <a:lstStyle/>
          <a:p>
            <a:pPr indent="0" marL="0">
              <a:buNone/>
            </a:pPr>
            <a:r>
              <a:rPr lang="en-US" sz="1100" b="1" spc="200" kern="0" dirty="0">
                <a:solidFill>
                  <a:srgbClr val="1B9C86"/>
                </a:solidFill>
                <a:latin typeface="Calibri" pitchFamily="34" charset="0"/>
                <a:ea typeface="Calibri" pitchFamily="34" charset="-122"/>
                <a:cs typeface="Calibri" pitchFamily="34" charset="-120"/>
              </a:rPr>
              <a:t>ACT THREE</a:t>
            </a:r>
            <a:endParaRPr lang="en-US" sz="1100" dirty="0"/>
          </a:p>
        </p:txBody>
      </p:sp>
      <p:sp>
        <p:nvSpPr>
          <p:cNvPr id="3" name="Text 1"/>
          <p:cNvSpPr txBox="1"/>
          <p:nvPr/>
        </p:nvSpPr>
        <p:spPr>
          <a:xfrm>
            <a:off x="640080" y="1691640"/>
            <a:ext cx="7863840" cy="1371600"/>
          </a:xfrm>
          <a:prstGeom prst="rect">
            <a:avLst/>
          </a:prstGeom>
          <a:noFill/>
          <a:ln/>
        </p:spPr>
        <p:txBody>
          <a:bodyPr wrap="square" lIns="0" tIns="0" rIns="0" bIns="0" rtlCol="0" anchor="ctr"/>
          <a:lstStyle/>
          <a:p>
            <a:pPr indent="0" marL="0">
              <a:lnSpc>
                <a:spcPts val="4600"/>
              </a:lnSpc>
              <a:buNone/>
            </a:pPr>
            <a:r>
              <a:rPr lang="en-US" sz="3800" b="1" dirty="0">
                <a:solidFill>
                  <a:srgbClr val="FFFFFF"/>
                </a:solidFill>
                <a:latin typeface="Cambria" pitchFamily="34" charset="0"/>
                <a:ea typeface="Cambria" pitchFamily="34" charset="-122"/>
                <a:cs typeface="Cambria" pitchFamily="34" charset="-120"/>
              </a:rPr>
              <a:t>How do you predict</a:t>
            </a:r>
            <a:endParaRPr lang="en-US" sz="3800" dirty="0"/>
          </a:p>
          <a:p>
            <a:pPr indent="0" marL="0">
              <a:lnSpc>
                <a:spcPts val="4600"/>
              </a:lnSpc>
              <a:buNone/>
            </a:pPr>
            <a:r>
              <a:rPr lang="en-US" sz="3800" b="1" dirty="0">
                <a:solidFill>
                  <a:srgbClr val="FFFFFF"/>
                </a:solidFill>
                <a:latin typeface="Cambria" pitchFamily="34" charset="0"/>
                <a:ea typeface="Cambria" pitchFamily="34" charset="-122"/>
                <a:cs typeface="Cambria" pitchFamily="34" charset="-120"/>
              </a:rPr>
              <a:t>what nobody can know?</a:t>
            </a:r>
            <a:endParaRPr lang="en-US" sz="3800" dirty="0"/>
          </a:p>
        </p:txBody>
      </p:sp>
      <p:sp>
        <p:nvSpPr>
          <p:cNvPr id="4" name="Text 2"/>
          <p:cNvSpPr txBox="1"/>
          <p:nvPr/>
        </p:nvSpPr>
        <p:spPr>
          <a:xfrm>
            <a:off x="658368" y="3310128"/>
            <a:ext cx="6949440" cy="548640"/>
          </a:xfrm>
          <a:prstGeom prst="rect">
            <a:avLst/>
          </a:prstGeom>
          <a:noFill/>
          <a:ln/>
        </p:spPr>
        <p:txBody>
          <a:bodyPr wrap="square" lIns="0" tIns="0" rIns="0" bIns="0" rtlCol="0" anchor="ctr"/>
          <a:lstStyle/>
          <a:p>
            <a:pPr indent="0" marL="0">
              <a:lnSpc>
                <a:spcPts val="1900"/>
              </a:lnSpc>
              <a:buNone/>
            </a:pPr>
            <a:r>
              <a:rPr lang="en-US" sz="1250" dirty="0">
                <a:solidFill>
                  <a:srgbClr val="9AAAB8"/>
                </a:solidFill>
                <a:latin typeface="Calibri" pitchFamily="34" charset="0"/>
                <a:ea typeface="Calibri" pitchFamily="34" charset="-122"/>
                <a:cs typeface="Calibri" pitchFamily="34" charset="-120"/>
              </a:rPr>
              <a:t>You do not. You hold several beliefs at once, and let the traffic settle which one is paying.</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ctr"/>
          <a:lstStyle/>
          <a:p>
            <a:pPr indent="0" marL="0">
              <a:buNone/>
            </a:pPr>
            <a:r>
              <a:rPr lang="en-US" sz="1100" b="1" spc="200" kern="0" dirty="0">
                <a:solidFill>
                  <a:srgbClr val="1B9C86"/>
                </a:solidFill>
                <a:latin typeface="Calibri" pitchFamily="34" charset="0"/>
                <a:ea typeface="Calibri" pitchFamily="34" charset="-122"/>
                <a:cs typeface="Calibri" pitchFamily="34" charset="-120"/>
              </a:rPr>
              <a:t>LEARNING INSTEAD OF GUESSING</a:t>
            </a:r>
            <a:endParaRPr lang="en-US" sz="1100" dirty="0"/>
          </a:p>
        </p:txBody>
      </p:sp>
      <p:sp>
        <p:nvSpPr>
          <p:cNvPr id="3" name="Text 1"/>
          <p:cNvSpPr txBox="1"/>
          <p:nvPr/>
        </p:nvSpPr>
        <p:spPr>
          <a:xfrm>
            <a:off x="548640" y="658368"/>
            <a:ext cx="8229600" cy="731520"/>
          </a:xfrm>
          <a:prstGeom prst="rect">
            <a:avLst/>
          </a:prstGeom>
          <a:noFill/>
          <a:ln/>
        </p:spPr>
        <p:txBody>
          <a:bodyPr wrap="square" lIns="0" tIns="0" rIns="0" bIns="0" rtlCol="0" anchor="t"/>
          <a:lstStyle/>
          <a:p>
            <a:pPr indent="0" marL="0">
              <a:buNone/>
            </a:pPr>
            <a:r>
              <a:rPr lang="en-US" sz="2600" b="1" dirty="0">
                <a:solidFill>
                  <a:srgbClr val="141A24"/>
                </a:solidFill>
                <a:latin typeface="Cambria" pitchFamily="34" charset="0"/>
                <a:ea typeface="Cambria" pitchFamily="34" charset="-122"/>
                <a:cs typeface="Cambria" pitchFamily="34" charset="-120"/>
              </a:rPr>
              <a:t>Do not pick a policy. Keep a belief about each.</a:t>
            </a:r>
            <a:endParaRPr lang="en-US" sz="2600" dirty="0"/>
          </a:p>
        </p:txBody>
      </p:sp>
      <p:sp>
        <p:nvSpPr>
          <p:cNvPr id="4" name="Shape 2"/>
          <p:cNvSpPr/>
          <p:nvPr/>
        </p:nvSpPr>
        <p:spPr>
          <a:xfrm>
            <a:off x="548640" y="1325880"/>
            <a:ext cx="2560320" cy="566928"/>
          </a:xfrm>
          <a:prstGeom prst="roundRect">
            <a:avLst>
              <a:gd name="adj" fmla="val 9677"/>
            </a:avLst>
          </a:prstGeom>
          <a:solidFill>
            <a:srgbClr val="F1F4F7"/>
          </a:solidFill>
          <a:ln w="12700">
            <a:solidFill>
              <a:srgbClr val="F1F4F7"/>
            </a:solidFill>
            <a:prstDash val="solid"/>
          </a:ln>
          <a:effectLst>
            <a:outerShdw sx="100000" sy="100000" kx="0" ky="0" algn="bl" rotWithShape="0" blurRad="101600" dist="12700" dir="5400000">
              <a:srgbClr val="8CA0B3">
                <a:alpha val="10000"/>
              </a:srgbClr>
            </a:outerShdw>
          </a:effectLst>
        </p:spPr>
      </p:sp>
      <p:sp>
        <p:nvSpPr>
          <p:cNvPr id="5" name="Text 3"/>
          <p:cNvSpPr txBox="1"/>
          <p:nvPr/>
        </p:nvSpPr>
        <p:spPr>
          <a:xfrm>
            <a:off x="713232" y="1399032"/>
            <a:ext cx="2194560" cy="219456"/>
          </a:xfrm>
          <a:prstGeom prst="rect">
            <a:avLst/>
          </a:prstGeom>
          <a:noFill/>
          <a:ln/>
        </p:spPr>
        <p:txBody>
          <a:bodyPr wrap="square" lIns="0" tIns="0" rIns="0" bIns="0" rtlCol="0" anchor="ctr"/>
          <a:lstStyle/>
          <a:p>
            <a:pPr indent="0" marL="0">
              <a:buNone/>
            </a:pPr>
            <a:r>
              <a:rPr lang="en-US" sz="1100" b="1" dirty="0">
                <a:solidFill>
                  <a:srgbClr val="141A24"/>
                </a:solidFill>
                <a:latin typeface="Courier New" pitchFamily="34" charset="0"/>
                <a:ea typeface="Courier New" pitchFamily="34" charset="-122"/>
                <a:cs typeface="Courier New" pitchFamily="34" charset="-120"/>
              </a:rPr>
              <a:t>lru</a:t>
            </a:r>
            <a:endParaRPr lang="en-US" sz="1100" dirty="0"/>
          </a:p>
        </p:txBody>
      </p:sp>
      <p:sp>
        <p:nvSpPr>
          <p:cNvPr id="6" name="Text 4"/>
          <p:cNvSpPr txBox="1"/>
          <p:nvPr/>
        </p:nvSpPr>
        <p:spPr>
          <a:xfrm>
            <a:off x="713232" y="1618488"/>
            <a:ext cx="2286000" cy="219456"/>
          </a:xfrm>
          <a:prstGeom prst="rect">
            <a:avLst/>
          </a:prstGeom>
          <a:noFill/>
          <a:ln/>
        </p:spPr>
        <p:txBody>
          <a:bodyPr wrap="square" lIns="0" tIns="0" rIns="0" bIns="0" rtlCol="0" anchor="ctr"/>
          <a:lstStyle/>
          <a:p>
            <a:pPr indent="0" marL="0">
              <a:buNone/>
            </a:pPr>
            <a:r>
              <a:rPr lang="en-US" sz="950" dirty="0">
                <a:solidFill>
                  <a:srgbClr val="6B7C8C"/>
                </a:solidFill>
                <a:latin typeface="Calibri" pitchFamily="34" charset="0"/>
                <a:ea typeface="Calibri" pitchFamily="34" charset="-122"/>
                <a:cs typeface="Calibri" pitchFamily="34" charset="-120"/>
              </a:rPr>
              <a:t>1 / (1 + age)</a:t>
            </a:r>
            <a:endParaRPr lang="en-US" sz="950" dirty="0"/>
          </a:p>
        </p:txBody>
      </p:sp>
      <p:sp>
        <p:nvSpPr>
          <p:cNvPr id="7" name="Shape 5"/>
          <p:cNvSpPr/>
          <p:nvPr/>
        </p:nvSpPr>
        <p:spPr>
          <a:xfrm>
            <a:off x="3291840" y="1325880"/>
            <a:ext cx="2560320" cy="566928"/>
          </a:xfrm>
          <a:prstGeom prst="roundRect">
            <a:avLst>
              <a:gd name="adj" fmla="val 9677"/>
            </a:avLst>
          </a:prstGeom>
          <a:solidFill>
            <a:srgbClr val="F1F4F7"/>
          </a:solidFill>
          <a:ln w="12700">
            <a:solidFill>
              <a:srgbClr val="F1F4F7"/>
            </a:solidFill>
            <a:prstDash val="solid"/>
          </a:ln>
          <a:effectLst>
            <a:outerShdw sx="100000" sy="100000" kx="0" ky="0" algn="bl" rotWithShape="0" blurRad="101600" dist="12700" dir="5400000">
              <a:srgbClr val="8CA0B3">
                <a:alpha val="10000"/>
              </a:srgbClr>
            </a:outerShdw>
          </a:effectLst>
        </p:spPr>
      </p:sp>
      <p:sp>
        <p:nvSpPr>
          <p:cNvPr id="8" name="Text 6"/>
          <p:cNvSpPr txBox="1"/>
          <p:nvPr/>
        </p:nvSpPr>
        <p:spPr>
          <a:xfrm>
            <a:off x="3456432" y="1399032"/>
            <a:ext cx="2194560" cy="219456"/>
          </a:xfrm>
          <a:prstGeom prst="rect">
            <a:avLst/>
          </a:prstGeom>
          <a:noFill/>
          <a:ln/>
        </p:spPr>
        <p:txBody>
          <a:bodyPr wrap="square" lIns="0" tIns="0" rIns="0" bIns="0" rtlCol="0" anchor="ctr"/>
          <a:lstStyle/>
          <a:p>
            <a:pPr indent="0" marL="0">
              <a:buNone/>
            </a:pPr>
            <a:r>
              <a:rPr lang="en-US" sz="1100" b="1" dirty="0">
                <a:solidFill>
                  <a:srgbClr val="141A24"/>
                </a:solidFill>
                <a:latin typeface="Courier New" pitchFamily="34" charset="0"/>
                <a:ea typeface="Courier New" pitchFamily="34" charset="-122"/>
                <a:cs typeface="Courier New" pitchFamily="34" charset="-120"/>
              </a:rPr>
              <a:t>lfu</a:t>
            </a:r>
            <a:endParaRPr lang="en-US" sz="1100" dirty="0"/>
          </a:p>
        </p:txBody>
      </p:sp>
      <p:sp>
        <p:nvSpPr>
          <p:cNvPr id="9" name="Text 7"/>
          <p:cNvSpPr txBox="1"/>
          <p:nvPr/>
        </p:nvSpPr>
        <p:spPr>
          <a:xfrm>
            <a:off x="3456432" y="1618488"/>
            <a:ext cx="2286000" cy="219456"/>
          </a:xfrm>
          <a:prstGeom prst="rect">
            <a:avLst/>
          </a:prstGeom>
          <a:noFill/>
          <a:ln/>
        </p:spPr>
        <p:txBody>
          <a:bodyPr wrap="square" lIns="0" tIns="0" rIns="0" bIns="0" rtlCol="0" anchor="ctr"/>
          <a:lstStyle/>
          <a:p>
            <a:pPr indent="0" marL="0">
              <a:buNone/>
            </a:pPr>
            <a:r>
              <a:rPr lang="en-US" sz="950" dirty="0">
                <a:solidFill>
                  <a:srgbClr val="6B7C8C"/>
                </a:solidFill>
                <a:latin typeface="Calibri" pitchFamily="34" charset="0"/>
                <a:ea typeface="Calibri" pitchFamily="34" charset="-122"/>
                <a:cs typeface="Calibri" pitchFamily="34" charset="-120"/>
              </a:rPr>
              <a:t>freq_1h</a:t>
            </a:r>
            <a:endParaRPr lang="en-US" sz="950" dirty="0"/>
          </a:p>
        </p:txBody>
      </p:sp>
      <p:sp>
        <p:nvSpPr>
          <p:cNvPr id="10" name="Shape 8"/>
          <p:cNvSpPr/>
          <p:nvPr/>
        </p:nvSpPr>
        <p:spPr>
          <a:xfrm>
            <a:off x="6035040" y="1325880"/>
            <a:ext cx="2560320" cy="566928"/>
          </a:xfrm>
          <a:prstGeom prst="roundRect">
            <a:avLst>
              <a:gd name="adj" fmla="val 9677"/>
            </a:avLst>
          </a:prstGeom>
          <a:solidFill>
            <a:srgbClr val="F1F4F7"/>
          </a:solidFill>
          <a:ln w="12700">
            <a:solidFill>
              <a:srgbClr val="F1F4F7"/>
            </a:solidFill>
            <a:prstDash val="solid"/>
          </a:ln>
          <a:effectLst>
            <a:outerShdw sx="100000" sy="100000" kx="0" ky="0" algn="bl" rotWithShape="0" blurRad="101600" dist="12700" dir="5400000">
              <a:srgbClr val="8CA0B3">
                <a:alpha val="10000"/>
              </a:srgbClr>
            </a:outerShdw>
          </a:effectLst>
        </p:spPr>
      </p:sp>
      <p:sp>
        <p:nvSpPr>
          <p:cNvPr id="11" name="Text 9"/>
          <p:cNvSpPr txBox="1"/>
          <p:nvPr/>
        </p:nvSpPr>
        <p:spPr>
          <a:xfrm>
            <a:off x="6199632" y="1399032"/>
            <a:ext cx="2194560" cy="219456"/>
          </a:xfrm>
          <a:prstGeom prst="rect">
            <a:avLst/>
          </a:prstGeom>
          <a:noFill/>
          <a:ln/>
        </p:spPr>
        <p:txBody>
          <a:bodyPr wrap="square" lIns="0" tIns="0" rIns="0" bIns="0" rtlCol="0" anchor="ctr"/>
          <a:lstStyle/>
          <a:p>
            <a:pPr indent="0" marL="0">
              <a:buNone/>
            </a:pPr>
            <a:r>
              <a:rPr lang="en-US" sz="1100" b="1" dirty="0">
                <a:solidFill>
                  <a:srgbClr val="141A24"/>
                </a:solidFill>
                <a:latin typeface="Courier New" pitchFamily="34" charset="0"/>
                <a:ea typeface="Courier New" pitchFamily="34" charset="-122"/>
                <a:cs typeface="Courier New" pitchFamily="34" charset="-120"/>
              </a:rPr>
              <a:t>gdsf</a:t>
            </a:r>
            <a:endParaRPr lang="en-US" sz="1100" dirty="0"/>
          </a:p>
        </p:txBody>
      </p:sp>
      <p:sp>
        <p:nvSpPr>
          <p:cNvPr id="12" name="Text 10"/>
          <p:cNvSpPr txBox="1"/>
          <p:nvPr/>
        </p:nvSpPr>
        <p:spPr>
          <a:xfrm>
            <a:off x="6199632" y="1618488"/>
            <a:ext cx="2286000" cy="219456"/>
          </a:xfrm>
          <a:prstGeom prst="rect">
            <a:avLst/>
          </a:prstGeom>
          <a:noFill/>
          <a:ln/>
        </p:spPr>
        <p:txBody>
          <a:bodyPr wrap="square" lIns="0" tIns="0" rIns="0" bIns="0" rtlCol="0" anchor="ctr"/>
          <a:lstStyle/>
          <a:p>
            <a:pPr indent="0" marL="0">
              <a:buNone/>
            </a:pPr>
            <a:r>
              <a:rPr lang="en-US" sz="950" dirty="0">
                <a:solidFill>
                  <a:srgbClr val="6B7C8C"/>
                </a:solidFill>
                <a:latin typeface="Calibri" pitchFamily="34" charset="0"/>
                <a:ea typeface="Calibri" pitchFamily="34" charset="-122"/>
                <a:cs typeface="Calibri" pitchFamily="34" charset="-120"/>
              </a:rPr>
              <a:t>freq·cost / log size</a:t>
            </a:r>
            <a:endParaRPr lang="en-US" sz="950" dirty="0"/>
          </a:p>
        </p:txBody>
      </p:sp>
      <p:sp>
        <p:nvSpPr>
          <p:cNvPr id="13" name="Shape 11"/>
          <p:cNvSpPr/>
          <p:nvPr/>
        </p:nvSpPr>
        <p:spPr>
          <a:xfrm>
            <a:off x="548640" y="1984248"/>
            <a:ext cx="2560320" cy="566928"/>
          </a:xfrm>
          <a:prstGeom prst="roundRect">
            <a:avLst>
              <a:gd name="adj" fmla="val 9677"/>
            </a:avLst>
          </a:prstGeom>
          <a:solidFill>
            <a:srgbClr val="F1F4F7"/>
          </a:solidFill>
          <a:ln w="12700">
            <a:solidFill>
              <a:srgbClr val="F1F4F7"/>
            </a:solidFill>
            <a:prstDash val="solid"/>
          </a:ln>
          <a:effectLst>
            <a:outerShdw sx="100000" sy="100000" kx="0" ky="0" algn="bl" rotWithShape="0" blurRad="101600" dist="12700" dir="5400000">
              <a:srgbClr val="8CA0B3">
                <a:alpha val="10000"/>
              </a:srgbClr>
            </a:outerShdw>
          </a:effectLst>
        </p:spPr>
      </p:sp>
      <p:sp>
        <p:nvSpPr>
          <p:cNvPr id="14" name="Text 12"/>
          <p:cNvSpPr txBox="1"/>
          <p:nvPr/>
        </p:nvSpPr>
        <p:spPr>
          <a:xfrm>
            <a:off x="713232" y="2057400"/>
            <a:ext cx="2194560" cy="219456"/>
          </a:xfrm>
          <a:prstGeom prst="rect">
            <a:avLst/>
          </a:prstGeom>
          <a:noFill/>
          <a:ln/>
        </p:spPr>
        <p:txBody>
          <a:bodyPr wrap="square" lIns="0" tIns="0" rIns="0" bIns="0" rtlCol="0" anchor="ctr"/>
          <a:lstStyle/>
          <a:p>
            <a:pPr indent="0" marL="0">
              <a:buNone/>
            </a:pPr>
            <a:r>
              <a:rPr lang="en-US" sz="1100" b="1" dirty="0">
                <a:solidFill>
                  <a:srgbClr val="141A24"/>
                </a:solidFill>
                <a:latin typeface="Courier New" pitchFamily="34" charset="0"/>
                <a:ea typeface="Courier New" pitchFamily="34" charset="-122"/>
                <a:cs typeface="Courier New" pitchFamily="34" charset="-120"/>
              </a:rPr>
              <a:t>tiny_lfu</a:t>
            </a:r>
            <a:endParaRPr lang="en-US" sz="1100" dirty="0"/>
          </a:p>
        </p:txBody>
      </p:sp>
      <p:sp>
        <p:nvSpPr>
          <p:cNvPr id="15" name="Text 13"/>
          <p:cNvSpPr txBox="1"/>
          <p:nvPr/>
        </p:nvSpPr>
        <p:spPr>
          <a:xfrm>
            <a:off x="713232" y="2276856"/>
            <a:ext cx="2286000" cy="219456"/>
          </a:xfrm>
          <a:prstGeom prst="rect">
            <a:avLst/>
          </a:prstGeom>
          <a:noFill/>
          <a:ln/>
        </p:spPr>
        <p:txBody>
          <a:bodyPr wrap="square" lIns="0" tIns="0" rIns="0" bIns="0" rtlCol="0" anchor="ctr"/>
          <a:lstStyle/>
          <a:p>
            <a:pPr indent="0" marL="0">
              <a:buNone/>
            </a:pPr>
            <a:r>
              <a:rPr lang="en-US" sz="950" dirty="0">
                <a:solidFill>
                  <a:srgbClr val="6B7C8C"/>
                </a:solidFill>
                <a:latin typeface="Calibri" pitchFamily="34" charset="0"/>
                <a:ea typeface="Calibri" pitchFamily="34" charset="-122"/>
                <a:cs typeface="Calibri" pitchFamily="34" charset="-120"/>
              </a:rPr>
              <a:t>0.7·f1m + 0.3·f5m</a:t>
            </a:r>
            <a:endParaRPr lang="en-US" sz="950" dirty="0"/>
          </a:p>
        </p:txBody>
      </p:sp>
      <p:sp>
        <p:nvSpPr>
          <p:cNvPr id="16" name="Shape 14"/>
          <p:cNvSpPr/>
          <p:nvPr/>
        </p:nvSpPr>
        <p:spPr>
          <a:xfrm>
            <a:off x="3291840" y="1984248"/>
            <a:ext cx="2560320" cy="566928"/>
          </a:xfrm>
          <a:prstGeom prst="roundRect">
            <a:avLst>
              <a:gd name="adj" fmla="val 9677"/>
            </a:avLst>
          </a:prstGeom>
          <a:solidFill>
            <a:srgbClr val="F1F4F7"/>
          </a:solidFill>
          <a:ln w="12700">
            <a:solidFill>
              <a:srgbClr val="F1F4F7"/>
            </a:solidFill>
            <a:prstDash val="solid"/>
          </a:ln>
          <a:effectLst>
            <a:outerShdw sx="100000" sy="100000" kx="0" ky="0" algn="bl" rotWithShape="0" blurRad="101600" dist="12700" dir="5400000">
              <a:srgbClr val="8CA0B3">
                <a:alpha val="10000"/>
              </a:srgbClr>
            </a:outerShdw>
          </a:effectLst>
        </p:spPr>
      </p:sp>
      <p:sp>
        <p:nvSpPr>
          <p:cNvPr id="17" name="Text 15"/>
          <p:cNvSpPr txBox="1"/>
          <p:nvPr/>
        </p:nvSpPr>
        <p:spPr>
          <a:xfrm>
            <a:off x="3456432" y="2057400"/>
            <a:ext cx="2194560" cy="219456"/>
          </a:xfrm>
          <a:prstGeom prst="rect">
            <a:avLst/>
          </a:prstGeom>
          <a:noFill/>
          <a:ln/>
        </p:spPr>
        <p:txBody>
          <a:bodyPr wrap="square" lIns="0" tIns="0" rIns="0" bIns="0" rtlCol="0" anchor="ctr"/>
          <a:lstStyle/>
          <a:p>
            <a:pPr indent="0" marL="0">
              <a:buNone/>
            </a:pPr>
            <a:r>
              <a:rPr lang="en-US" sz="1100" b="1" dirty="0">
                <a:solidFill>
                  <a:srgbClr val="141A24"/>
                </a:solidFill>
                <a:latin typeface="Courier New" pitchFamily="34" charset="0"/>
                <a:ea typeface="Courier New" pitchFamily="34" charset="-122"/>
                <a:cs typeface="Courier New" pitchFamily="34" charset="-120"/>
              </a:rPr>
              <a:t>cost_aware</a:t>
            </a:r>
            <a:endParaRPr lang="en-US" sz="1100" dirty="0"/>
          </a:p>
        </p:txBody>
      </p:sp>
      <p:sp>
        <p:nvSpPr>
          <p:cNvPr id="18" name="Text 16"/>
          <p:cNvSpPr txBox="1"/>
          <p:nvPr/>
        </p:nvSpPr>
        <p:spPr>
          <a:xfrm>
            <a:off x="3456432" y="2276856"/>
            <a:ext cx="2286000" cy="219456"/>
          </a:xfrm>
          <a:prstGeom prst="rect">
            <a:avLst/>
          </a:prstGeom>
          <a:noFill/>
          <a:ln/>
        </p:spPr>
        <p:txBody>
          <a:bodyPr wrap="square" lIns="0" tIns="0" rIns="0" bIns="0" rtlCol="0" anchor="ctr"/>
          <a:lstStyle/>
          <a:p>
            <a:pPr indent="0" marL="0">
              <a:buNone/>
            </a:pPr>
            <a:r>
              <a:rPr lang="en-US" sz="950" dirty="0">
                <a:solidFill>
                  <a:srgbClr val="6B7C8C"/>
                </a:solidFill>
                <a:latin typeface="Calibri" pitchFamily="34" charset="0"/>
                <a:ea typeface="Calibri" pitchFamily="34" charset="-122"/>
                <a:cs typeface="Calibri" pitchFamily="34" charset="-120"/>
              </a:rPr>
              <a:t>cost / log size</a:t>
            </a:r>
            <a:endParaRPr lang="en-US" sz="950" dirty="0"/>
          </a:p>
        </p:txBody>
      </p:sp>
      <p:sp>
        <p:nvSpPr>
          <p:cNvPr id="19" name="Shape 17"/>
          <p:cNvSpPr/>
          <p:nvPr/>
        </p:nvSpPr>
        <p:spPr>
          <a:xfrm>
            <a:off x="6035040" y="1984248"/>
            <a:ext cx="2560320" cy="566928"/>
          </a:xfrm>
          <a:prstGeom prst="roundRect">
            <a:avLst>
              <a:gd name="adj" fmla="val 9677"/>
            </a:avLst>
          </a:prstGeom>
          <a:solidFill>
            <a:srgbClr val="F1F4F7"/>
          </a:solidFill>
          <a:ln w="12700">
            <a:solidFill>
              <a:srgbClr val="F1F4F7"/>
            </a:solidFill>
            <a:prstDash val="solid"/>
          </a:ln>
          <a:effectLst>
            <a:outerShdw sx="100000" sy="100000" kx="0" ky="0" algn="bl" rotWithShape="0" blurRad="101600" dist="12700" dir="5400000">
              <a:srgbClr val="8CA0B3">
                <a:alpha val="10000"/>
              </a:srgbClr>
            </a:outerShdw>
          </a:effectLst>
        </p:spPr>
      </p:sp>
      <p:sp>
        <p:nvSpPr>
          <p:cNvPr id="20" name="Text 18"/>
          <p:cNvSpPr txBox="1"/>
          <p:nvPr/>
        </p:nvSpPr>
        <p:spPr>
          <a:xfrm>
            <a:off x="6199632" y="2057400"/>
            <a:ext cx="2194560" cy="219456"/>
          </a:xfrm>
          <a:prstGeom prst="rect">
            <a:avLst/>
          </a:prstGeom>
          <a:noFill/>
          <a:ln/>
        </p:spPr>
        <p:txBody>
          <a:bodyPr wrap="square" lIns="0" tIns="0" rIns="0" bIns="0" rtlCol="0" anchor="ctr"/>
          <a:lstStyle/>
          <a:p>
            <a:pPr indent="0" marL="0">
              <a:buNone/>
            </a:pPr>
            <a:r>
              <a:rPr lang="en-US" sz="1100" b="1" dirty="0">
                <a:solidFill>
                  <a:srgbClr val="141A24"/>
                </a:solidFill>
                <a:latin typeface="Courier New" pitchFamily="34" charset="0"/>
                <a:ea typeface="Courier New" pitchFamily="34" charset="-122"/>
                <a:cs typeface="Courier New" pitchFamily="34" charset="-120"/>
              </a:rPr>
              <a:t>trend_aware</a:t>
            </a:r>
            <a:endParaRPr lang="en-US" sz="1100" dirty="0"/>
          </a:p>
        </p:txBody>
      </p:sp>
      <p:sp>
        <p:nvSpPr>
          <p:cNvPr id="21" name="Text 19"/>
          <p:cNvSpPr txBox="1"/>
          <p:nvPr/>
        </p:nvSpPr>
        <p:spPr>
          <a:xfrm>
            <a:off x="6199632" y="2276856"/>
            <a:ext cx="2286000" cy="219456"/>
          </a:xfrm>
          <a:prstGeom prst="rect">
            <a:avLst/>
          </a:prstGeom>
          <a:noFill/>
          <a:ln/>
        </p:spPr>
        <p:txBody>
          <a:bodyPr wrap="square" lIns="0" tIns="0" rIns="0" bIns="0" rtlCol="0" anchor="ctr"/>
          <a:lstStyle/>
          <a:p>
            <a:pPr indent="0" marL="0">
              <a:buNone/>
            </a:pPr>
            <a:r>
              <a:rPr lang="en-US" sz="950" dirty="0">
                <a:solidFill>
                  <a:srgbClr val="6B7C8C"/>
                </a:solidFill>
                <a:latin typeface="Calibri" pitchFamily="34" charset="0"/>
                <a:ea typeface="Calibri" pitchFamily="34" charset="-122"/>
                <a:cs typeface="Calibri" pitchFamily="34" charset="-120"/>
              </a:rPr>
              <a:t>ewma·(1+trend)</a:t>
            </a:r>
            <a:endParaRPr lang="en-US" sz="950" dirty="0"/>
          </a:p>
        </p:txBody>
      </p:sp>
      <p:sp>
        <p:nvSpPr>
          <p:cNvPr id="22" name="Text 20"/>
          <p:cNvSpPr txBox="1"/>
          <p:nvPr/>
        </p:nvSpPr>
        <p:spPr>
          <a:xfrm>
            <a:off x="566928" y="2706624"/>
            <a:ext cx="7680960" cy="274320"/>
          </a:xfrm>
          <a:prstGeom prst="rect">
            <a:avLst/>
          </a:prstGeom>
          <a:noFill/>
          <a:ln/>
        </p:spPr>
        <p:txBody>
          <a:bodyPr wrap="square" lIns="0" tIns="0" rIns="0" bIns="0" rtlCol="0" anchor="ctr"/>
          <a:lstStyle/>
          <a:p>
            <a:pPr indent="0" marL="0">
              <a:buNone/>
            </a:pPr>
            <a:r>
              <a:rPr lang="en-US" sz="1150" i="1" dirty="0">
                <a:solidFill>
                  <a:srgbClr val="6B7C8C"/>
                </a:solidFill>
                <a:latin typeface="Calibri" pitchFamily="34" charset="0"/>
                <a:ea typeface="Calibri" pitchFamily="34" charset="-122"/>
                <a:cs typeface="Calibri" pitchFamily="34" charset="-120"/>
              </a:rPr>
              <a:t>Six heuristics. Each is right sometimes. None is right always.</a:t>
            </a:r>
            <a:endParaRPr lang="en-US" sz="1150" dirty="0"/>
          </a:p>
        </p:txBody>
      </p:sp>
      <p:sp>
        <p:nvSpPr>
          <p:cNvPr id="23" name="Shape 21"/>
          <p:cNvSpPr/>
          <p:nvPr/>
        </p:nvSpPr>
        <p:spPr>
          <a:xfrm>
            <a:off x="548640" y="3090672"/>
            <a:ext cx="3931920" cy="1234440"/>
          </a:xfrm>
          <a:prstGeom prst="roundRect">
            <a:avLst>
              <a:gd name="adj" fmla="val 4444"/>
            </a:avLst>
          </a:prstGeom>
          <a:solidFill>
            <a:srgbClr val="D9F0EB"/>
          </a:solidFill>
          <a:ln w="12700">
            <a:solidFill>
              <a:srgbClr val="D9F0EB"/>
            </a:solidFill>
            <a:prstDash val="solid"/>
          </a:ln>
          <a:effectLst>
            <a:outerShdw sx="100000" sy="100000" kx="0" ky="0" algn="bl" rotWithShape="0" blurRad="101600" dist="12700" dir="5400000">
              <a:srgbClr val="8CA0B3">
                <a:alpha val="10000"/>
              </a:srgbClr>
            </a:outerShdw>
          </a:effectLst>
        </p:spPr>
      </p:sp>
      <p:sp>
        <p:nvSpPr>
          <p:cNvPr id="24" name="Text 22"/>
          <p:cNvSpPr txBox="1"/>
          <p:nvPr/>
        </p:nvSpPr>
        <p:spPr>
          <a:xfrm>
            <a:off x="804672" y="3200400"/>
            <a:ext cx="3474720" cy="237744"/>
          </a:xfrm>
          <a:prstGeom prst="rect">
            <a:avLst/>
          </a:prstGeom>
          <a:noFill/>
          <a:ln/>
        </p:spPr>
        <p:txBody>
          <a:bodyPr wrap="square" lIns="0" tIns="0" rIns="0" bIns="0" rtlCol="0" anchor="ctr"/>
          <a:lstStyle/>
          <a:p>
            <a:pPr indent="0" marL="0">
              <a:buNone/>
            </a:pPr>
            <a:r>
              <a:rPr lang="en-US" sz="1150" b="1" dirty="0">
                <a:solidFill>
                  <a:srgbClr val="1B9C86"/>
                </a:solidFill>
                <a:latin typeface="Calibri" pitchFamily="34" charset="0"/>
                <a:ea typeface="Calibri" pitchFamily="34" charset="-122"/>
                <a:cs typeface="Calibri" pitchFamily="34" charset="-120"/>
              </a:rPr>
              <a:t>A Beta posterior per arm</a:t>
            </a:r>
            <a:endParaRPr lang="en-US" sz="1150" dirty="0"/>
          </a:p>
        </p:txBody>
      </p:sp>
      <p:sp>
        <p:nvSpPr>
          <p:cNvPr id="25" name="Text 23"/>
          <p:cNvSpPr txBox="1"/>
          <p:nvPr/>
        </p:nvSpPr>
        <p:spPr>
          <a:xfrm>
            <a:off x="804672" y="3456432"/>
            <a:ext cx="3474720" cy="777240"/>
          </a:xfrm>
          <a:prstGeom prst="rect">
            <a:avLst/>
          </a:prstGeom>
          <a:noFill/>
          <a:ln/>
        </p:spPr>
        <p:txBody>
          <a:bodyPr wrap="square" lIns="0" tIns="0" rIns="0" bIns="0" rtlCol="0" anchor="ctr"/>
          <a:lstStyle/>
          <a:p>
            <a:pPr indent="0" marL="0">
              <a:lnSpc>
                <a:spcPts val="1300"/>
              </a:lnSpc>
              <a:buNone/>
            </a:pPr>
            <a:r>
              <a:rPr lang="en-US" sz="1000" dirty="0">
                <a:solidFill>
                  <a:srgbClr val="31404E"/>
                </a:solidFill>
                <a:latin typeface="Calibri" pitchFamily="34" charset="0"/>
                <a:ea typeface="Calibri" pitchFamily="34" charset="-122"/>
                <a:cs typeface="Calibri" pitchFamily="34" charset="-120"/>
              </a:rPr>
              <a:t>Each expert keeps a belief about whether following it actually paid off. Every decision draws from those beliefs, so the cache explores in proportion to genuine uncertainty.</a:t>
            </a:r>
            <a:endParaRPr lang="en-US" sz="1000" dirty="0"/>
          </a:p>
        </p:txBody>
      </p:sp>
      <p:sp>
        <p:nvSpPr>
          <p:cNvPr id="26" name="Shape 24"/>
          <p:cNvSpPr/>
          <p:nvPr/>
        </p:nvSpPr>
        <p:spPr>
          <a:xfrm>
            <a:off x="4663440" y="3090672"/>
            <a:ext cx="3931920" cy="1234440"/>
          </a:xfrm>
          <a:prstGeom prst="roundRect">
            <a:avLst>
              <a:gd name="adj" fmla="val 4444"/>
            </a:avLst>
          </a:prstGeom>
          <a:solidFill>
            <a:srgbClr val="FBE9D4"/>
          </a:solidFill>
          <a:ln w="12700">
            <a:solidFill>
              <a:srgbClr val="FBE9D4"/>
            </a:solidFill>
            <a:prstDash val="solid"/>
          </a:ln>
          <a:effectLst>
            <a:outerShdw sx="100000" sy="100000" kx="0" ky="0" algn="bl" rotWithShape="0" blurRad="101600" dist="12700" dir="5400000">
              <a:srgbClr val="8CA0B3">
                <a:alpha val="10000"/>
              </a:srgbClr>
            </a:outerShdw>
          </a:effectLst>
        </p:spPr>
      </p:sp>
      <p:sp>
        <p:nvSpPr>
          <p:cNvPr id="27" name="Text 25"/>
          <p:cNvSpPr txBox="1"/>
          <p:nvPr/>
        </p:nvSpPr>
        <p:spPr>
          <a:xfrm>
            <a:off x="4919472" y="3200400"/>
            <a:ext cx="3474720" cy="237744"/>
          </a:xfrm>
          <a:prstGeom prst="rect">
            <a:avLst/>
          </a:prstGeom>
          <a:noFill/>
          <a:ln/>
        </p:spPr>
        <p:txBody>
          <a:bodyPr wrap="square" lIns="0" tIns="0" rIns="0" bIns="0" rtlCol="0" anchor="ctr"/>
          <a:lstStyle/>
          <a:p>
            <a:pPr indent="0" marL="0">
              <a:buNone/>
            </a:pPr>
            <a:r>
              <a:rPr lang="en-US" sz="1150" b="1" dirty="0">
                <a:solidFill>
                  <a:srgbClr val="D97A16"/>
                </a:solidFill>
                <a:latin typeface="Calibri" pitchFamily="34" charset="0"/>
                <a:ea typeface="Calibri" pitchFamily="34" charset="-122"/>
                <a:cs typeface="Calibri" pitchFamily="34" charset="-120"/>
              </a:rPr>
              <a:t>×0.995 every tick</a:t>
            </a:r>
            <a:endParaRPr lang="en-US" sz="1150" dirty="0"/>
          </a:p>
        </p:txBody>
      </p:sp>
      <p:sp>
        <p:nvSpPr>
          <p:cNvPr id="28" name="Text 26"/>
          <p:cNvSpPr txBox="1"/>
          <p:nvPr/>
        </p:nvSpPr>
        <p:spPr>
          <a:xfrm>
            <a:off x="4919472" y="3456432"/>
            <a:ext cx="3474720" cy="777240"/>
          </a:xfrm>
          <a:prstGeom prst="rect">
            <a:avLst/>
          </a:prstGeom>
          <a:noFill/>
          <a:ln/>
        </p:spPr>
        <p:txBody>
          <a:bodyPr wrap="square" lIns="0" tIns="0" rIns="0" bIns="0" rtlCol="0" anchor="ctr"/>
          <a:lstStyle/>
          <a:p>
            <a:pPr indent="0" marL="0">
              <a:lnSpc>
                <a:spcPts val="1300"/>
              </a:lnSpc>
              <a:buNone/>
            </a:pPr>
            <a:r>
              <a:rPr lang="en-US" sz="1000" dirty="0">
                <a:solidFill>
                  <a:srgbClr val="31404E"/>
                </a:solidFill>
                <a:latin typeface="Calibri" pitchFamily="34" charset="0"/>
                <a:ea typeface="Calibri" pitchFamily="34" charset="-122"/>
                <a:cs typeface="Calibri" pitchFamily="34" charset="-120"/>
              </a:rPr>
              <a:t>The beliefs decay. Without that, the expert that was right for an hour outvotes fresh evidence forever, and “adaptive” quietly means “adaptive for the first five minutes”.</a:t>
            </a:r>
            <a:endParaRPr lang="en-US" sz="1000" dirty="0"/>
          </a:p>
        </p:txBody>
      </p:sp>
      <p:sp>
        <p:nvSpPr>
          <p:cNvPr id="29" name="Text 27"/>
          <p:cNvSpPr txBox="1"/>
          <p:nvPr/>
        </p:nvSpPr>
        <p:spPr>
          <a:xfrm>
            <a:off x="548640" y="4462272"/>
            <a:ext cx="7680960" cy="274320"/>
          </a:xfrm>
          <a:prstGeom prst="rect">
            <a:avLst/>
          </a:prstGeom>
          <a:noFill/>
          <a:ln/>
        </p:spPr>
        <p:txBody>
          <a:bodyPr wrap="square" lIns="0" tIns="0" rIns="0" bIns="0" rtlCol="0" anchor="ctr"/>
          <a:lstStyle/>
          <a:p>
            <a:pPr indent="0" marL="0">
              <a:buNone/>
            </a:pPr>
            <a:r>
              <a:rPr lang="en-US" sz="1150" b="1" dirty="0">
                <a:solidFill>
                  <a:srgbClr val="141A24"/>
                </a:solidFill>
                <a:latin typeface="Calibri" pitchFamily="34" charset="0"/>
                <a:ea typeface="Calibri" pitchFamily="34" charset="-122"/>
                <a:cs typeface="Calibri" pitchFamily="34" charset="-120"/>
              </a:rPr>
              <a:t>Nothing here is configured. The mixture is whatever the traffic has been paying for lately.</a:t>
            </a:r>
            <a:endParaRPr lang="en-US" sz="1150" dirty="0"/>
          </a:p>
        </p:txBody>
      </p:sp>
      <p:sp>
        <p:nvSpPr>
          <p:cNvPr id="30" name="Text 28"/>
          <p:cNvSpPr txBox="1"/>
          <p:nvPr/>
        </p:nvSpPr>
        <p:spPr>
          <a:xfrm>
            <a:off x="8321040" y="4864608"/>
            <a:ext cx="457200" cy="237744"/>
          </a:xfrm>
          <a:prstGeom prst="rect">
            <a:avLst/>
          </a:prstGeom>
          <a:noFill/>
          <a:ln/>
        </p:spPr>
        <p:txBody>
          <a:bodyPr wrap="square" lIns="0" tIns="0" rIns="0" bIns="0" rtlCol="0" anchor="ctr"/>
          <a:lstStyle/>
          <a:p>
            <a:pPr algn="r" indent="0" marL="0">
              <a:buNone/>
            </a:pPr>
            <a:r>
              <a:rPr lang="en-US" sz="1000" dirty="0">
                <a:solidFill>
                  <a:srgbClr val="6B7C8C"/>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ctr"/>
          <a:lstStyle/>
          <a:p>
            <a:pPr indent="0" marL="0">
              <a:buNone/>
            </a:pPr>
            <a:r>
              <a:rPr lang="en-US" sz="1100" b="1" spc="200" kern="0" dirty="0">
                <a:solidFill>
                  <a:srgbClr val="1B9C86"/>
                </a:solidFill>
                <a:latin typeface="Calibri" pitchFamily="34" charset="0"/>
                <a:ea typeface="Calibri" pitchFamily="34" charset="-122"/>
                <a:cs typeface="Calibri" pitchFamily="34" charset="-120"/>
              </a:rPr>
              <a:t>THE RULE THAT MAKES IT REAL</a:t>
            </a:r>
            <a:endParaRPr lang="en-US" sz="1100" dirty="0"/>
          </a:p>
        </p:txBody>
      </p:sp>
      <p:sp>
        <p:nvSpPr>
          <p:cNvPr id="3" name="Text 1"/>
          <p:cNvSpPr txBox="1"/>
          <p:nvPr/>
        </p:nvSpPr>
        <p:spPr>
          <a:xfrm>
            <a:off x="548640" y="658368"/>
            <a:ext cx="8229600" cy="731520"/>
          </a:xfrm>
          <a:prstGeom prst="rect">
            <a:avLst/>
          </a:prstGeom>
          <a:noFill/>
          <a:ln/>
        </p:spPr>
        <p:txBody>
          <a:bodyPr wrap="square" lIns="0" tIns="0" rIns="0" bIns="0" rtlCol="0" anchor="t"/>
          <a:lstStyle/>
          <a:p>
            <a:pPr indent="0" marL="0">
              <a:buNone/>
            </a:pPr>
            <a:r>
              <a:rPr lang="en-US" sz="2700" b="1" dirty="0">
                <a:solidFill>
                  <a:srgbClr val="141A24"/>
                </a:solidFill>
                <a:latin typeface="Cambria" pitchFamily="34" charset="0"/>
                <a:ea typeface="Cambria" pitchFamily="34" charset="-122"/>
                <a:cs typeface="Cambria" pitchFamily="34" charset="-120"/>
              </a:rPr>
              <a:t>The cache does not grade its own homework</a:t>
            </a:r>
            <a:endParaRPr lang="en-US" sz="2700" dirty="0"/>
          </a:p>
        </p:txBody>
      </p:sp>
      <p:sp>
        <p:nvSpPr>
          <p:cNvPr id="4" name="Shape 2"/>
          <p:cNvSpPr/>
          <p:nvPr/>
        </p:nvSpPr>
        <p:spPr>
          <a:xfrm>
            <a:off x="548640" y="1325880"/>
            <a:ext cx="1883664" cy="1600200"/>
          </a:xfrm>
          <a:prstGeom prst="roundRect">
            <a:avLst>
              <a:gd name="adj" fmla="val 3429"/>
            </a:avLst>
          </a:prstGeom>
          <a:solidFill>
            <a:srgbClr val="F1F4F7"/>
          </a:solidFill>
          <a:ln w="12700">
            <a:solidFill>
              <a:srgbClr val="F1F4F7"/>
            </a:solidFill>
            <a:prstDash val="solid"/>
          </a:ln>
          <a:effectLst>
            <a:outerShdw sx="100000" sy="100000" kx="0" ky="0" algn="bl" rotWithShape="0" blurRad="101600" dist="12700" dir="5400000">
              <a:srgbClr val="8CA0B3">
                <a:alpha val="10000"/>
              </a:srgbClr>
            </a:outerShdw>
          </a:effectLst>
        </p:spPr>
      </p:sp>
      <p:sp>
        <p:nvSpPr>
          <p:cNvPr id="5" name="Shape 3"/>
          <p:cNvSpPr/>
          <p:nvPr/>
        </p:nvSpPr>
        <p:spPr>
          <a:xfrm>
            <a:off x="713232" y="1481328"/>
            <a:ext cx="310896" cy="310896"/>
          </a:xfrm>
          <a:prstGeom prst="ellipse">
            <a:avLst/>
          </a:prstGeom>
          <a:solidFill>
            <a:srgbClr val="1B9C86"/>
          </a:solidFill>
          <a:ln w="12700">
            <a:solidFill>
              <a:srgbClr val="1B9C86"/>
            </a:solidFill>
            <a:prstDash val="solid"/>
          </a:ln>
        </p:spPr>
      </p:sp>
      <p:sp>
        <p:nvSpPr>
          <p:cNvPr id="6" name="Text 4"/>
          <p:cNvSpPr txBox="1"/>
          <p:nvPr/>
        </p:nvSpPr>
        <p:spPr>
          <a:xfrm>
            <a:off x="713232" y="148132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713232" y="1865376"/>
            <a:ext cx="1645920" cy="237744"/>
          </a:xfrm>
          <a:prstGeom prst="rect">
            <a:avLst/>
          </a:prstGeom>
          <a:noFill/>
          <a:ln/>
        </p:spPr>
        <p:txBody>
          <a:bodyPr wrap="square" lIns="0" tIns="0" rIns="0" bIns="0" rtlCol="0" anchor="ctr"/>
          <a:lstStyle/>
          <a:p>
            <a:pPr indent="0" marL="0">
              <a:buNone/>
            </a:pPr>
            <a:r>
              <a:rPr lang="en-US" sz="1150" b="1" dirty="0">
                <a:solidFill>
                  <a:srgbClr val="141A24"/>
                </a:solidFill>
                <a:latin typeface="Calibri" pitchFamily="34" charset="0"/>
                <a:ea typeface="Calibri" pitchFamily="34" charset="-122"/>
                <a:cs typeface="Calibri" pitchFamily="34" charset="-120"/>
              </a:rPr>
              <a:t>Decide</a:t>
            </a:r>
            <a:endParaRPr lang="en-US" sz="1150" dirty="0"/>
          </a:p>
        </p:txBody>
      </p:sp>
      <p:sp>
        <p:nvSpPr>
          <p:cNvPr id="8" name="Text 6"/>
          <p:cNvSpPr txBox="1"/>
          <p:nvPr/>
        </p:nvSpPr>
        <p:spPr>
          <a:xfrm>
            <a:off x="713232" y="2121408"/>
            <a:ext cx="1591056" cy="731520"/>
          </a:xfrm>
          <a:prstGeom prst="rect">
            <a:avLst/>
          </a:prstGeom>
          <a:noFill/>
          <a:ln/>
        </p:spPr>
        <p:txBody>
          <a:bodyPr wrap="square" lIns="0" tIns="0" rIns="0" bIns="0" rtlCol="0" anchor="ctr"/>
          <a:lstStyle/>
          <a:p>
            <a:pPr indent="0" marL="0">
              <a:lnSpc>
                <a:spcPts val="1150"/>
              </a:lnSpc>
              <a:buNone/>
            </a:pPr>
            <a:r>
              <a:rPr lang="en-US" sz="900" dirty="0">
                <a:solidFill>
                  <a:srgbClr val="31404E"/>
                </a:solidFill>
                <a:latin typeface="Calibri" pitchFamily="34" charset="0"/>
                <a:ea typeface="Calibri" pitchFamily="34" charset="-122"/>
                <a:cs typeface="Calibri" pitchFamily="34" charset="-120"/>
              </a:rPr>
              <a:t>Score, admit or refuse, and journal the decision with the exact feature vector</a:t>
            </a:r>
            <a:endParaRPr lang="en-US" sz="900" dirty="0"/>
          </a:p>
        </p:txBody>
      </p:sp>
      <p:sp>
        <p:nvSpPr>
          <p:cNvPr id="9" name="Shape 7"/>
          <p:cNvSpPr/>
          <p:nvPr/>
        </p:nvSpPr>
        <p:spPr>
          <a:xfrm>
            <a:off x="2596896" y="1325880"/>
            <a:ext cx="1883664" cy="1600200"/>
          </a:xfrm>
          <a:prstGeom prst="roundRect">
            <a:avLst>
              <a:gd name="adj" fmla="val 3429"/>
            </a:avLst>
          </a:prstGeom>
          <a:solidFill>
            <a:srgbClr val="F1F4F7"/>
          </a:solidFill>
          <a:ln w="12700">
            <a:solidFill>
              <a:srgbClr val="F1F4F7"/>
            </a:solidFill>
            <a:prstDash val="solid"/>
          </a:ln>
          <a:effectLst>
            <a:outerShdw sx="100000" sy="100000" kx="0" ky="0" algn="bl" rotWithShape="0" blurRad="101600" dist="12700" dir="5400000">
              <a:srgbClr val="8CA0B3">
                <a:alpha val="10000"/>
              </a:srgbClr>
            </a:outerShdw>
          </a:effectLst>
        </p:spPr>
      </p:sp>
      <p:sp>
        <p:nvSpPr>
          <p:cNvPr id="10" name="Shape 8"/>
          <p:cNvSpPr/>
          <p:nvPr/>
        </p:nvSpPr>
        <p:spPr>
          <a:xfrm>
            <a:off x="2761488" y="1481328"/>
            <a:ext cx="310896" cy="310896"/>
          </a:xfrm>
          <a:prstGeom prst="ellipse">
            <a:avLst/>
          </a:prstGeom>
          <a:solidFill>
            <a:srgbClr val="1B9C86"/>
          </a:solidFill>
          <a:ln w="12700">
            <a:solidFill>
              <a:srgbClr val="1B9C86"/>
            </a:solidFill>
            <a:prstDash val="solid"/>
          </a:ln>
        </p:spPr>
      </p:sp>
      <p:sp>
        <p:nvSpPr>
          <p:cNvPr id="11" name="Text 9"/>
          <p:cNvSpPr txBox="1"/>
          <p:nvPr/>
        </p:nvSpPr>
        <p:spPr>
          <a:xfrm>
            <a:off x="2761488" y="148132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2761488" y="1865376"/>
            <a:ext cx="1645920" cy="237744"/>
          </a:xfrm>
          <a:prstGeom prst="rect">
            <a:avLst/>
          </a:prstGeom>
          <a:noFill/>
          <a:ln/>
        </p:spPr>
        <p:txBody>
          <a:bodyPr wrap="square" lIns="0" tIns="0" rIns="0" bIns="0" rtlCol="0" anchor="ctr"/>
          <a:lstStyle/>
          <a:p>
            <a:pPr indent="0" marL="0">
              <a:buNone/>
            </a:pPr>
            <a:r>
              <a:rPr lang="en-US" sz="1150" b="1" dirty="0">
                <a:solidFill>
                  <a:srgbClr val="141A24"/>
                </a:solidFill>
                <a:latin typeface="Calibri" pitchFamily="34" charset="0"/>
                <a:ea typeface="Calibri" pitchFamily="34" charset="-122"/>
                <a:cs typeface="Calibri" pitchFamily="34" charset="-120"/>
              </a:rPr>
              <a:t>Wait</a:t>
            </a:r>
            <a:endParaRPr lang="en-US" sz="1150" dirty="0"/>
          </a:p>
        </p:txBody>
      </p:sp>
      <p:sp>
        <p:nvSpPr>
          <p:cNvPr id="13" name="Text 11"/>
          <p:cNvSpPr txBox="1"/>
          <p:nvPr/>
        </p:nvSpPr>
        <p:spPr>
          <a:xfrm>
            <a:off x="2761488" y="2121408"/>
            <a:ext cx="1591056" cy="731520"/>
          </a:xfrm>
          <a:prstGeom prst="rect">
            <a:avLst/>
          </a:prstGeom>
          <a:noFill/>
          <a:ln/>
        </p:spPr>
        <p:txBody>
          <a:bodyPr wrap="square" lIns="0" tIns="0" rIns="0" bIns="0" rtlCol="0" anchor="ctr"/>
          <a:lstStyle/>
          <a:p>
            <a:pPr indent="0" marL="0">
              <a:lnSpc>
                <a:spcPts val="1150"/>
              </a:lnSpc>
              <a:buNone/>
            </a:pPr>
            <a:r>
              <a:rPr lang="en-US" sz="900" dirty="0">
                <a:solidFill>
                  <a:srgbClr val="31404E"/>
                </a:solidFill>
                <a:latin typeface="Calibri" pitchFamily="34" charset="0"/>
                <a:ea typeface="Calibri" pitchFamily="34" charset="-122"/>
                <a:cs typeface="Calibri" pitchFamily="34" charset="-120"/>
              </a:rPr>
              <a:t>The future arrives. A miss counts as reuse too — the label answers “was it wanted again”</a:t>
            </a:r>
            <a:endParaRPr lang="en-US" sz="900" dirty="0"/>
          </a:p>
        </p:txBody>
      </p:sp>
      <p:sp>
        <p:nvSpPr>
          <p:cNvPr id="14" name="Shape 12"/>
          <p:cNvSpPr/>
          <p:nvPr/>
        </p:nvSpPr>
        <p:spPr>
          <a:xfrm>
            <a:off x="4645152" y="1325880"/>
            <a:ext cx="1883664" cy="1600200"/>
          </a:xfrm>
          <a:prstGeom prst="roundRect">
            <a:avLst>
              <a:gd name="adj" fmla="val 3429"/>
            </a:avLst>
          </a:prstGeom>
          <a:solidFill>
            <a:srgbClr val="F1F4F7"/>
          </a:solidFill>
          <a:ln w="12700">
            <a:solidFill>
              <a:srgbClr val="F1F4F7"/>
            </a:solidFill>
            <a:prstDash val="solid"/>
          </a:ln>
          <a:effectLst>
            <a:outerShdw sx="100000" sy="100000" kx="0" ky="0" algn="bl" rotWithShape="0" blurRad="101600" dist="12700" dir="5400000">
              <a:srgbClr val="8CA0B3">
                <a:alpha val="10000"/>
              </a:srgbClr>
            </a:outerShdw>
          </a:effectLst>
        </p:spPr>
      </p:sp>
      <p:sp>
        <p:nvSpPr>
          <p:cNvPr id="15" name="Shape 13"/>
          <p:cNvSpPr/>
          <p:nvPr/>
        </p:nvSpPr>
        <p:spPr>
          <a:xfrm>
            <a:off x="4809744" y="1481328"/>
            <a:ext cx="310896" cy="310896"/>
          </a:xfrm>
          <a:prstGeom prst="ellipse">
            <a:avLst/>
          </a:prstGeom>
          <a:solidFill>
            <a:srgbClr val="1B9C86"/>
          </a:solidFill>
          <a:ln w="12700">
            <a:solidFill>
              <a:srgbClr val="1B9C86"/>
            </a:solidFill>
            <a:prstDash val="solid"/>
          </a:ln>
        </p:spPr>
      </p:sp>
      <p:sp>
        <p:nvSpPr>
          <p:cNvPr id="16" name="Text 14"/>
          <p:cNvSpPr txBox="1"/>
          <p:nvPr/>
        </p:nvSpPr>
        <p:spPr>
          <a:xfrm>
            <a:off x="4809744" y="148132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txBox="1"/>
          <p:nvPr/>
        </p:nvSpPr>
        <p:spPr>
          <a:xfrm>
            <a:off x="4809744" y="1865376"/>
            <a:ext cx="1645920" cy="237744"/>
          </a:xfrm>
          <a:prstGeom prst="rect">
            <a:avLst/>
          </a:prstGeom>
          <a:noFill/>
          <a:ln/>
        </p:spPr>
        <p:txBody>
          <a:bodyPr wrap="square" lIns="0" tIns="0" rIns="0" bIns="0" rtlCol="0" anchor="ctr"/>
          <a:lstStyle/>
          <a:p>
            <a:pPr indent="0" marL="0">
              <a:buNone/>
            </a:pPr>
            <a:r>
              <a:rPr lang="en-US" sz="1150" b="1" dirty="0">
                <a:solidFill>
                  <a:srgbClr val="141A24"/>
                </a:solidFill>
                <a:latin typeface="Calibri" pitchFamily="34" charset="0"/>
                <a:ea typeface="Calibri" pitchFamily="34" charset="-122"/>
                <a:cs typeface="Calibri" pitchFamily="34" charset="-120"/>
              </a:rPr>
              <a:t>Settle at 60 s</a:t>
            </a:r>
            <a:endParaRPr lang="en-US" sz="1150" dirty="0"/>
          </a:p>
        </p:txBody>
      </p:sp>
      <p:sp>
        <p:nvSpPr>
          <p:cNvPr id="18" name="Text 16"/>
          <p:cNvSpPr txBox="1"/>
          <p:nvPr/>
        </p:nvSpPr>
        <p:spPr>
          <a:xfrm>
            <a:off x="4809744" y="2121408"/>
            <a:ext cx="1591056" cy="731520"/>
          </a:xfrm>
          <a:prstGeom prst="rect">
            <a:avLst/>
          </a:prstGeom>
          <a:noFill/>
          <a:ln/>
        </p:spPr>
        <p:txBody>
          <a:bodyPr wrap="square" lIns="0" tIns="0" rIns="0" bIns="0" rtlCol="0" anchor="ctr"/>
          <a:lstStyle/>
          <a:p>
            <a:pPr indent="0" marL="0">
              <a:lnSpc>
                <a:spcPts val="1150"/>
              </a:lnSpc>
              <a:buNone/>
            </a:pPr>
            <a:r>
              <a:rPr lang="en-US" sz="900" dirty="0">
                <a:solidFill>
                  <a:srgbClr val="31404E"/>
                </a:solidFill>
                <a:latin typeface="Calibri" pitchFamily="34" charset="0"/>
                <a:ea typeface="Calibri" pitchFamily="34" charset="-122"/>
                <a:cs typeface="Calibri" pitchFamily="34" charset="-120"/>
              </a:rPr>
              <a:t>Grade the arm on what actually happened, not on the score that produced it</a:t>
            </a:r>
            <a:endParaRPr lang="en-US" sz="900" dirty="0"/>
          </a:p>
        </p:txBody>
      </p:sp>
      <p:sp>
        <p:nvSpPr>
          <p:cNvPr id="19" name="Shape 17"/>
          <p:cNvSpPr/>
          <p:nvPr/>
        </p:nvSpPr>
        <p:spPr>
          <a:xfrm>
            <a:off x="6693408" y="1325880"/>
            <a:ext cx="1883664" cy="1600200"/>
          </a:xfrm>
          <a:prstGeom prst="roundRect">
            <a:avLst>
              <a:gd name="adj" fmla="val 3429"/>
            </a:avLst>
          </a:prstGeom>
          <a:solidFill>
            <a:srgbClr val="F1F4F7"/>
          </a:solidFill>
          <a:ln w="12700">
            <a:solidFill>
              <a:srgbClr val="F1F4F7"/>
            </a:solidFill>
            <a:prstDash val="solid"/>
          </a:ln>
          <a:effectLst>
            <a:outerShdw sx="100000" sy="100000" kx="0" ky="0" algn="bl" rotWithShape="0" blurRad="101600" dist="12700" dir="5400000">
              <a:srgbClr val="8CA0B3">
                <a:alpha val="10000"/>
              </a:srgbClr>
            </a:outerShdw>
          </a:effectLst>
        </p:spPr>
      </p:sp>
      <p:sp>
        <p:nvSpPr>
          <p:cNvPr id="20" name="Shape 18"/>
          <p:cNvSpPr/>
          <p:nvPr/>
        </p:nvSpPr>
        <p:spPr>
          <a:xfrm>
            <a:off x="6858000" y="1481328"/>
            <a:ext cx="310896" cy="310896"/>
          </a:xfrm>
          <a:prstGeom prst="ellipse">
            <a:avLst/>
          </a:prstGeom>
          <a:solidFill>
            <a:srgbClr val="1B9C86"/>
          </a:solidFill>
          <a:ln w="12700">
            <a:solidFill>
              <a:srgbClr val="1B9C86"/>
            </a:solidFill>
            <a:prstDash val="solid"/>
          </a:ln>
        </p:spPr>
      </p:sp>
      <p:sp>
        <p:nvSpPr>
          <p:cNvPr id="21" name="Text 19"/>
          <p:cNvSpPr txBox="1"/>
          <p:nvPr/>
        </p:nvSpPr>
        <p:spPr>
          <a:xfrm>
            <a:off x="6858000" y="148132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txBox="1"/>
          <p:nvPr/>
        </p:nvSpPr>
        <p:spPr>
          <a:xfrm>
            <a:off x="6858000" y="1865376"/>
            <a:ext cx="1645920" cy="237744"/>
          </a:xfrm>
          <a:prstGeom prst="rect">
            <a:avLst/>
          </a:prstGeom>
          <a:noFill/>
          <a:ln/>
        </p:spPr>
        <p:txBody>
          <a:bodyPr wrap="square" lIns="0" tIns="0" rIns="0" bIns="0" rtlCol="0" anchor="ctr"/>
          <a:lstStyle/>
          <a:p>
            <a:pPr indent="0" marL="0">
              <a:buNone/>
            </a:pPr>
            <a:r>
              <a:rPr lang="en-US" sz="1150" b="1" dirty="0">
                <a:solidFill>
                  <a:srgbClr val="141A24"/>
                </a:solidFill>
                <a:latin typeface="Calibri" pitchFamily="34" charset="0"/>
                <a:ea typeface="Calibri" pitchFamily="34" charset="-122"/>
                <a:cs typeface="Calibri" pitchFamily="34" charset="-120"/>
              </a:rPr>
              <a:t>Retire at 600 s</a:t>
            </a:r>
            <a:endParaRPr lang="en-US" sz="1150" dirty="0"/>
          </a:p>
        </p:txBody>
      </p:sp>
      <p:sp>
        <p:nvSpPr>
          <p:cNvPr id="23" name="Text 21"/>
          <p:cNvSpPr txBox="1"/>
          <p:nvPr/>
        </p:nvSpPr>
        <p:spPr>
          <a:xfrm>
            <a:off x="6858000" y="2121408"/>
            <a:ext cx="1591056" cy="731520"/>
          </a:xfrm>
          <a:prstGeom prst="rect">
            <a:avLst/>
          </a:prstGeom>
          <a:noFill/>
          <a:ln/>
        </p:spPr>
        <p:txBody>
          <a:bodyPr wrap="square" lIns="0" tIns="0" rIns="0" bIns="0" rtlCol="0" anchor="ctr"/>
          <a:lstStyle/>
          <a:p>
            <a:pPr indent="0" marL="0">
              <a:lnSpc>
                <a:spcPts val="1150"/>
              </a:lnSpc>
              <a:buNone/>
            </a:pPr>
            <a:r>
              <a:rPr lang="en-US" sz="900" dirty="0">
                <a:solidFill>
                  <a:srgbClr val="31404E"/>
                </a:solidFill>
                <a:latin typeface="Calibri" pitchFamily="34" charset="0"/>
                <a:ea typeface="Calibri" pitchFamily="34" charset="-122"/>
                <a:cs typeface="Calibri" pitchFamily="34" charset="-120"/>
              </a:rPr>
              <a:t>The matured record becomes a labelled training row for the next model</a:t>
            </a:r>
            <a:endParaRPr lang="en-US" sz="900" dirty="0"/>
          </a:p>
        </p:txBody>
      </p:sp>
      <p:sp>
        <p:nvSpPr>
          <p:cNvPr id="24" name="Text 22"/>
          <p:cNvSpPr txBox="1"/>
          <p:nvPr/>
        </p:nvSpPr>
        <p:spPr>
          <a:xfrm>
            <a:off x="548640" y="3072384"/>
            <a:ext cx="7680960" cy="256032"/>
          </a:xfrm>
          <a:prstGeom prst="rect">
            <a:avLst/>
          </a:prstGeom>
          <a:noFill/>
          <a:ln/>
        </p:spPr>
        <p:txBody>
          <a:bodyPr wrap="square" lIns="0" tIns="0" rIns="0" bIns="0" rtlCol="0" anchor="ctr"/>
          <a:lstStyle/>
          <a:p>
            <a:pPr indent="0" marL="0">
              <a:buNone/>
            </a:pPr>
            <a:r>
              <a:rPr lang="en-US" sz="1200" b="1" dirty="0">
                <a:solidFill>
                  <a:srgbClr val="141A24"/>
                </a:solidFill>
                <a:latin typeface="Calibri" pitchFamily="34" charset="0"/>
                <a:ea typeface="Calibri" pitchFamily="34" charset="-122"/>
                <a:cs typeface="Calibri" pitchFamily="34" charset="-120"/>
              </a:rPr>
              <a:t>Graded asymmetrically, on purpose</a:t>
            </a:r>
            <a:endParaRPr lang="en-US" sz="1200" dirty="0"/>
          </a:p>
        </p:txBody>
      </p:sp>
      <p:sp>
        <p:nvSpPr>
          <p:cNvPr id="25" name="Text 23"/>
          <p:cNvSpPr txBox="1"/>
          <p:nvPr/>
        </p:nvSpPr>
        <p:spPr>
          <a:xfrm>
            <a:off x="566928" y="3401568"/>
            <a:ext cx="1600200" cy="256032"/>
          </a:xfrm>
          <a:prstGeom prst="rect">
            <a:avLst/>
          </a:prstGeom>
          <a:noFill/>
          <a:ln/>
        </p:spPr>
        <p:txBody>
          <a:bodyPr wrap="square" lIns="0" tIns="0" rIns="0" bIns="0" rtlCol="0" anchor="ctr"/>
          <a:lstStyle/>
          <a:p>
            <a:pPr indent="0" marL="0">
              <a:buNone/>
            </a:pPr>
            <a:r>
              <a:rPr lang="en-US" sz="1050" b="1" dirty="0">
                <a:solidFill>
                  <a:srgbClr val="141A24"/>
                </a:solidFill>
                <a:latin typeface="Calibri" pitchFamily="34" charset="0"/>
                <a:ea typeface="Calibri" pitchFamily="34" charset="-122"/>
                <a:cs typeface="Calibri" pitchFamily="34" charset="-120"/>
              </a:rPr>
              <a:t>Kept, reused</a:t>
            </a:r>
            <a:endParaRPr lang="en-US" sz="1050" dirty="0"/>
          </a:p>
        </p:txBody>
      </p:sp>
      <p:sp>
        <p:nvSpPr>
          <p:cNvPr id="26" name="Text 24"/>
          <p:cNvSpPr txBox="1"/>
          <p:nvPr/>
        </p:nvSpPr>
        <p:spPr>
          <a:xfrm>
            <a:off x="2194560" y="3401568"/>
            <a:ext cx="1097280" cy="256032"/>
          </a:xfrm>
          <a:prstGeom prst="rect">
            <a:avLst/>
          </a:prstGeom>
          <a:noFill/>
          <a:ln/>
        </p:spPr>
        <p:txBody>
          <a:bodyPr wrap="square" lIns="0" tIns="0" rIns="0" bIns="0" rtlCol="0" anchor="ctr"/>
          <a:lstStyle/>
          <a:p>
            <a:pPr indent="0" marL="0">
              <a:buNone/>
            </a:pPr>
            <a:r>
              <a:rPr lang="en-US" sz="1050" b="1" dirty="0">
                <a:solidFill>
                  <a:srgbClr val="1B9C86"/>
                </a:solidFill>
                <a:latin typeface="Courier New" pitchFamily="34" charset="0"/>
                <a:ea typeface="Courier New" pitchFamily="34" charset="-122"/>
                <a:cs typeface="Courier New" pitchFamily="34" charset="-120"/>
              </a:rPr>
              <a:t>0.55 – 1.00</a:t>
            </a:r>
            <a:endParaRPr lang="en-US" sz="1050" dirty="0"/>
          </a:p>
        </p:txBody>
      </p:sp>
      <p:sp>
        <p:nvSpPr>
          <p:cNvPr id="27" name="Text 25"/>
          <p:cNvSpPr txBox="1"/>
          <p:nvPr/>
        </p:nvSpPr>
        <p:spPr>
          <a:xfrm>
            <a:off x="3364992" y="3401568"/>
            <a:ext cx="5212080" cy="256032"/>
          </a:xfrm>
          <a:prstGeom prst="rect">
            <a:avLst/>
          </a:prstGeom>
          <a:noFill/>
          <a:ln/>
        </p:spPr>
        <p:txBody>
          <a:bodyPr wrap="square" lIns="0" tIns="0" rIns="0" bIns="0" rtlCol="0" anchor="ctr"/>
          <a:lstStyle/>
          <a:p>
            <a:pPr indent="0" marL="0">
              <a:buNone/>
            </a:pPr>
            <a:r>
              <a:rPr lang="en-US" sz="1050" dirty="0">
                <a:solidFill>
                  <a:srgbClr val="31404E"/>
                </a:solidFill>
                <a:latin typeface="Calibri" pitchFamily="34" charset="0"/>
                <a:ea typeface="Calibri" pitchFamily="34" charset="-122"/>
                <a:cs typeface="Calibri" pitchFamily="34" charset="-120"/>
              </a:rPr>
              <a:t>correct, and worth more when the avoided rebuild was expensive</a:t>
            </a:r>
            <a:endParaRPr lang="en-US" sz="1050" dirty="0"/>
          </a:p>
        </p:txBody>
      </p:sp>
      <p:sp>
        <p:nvSpPr>
          <p:cNvPr id="28" name="Text 26"/>
          <p:cNvSpPr txBox="1"/>
          <p:nvPr/>
        </p:nvSpPr>
        <p:spPr>
          <a:xfrm>
            <a:off x="566928" y="3721608"/>
            <a:ext cx="1600200" cy="256032"/>
          </a:xfrm>
          <a:prstGeom prst="rect">
            <a:avLst/>
          </a:prstGeom>
          <a:noFill/>
          <a:ln/>
        </p:spPr>
        <p:txBody>
          <a:bodyPr wrap="square" lIns="0" tIns="0" rIns="0" bIns="0" rtlCol="0" anchor="ctr"/>
          <a:lstStyle/>
          <a:p>
            <a:pPr indent="0" marL="0">
              <a:buNone/>
            </a:pPr>
            <a:r>
              <a:rPr lang="en-US" sz="1050" b="1" dirty="0">
                <a:solidFill>
                  <a:srgbClr val="141A24"/>
                </a:solidFill>
                <a:latin typeface="Calibri" pitchFamily="34" charset="0"/>
                <a:ea typeface="Calibri" pitchFamily="34" charset="-122"/>
                <a:cs typeface="Calibri" pitchFamily="34" charset="-120"/>
              </a:rPr>
              <a:t>Kept, unused</a:t>
            </a:r>
            <a:endParaRPr lang="en-US" sz="1050" dirty="0"/>
          </a:p>
        </p:txBody>
      </p:sp>
      <p:sp>
        <p:nvSpPr>
          <p:cNvPr id="29" name="Text 27"/>
          <p:cNvSpPr txBox="1"/>
          <p:nvPr/>
        </p:nvSpPr>
        <p:spPr>
          <a:xfrm>
            <a:off x="2194560" y="3721608"/>
            <a:ext cx="1097280" cy="256032"/>
          </a:xfrm>
          <a:prstGeom prst="rect">
            <a:avLst/>
          </a:prstGeom>
          <a:noFill/>
          <a:ln/>
        </p:spPr>
        <p:txBody>
          <a:bodyPr wrap="square" lIns="0" tIns="0" rIns="0" bIns="0" rtlCol="0" anchor="ctr"/>
          <a:lstStyle/>
          <a:p>
            <a:pPr indent="0" marL="0">
              <a:buNone/>
            </a:pPr>
            <a:r>
              <a:rPr lang="en-US" sz="1050" b="1" dirty="0">
                <a:solidFill>
                  <a:srgbClr val="D97A16"/>
                </a:solidFill>
                <a:latin typeface="Courier New" pitchFamily="34" charset="0"/>
                <a:ea typeface="Courier New" pitchFamily="34" charset="-122"/>
                <a:cs typeface="Courier New" pitchFamily="34" charset="-120"/>
              </a:rPr>
              <a:t>0.15</a:t>
            </a:r>
            <a:endParaRPr lang="en-US" sz="1050" dirty="0"/>
          </a:p>
        </p:txBody>
      </p:sp>
      <p:sp>
        <p:nvSpPr>
          <p:cNvPr id="30" name="Text 28"/>
          <p:cNvSpPr txBox="1"/>
          <p:nvPr/>
        </p:nvSpPr>
        <p:spPr>
          <a:xfrm>
            <a:off x="3364992" y="3721608"/>
            <a:ext cx="5212080" cy="256032"/>
          </a:xfrm>
          <a:prstGeom prst="rect">
            <a:avLst/>
          </a:prstGeom>
          <a:noFill/>
          <a:ln/>
        </p:spPr>
        <p:txBody>
          <a:bodyPr wrap="square" lIns="0" tIns="0" rIns="0" bIns="0" rtlCol="0" anchor="ctr"/>
          <a:lstStyle/>
          <a:p>
            <a:pPr indent="0" marL="0">
              <a:buNone/>
            </a:pPr>
            <a:r>
              <a:rPr lang="en-US" sz="1050" dirty="0">
                <a:solidFill>
                  <a:srgbClr val="31404E"/>
                </a:solidFill>
                <a:latin typeface="Calibri" pitchFamily="34" charset="0"/>
                <a:ea typeface="Calibri" pitchFamily="34" charset="-122"/>
                <a:cs typeface="Calibri" pitchFamily="34" charset="-120"/>
              </a:rPr>
              <a:t>wrong — rent paid, and something else displaced for nothing</a:t>
            </a:r>
            <a:endParaRPr lang="en-US" sz="1050" dirty="0"/>
          </a:p>
        </p:txBody>
      </p:sp>
      <p:sp>
        <p:nvSpPr>
          <p:cNvPr id="31" name="Text 29"/>
          <p:cNvSpPr txBox="1"/>
          <p:nvPr/>
        </p:nvSpPr>
        <p:spPr>
          <a:xfrm>
            <a:off x="566928" y="4041648"/>
            <a:ext cx="1600200" cy="256032"/>
          </a:xfrm>
          <a:prstGeom prst="rect">
            <a:avLst/>
          </a:prstGeom>
          <a:noFill/>
          <a:ln/>
        </p:spPr>
        <p:txBody>
          <a:bodyPr wrap="square" lIns="0" tIns="0" rIns="0" bIns="0" rtlCol="0" anchor="ctr"/>
          <a:lstStyle/>
          <a:p>
            <a:pPr indent="0" marL="0">
              <a:buNone/>
            </a:pPr>
            <a:r>
              <a:rPr lang="en-US" sz="1050" b="1" dirty="0">
                <a:solidFill>
                  <a:srgbClr val="141A24"/>
                </a:solidFill>
                <a:latin typeface="Calibri" pitchFamily="34" charset="0"/>
                <a:ea typeface="Calibri" pitchFamily="34" charset="-122"/>
                <a:cs typeface="Calibri" pitchFamily="34" charset="-120"/>
              </a:rPr>
              <a:t>Refused, unused</a:t>
            </a:r>
            <a:endParaRPr lang="en-US" sz="1050" dirty="0"/>
          </a:p>
        </p:txBody>
      </p:sp>
      <p:sp>
        <p:nvSpPr>
          <p:cNvPr id="32" name="Text 30"/>
          <p:cNvSpPr txBox="1"/>
          <p:nvPr/>
        </p:nvSpPr>
        <p:spPr>
          <a:xfrm>
            <a:off x="2194560" y="4041648"/>
            <a:ext cx="1097280" cy="256032"/>
          </a:xfrm>
          <a:prstGeom prst="rect">
            <a:avLst/>
          </a:prstGeom>
          <a:noFill/>
          <a:ln/>
        </p:spPr>
        <p:txBody>
          <a:bodyPr wrap="square" lIns="0" tIns="0" rIns="0" bIns="0" rtlCol="0" anchor="ctr"/>
          <a:lstStyle/>
          <a:p>
            <a:pPr indent="0" marL="0">
              <a:buNone/>
            </a:pPr>
            <a:r>
              <a:rPr lang="en-US" sz="1050" b="1" dirty="0">
                <a:solidFill>
                  <a:srgbClr val="1B9C86"/>
                </a:solidFill>
                <a:latin typeface="Courier New" pitchFamily="34" charset="0"/>
                <a:ea typeface="Courier New" pitchFamily="34" charset="-122"/>
                <a:cs typeface="Courier New" pitchFamily="34" charset="-120"/>
              </a:rPr>
              <a:t>0.80</a:t>
            </a:r>
            <a:endParaRPr lang="en-US" sz="1050" dirty="0"/>
          </a:p>
        </p:txBody>
      </p:sp>
      <p:sp>
        <p:nvSpPr>
          <p:cNvPr id="33" name="Text 31"/>
          <p:cNvSpPr txBox="1"/>
          <p:nvPr/>
        </p:nvSpPr>
        <p:spPr>
          <a:xfrm>
            <a:off x="3364992" y="4041648"/>
            <a:ext cx="5212080" cy="256032"/>
          </a:xfrm>
          <a:prstGeom prst="rect">
            <a:avLst/>
          </a:prstGeom>
          <a:noFill/>
          <a:ln/>
        </p:spPr>
        <p:txBody>
          <a:bodyPr wrap="square" lIns="0" tIns="0" rIns="0" bIns="0" rtlCol="0" anchor="ctr"/>
          <a:lstStyle/>
          <a:p>
            <a:pPr indent="0" marL="0">
              <a:buNone/>
            </a:pPr>
            <a:r>
              <a:rPr lang="en-US" sz="1050" dirty="0">
                <a:solidFill>
                  <a:srgbClr val="31404E"/>
                </a:solidFill>
                <a:latin typeface="Calibri" pitchFamily="34" charset="0"/>
                <a:ea typeface="Calibri" pitchFamily="34" charset="-122"/>
                <a:cs typeface="Calibri" pitchFamily="34" charset="-120"/>
              </a:rPr>
              <a:t>correct, but cheap to be right about</a:t>
            </a:r>
            <a:endParaRPr lang="en-US" sz="1050" dirty="0"/>
          </a:p>
        </p:txBody>
      </p:sp>
      <p:sp>
        <p:nvSpPr>
          <p:cNvPr id="34" name="Text 32"/>
          <p:cNvSpPr txBox="1"/>
          <p:nvPr/>
        </p:nvSpPr>
        <p:spPr>
          <a:xfrm>
            <a:off x="566928" y="4361688"/>
            <a:ext cx="1600200" cy="256032"/>
          </a:xfrm>
          <a:prstGeom prst="rect">
            <a:avLst/>
          </a:prstGeom>
          <a:noFill/>
          <a:ln/>
        </p:spPr>
        <p:txBody>
          <a:bodyPr wrap="square" lIns="0" tIns="0" rIns="0" bIns="0" rtlCol="0" anchor="ctr"/>
          <a:lstStyle/>
          <a:p>
            <a:pPr indent="0" marL="0">
              <a:buNone/>
            </a:pPr>
            <a:r>
              <a:rPr lang="en-US" sz="1050" b="1" dirty="0">
                <a:solidFill>
                  <a:srgbClr val="141A24"/>
                </a:solidFill>
                <a:latin typeface="Calibri" pitchFamily="34" charset="0"/>
                <a:ea typeface="Calibri" pitchFamily="34" charset="-122"/>
                <a:cs typeface="Calibri" pitchFamily="34" charset="-120"/>
              </a:rPr>
              <a:t>Refused, reused</a:t>
            </a:r>
            <a:endParaRPr lang="en-US" sz="1050" dirty="0"/>
          </a:p>
        </p:txBody>
      </p:sp>
      <p:sp>
        <p:nvSpPr>
          <p:cNvPr id="35" name="Text 33"/>
          <p:cNvSpPr txBox="1"/>
          <p:nvPr/>
        </p:nvSpPr>
        <p:spPr>
          <a:xfrm>
            <a:off x="2194560" y="4361688"/>
            <a:ext cx="1097280" cy="256032"/>
          </a:xfrm>
          <a:prstGeom prst="rect">
            <a:avLst/>
          </a:prstGeom>
          <a:noFill/>
          <a:ln/>
        </p:spPr>
        <p:txBody>
          <a:bodyPr wrap="square" lIns="0" tIns="0" rIns="0" bIns="0" rtlCol="0" anchor="ctr"/>
          <a:lstStyle/>
          <a:p>
            <a:pPr indent="0" marL="0">
              <a:buNone/>
            </a:pPr>
            <a:r>
              <a:rPr lang="en-US" sz="1050" b="1" dirty="0">
                <a:solidFill>
                  <a:srgbClr val="B3402F"/>
                </a:solidFill>
                <a:latin typeface="Courier New" pitchFamily="34" charset="0"/>
                <a:ea typeface="Courier New" pitchFamily="34" charset="-122"/>
                <a:cs typeface="Courier New" pitchFamily="34" charset="-120"/>
              </a:rPr>
              <a:t>0.05</a:t>
            </a:r>
            <a:endParaRPr lang="en-US" sz="1050" dirty="0"/>
          </a:p>
        </p:txBody>
      </p:sp>
      <p:sp>
        <p:nvSpPr>
          <p:cNvPr id="36" name="Text 34"/>
          <p:cNvSpPr txBox="1"/>
          <p:nvPr/>
        </p:nvSpPr>
        <p:spPr>
          <a:xfrm>
            <a:off x="3364992" y="4361688"/>
            <a:ext cx="5212080" cy="256032"/>
          </a:xfrm>
          <a:prstGeom prst="rect">
            <a:avLst/>
          </a:prstGeom>
          <a:noFill/>
          <a:ln/>
        </p:spPr>
        <p:txBody>
          <a:bodyPr wrap="square" lIns="0" tIns="0" rIns="0" bIns="0" rtlCol="0" anchor="ctr"/>
          <a:lstStyle/>
          <a:p>
            <a:pPr indent="0" marL="0">
              <a:buNone/>
            </a:pPr>
            <a:r>
              <a:rPr lang="en-US" sz="1050" dirty="0">
                <a:solidFill>
                  <a:srgbClr val="31404E"/>
                </a:solidFill>
                <a:latin typeface="Calibri" pitchFamily="34" charset="0"/>
                <a:ea typeface="Calibri" pitchFamily="34" charset="-122"/>
                <a:cs typeface="Calibri" pitchFamily="34" charset="-120"/>
              </a:rPr>
              <a:t>the expensive mistake — a rebuild we could have avoided</a:t>
            </a:r>
            <a:endParaRPr lang="en-US" sz="1050" dirty="0"/>
          </a:p>
        </p:txBody>
      </p:sp>
      <p:sp>
        <p:nvSpPr>
          <p:cNvPr id="37" name="Text 35"/>
          <p:cNvSpPr txBox="1"/>
          <p:nvPr/>
        </p:nvSpPr>
        <p:spPr>
          <a:xfrm>
            <a:off x="8321040" y="4864608"/>
            <a:ext cx="457200" cy="237744"/>
          </a:xfrm>
          <a:prstGeom prst="rect">
            <a:avLst/>
          </a:prstGeom>
          <a:noFill/>
          <a:ln/>
        </p:spPr>
        <p:txBody>
          <a:bodyPr wrap="square" lIns="0" tIns="0" rIns="0" bIns="0" rtlCol="0" anchor="ctr"/>
          <a:lstStyle/>
          <a:p>
            <a:pPr algn="r" indent="0" marL="0">
              <a:buNone/>
            </a:pPr>
            <a:r>
              <a:rPr lang="en-US" sz="1000" dirty="0">
                <a:solidFill>
                  <a:srgbClr val="6B7C8C"/>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A24"/>
        </a:solidFill>
      </p:bgPr>
    </p:bg>
    <p:spTree>
      <p:nvGrpSpPr>
        <p:cNvPr id="1" name=""/>
        <p:cNvGrpSpPr/>
        <p:nvPr/>
      </p:nvGrpSpPr>
      <p:grpSpPr>
        <a:xfrm>
          <a:off x="0" y="0"/>
          <a:ext cx="0" cy="0"/>
          <a:chOff x="0" y="0"/>
          <a:chExt cx="0" cy="0"/>
        </a:xfrm>
      </p:grpSpPr>
      <p:sp>
        <p:nvSpPr>
          <p:cNvPr id="2" name="Text 0"/>
          <p:cNvSpPr txBox="1"/>
          <p:nvPr/>
        </p:nvSpPr>
        <p:spPr>
          <a:xfrm>
            <a:off x="640080" y="1325880"/>
            <a:ext cx="7863840" cy="256032"/>
          </a:xfrm>
          <a:prstGeom prst="rect">
            <a:avLst/>
          </a:prstGeom>
          <a:noFill/>
          <a:ln/>
        </p:spPr>
        <p:txBody>
          <a:bodyPr wrap="square" lIns="0" tIns="0" rIns="0" bIns="0" rtlCol="0" anchor="ctr"/>
          <a:lstStyle/>
          <a:p>
            <a:pPr indent="0" marL="0">
              <a:buNone/>
            </a:pPr>
            <a:r>
              <a:rPr lang="en-US" sz="1100" b="1" spc="200" kern="0" dirty="0">
                <a:solidFill>
                  <a:srgbClr val="1B9C86"/>
                </a:solidFill>
                <a:latin typeface="Calibri" pitchFamily="34" charset="0"/>
                <a:ea typeface="Calibri" pitchFamily="34" charset="-122"/>
                <a:cs typeface="Calibri" pitchFamily="34" charset="-120"/>
              </a:rPr>
              <a:t>ACT FOUR</a:t>
            </a:r>
            <a:endParaRPr lang="en-US" sz="1100" dirty="0"/>
          </a:p>
        </p:txBody>
      </p:sp>
      <p:sp>
        <p:nvSpPr>
          <p:cNvPr id="3" name="Text 1"/>
          <p:cNvSpPr txBox="1"/>
          <p:nvPr/>
        </p:nvSpPr>
        <p:spPr>
          <a:xfrm>
            <a:off x="640080" y="1691640"/>
            <a:ext cx="7863840" cy="1371600"/>
          </a:xfrm>
          <a:prstGeom prst="rect">
            <a:avLst/>
          </a:prstGeom>
          <a:noFill/>
          <a:ln/>
        </p:spPr>
        <p:txBody>
          <a:bodyPr wrap="square" lIns="0" tIns="0" rIns="0" bIns="0" rtlCol="0" anchor="ctr"/>
          <a:lstStyle/>
          <a:p>
            <a:pPr indent="0" marL="0">
              <a:lnSpc>
                <a:spcPts val="4600"/>
              </a:lnSpc>
              <a:buNone/>
            </a:pPr>
            <a:r>
              <a:rPr lang="en-US" sz="3800" b="1" dirty="0">
                <a:solidFill>
                  <a:srgbClr val="FFFFFF"/>
                </a:solidFill>
                <a:latin typeface="Cambria" pitchFamily="34" charset="0"/>
                <a:ea typeface="Cambria" pitchFamily="34" charset="-122"/>
                <a:cs typeface="Cambria" pitchFamily="34" charset="-120"/>
              </a:rPr>
              <a:t>Then the world</a:t>
            </a:r>
            <a:endParaRPr lang="en-US" sz="3800" dirty="0"/>
          </a:p>
          <a:p>
            <a:pPr indent="0" marL="0">
              <a:lnSpc>
                <a:spcPts val="4600"/>
              </a:lnSpc>
              <a:buNone/>
            </a:pPr>
            <a:r>
              <a:rPr lang="en-US" sz="3800" b="1" dirty="0">
                <a:solidFill>
                  <a:srgbClr val="FFFFFF"/>
                </a:solidFill>
                <a:latin typeface="Cambria" pitchFamily="34" charset="0"/>
                <a:ea typeface="Cambria" pitchFamily="34" charset="-122"/>
                <a:cs typeface="Cambria" pitchFamily="34" charset="-120"/>
              </a:rPr>
              <a:t>stops being polite.</a:t>
            </a:r>
            <a:endParaRPr lang="en-US" sz="3800" dirty="0"/>
          </a:p>
        </p:txBody>
      </p:sp>
      <p:sp>
        <p:nvSpPr>
          <p:cNvPr id="4" name="Text 2"/>
          <p:cNvSpPr txBox="1"/>
          <p:nvPr/>
        </p:nvSpPr>
        <p:spPr>
          <a:xfrm>
            <a:off x="658368" y="3310128"/>
            <a:ext cx="6949440" cy="548640"/>
          </a:xfrm>
          <a:prstGeom prst="rect">
            <a:avLst/>
          </a:prstGeom>
          <a:noFill/>
          <a:ln/>
        </p:spPr>
        <p:txBody>
          <a:bodyPr wrap="square" lIns="0" tIns="0" rIns="0" bIns="0" rtlCol="0" anchor="ctr"/>
          <a:lstStyle/>
          <a:p>
            <a:pPr indent="0" marL="0">
              <a:lnSpc>
                <a:spcPts val="1900"/>
              </a:lnSpc>
              <a:buNone/>
            </a:pPr>
            <a:r>
              <a:rPr lang="en-US" sz="1250" dirty="0">
                <a:solidFill>
                  <a:srgbClr val="9AAAB8"/>
                </a:solidFill>
                <a:latin typeface="Calibri" pitchFamily="34" charset="0"/>
                <a:ea typeface="Calibri" pitchFamily="34" charset="-122"/>
                <a:cs typeface="Calibri" pitchFamily="34" charset="-120"/>
              </a:rPr>
              <a:t>A flash crowd. A write. A scan. A starved tenant. A pool that fills up. Each one has a named mechanism, and each one was a bug before it was a mechanism.</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ctr"/>
          <a:lstStyle/>
          <a:p>
            <a:pPr indent="0" marL="0">
              <a:buNone/>
            </a:pPr>
            <a:r>
              <a:rPr lang="en-US" sz="1100" b="1" spc="200" kern="0" dirty="0">
                <a:solidFill>
                  <a:srgbClr val="1B9C86"/>
                </a:solidFill>
                <a:latin typeface="Calibri" pitchFamily="34" charset="0"/>
                <a:ea typeface="Calibri" pitchFamily="34" charset="-122"/>
                <a:cs typeface="Calibri" pitchFamily="34" charset="-120"/>
              </a:rPr>
              <a:t>A FLASH CROWD</a:t>
            </a:r>
            <a:endParaRPr lang="en-US" sz="1100" dirty="0"/>
          </a:p>
        </p:txBody>
      </p:sp>
      <p:sp>
        <p:nvSpPr>
          <p:cNvPr id="3" name="Text 1"/>
          <p:cNvSpPr txBox="1"/>
          <p:nvPr/>
        </p:nvSpPr>
        <p:spPr>
          <a:xfrm>
            <a:off x="548640" y="658368"/>
            <a:ext cx="8229600" cy="731520"/>
          </a:xfrm>
          <a:prstGeom prst="rect">
            <a:avLst/>
          </a:prstGeom>
          <a:noFill/>
          <a:ln/>
        </p:spPr>
        <p:txBody>
          <a:bodyPr wrap="square" lIns="0" tIns="0" rIns="0" bIns="0" rtlCol="0" anchor="t"/>
          <a:lstStyle/>
          <a:p>
            <a:pPr indent="0" marL="0">
              <a:buNone/>
            </a:pPr>
            <a:r>
              <a:rPr lang="en-US" sz="2800" b="1" dirty="0">
                <a:solidFill>
                  <a:srgbClr val="141A24"/>
                </a:solidFill>
                <a:latin typeface="Cambria" pitchFamily="34" charset="0"/>
                <a:ea typeface="Cambria" pitchFamily="34" charset="-122"/>
                <a:cs typeface="Cambria" pitchFamily="34" charset="-120"/>
              </a:rPr>
              <a:t>One thousand requests. One origin call.</a:t>
            </a:r>
            <a:endParaRPr lang="en-US" sz="2800" dirty="0"/>
          </a:p>
        </p:txBody>
      </p:sp>
      <p:sp>
        <p:nvSpPr>
          <p:cNvPr id="4" name="Text 2"/>
          <p:cNvSpPr txBox="1"/>
          <p:nvPr/>
        </p:nvSpPr>
        <p:spPr>
          <a:xfrm>
            <a:off x="548640" y="1463040"/>
            <a:ext cx="2926080" cy="868680"/>
          </a:xfrm>
          <a:prstGeom prst="rect">
            <a:avLst/>
          </a:prstGeom>
          <a:noFill/>
          <a:ln/>
        </p:spPr>
        <p:txBody>
          <a:bodyPr wrap="square" lIns="0" tIns="0" rIns="0" bIns="0" rtlCol="0" anchor="ctr"/>
          <a:lstStyle/>
          <a:p>
            <a:pPr indent="0" marL="0">
              <a:buNone/>
            </a:pPr>
            <a:r>
              <a:rPr lang="en-US" sz="4600" b="1" dirty="0">
                <a:solidFill>
                  <a:srgbClr val="D97A16"/>
                </a:solidFill>
                <a:latin typeface="Cambria" pitchFamily="34" charset="0"/>
                <a:ea typeface="Cambria" pitchFamily="34" charset="-122"/>
                <a:cs typeface="Cambria" pitchFamily="34" charset="-120"/>
              </a:rPr>
              <a:t>1,000</a:t>
            </a:r>
            <a:endParaRPr lang="en-US" sz="4600" dirty="0"/>
          </a:p>
        </p:txBody>
      </p:sp>
      <p:sp>
        <p:nvSpPr>
          <p:cNvPr id="5" name="Text 3"/>
          <p:cNvSpPr txBox="1"/>
          <p:nvPr/>
        </p:nvSpPr>
        <p:spPr>
          <a:xfrm>
            <a:off x="566928" y="2286000"/>
            <a:ext cx="2926080" cy="457200"/>
          </a:xfrm>
          <a:prstGeom prst="rect">
            <a:avLst/>
          </a:prstGeom>
          <a:noFill/>
          <a:ln/>
        </p:spPr>
        <p:txBody>
          <a:bodyPr wrap="square" lIns="0" tIns="0" rIns="0" bIns="0" rtlCol="0" anchor="ctr"/>
          <a:lstStyle/>
          <a:p>
            <a:pPr indent="0" marL="0">
              <a:lnSpc>
                <a:spcPts val="1500"/>
              </a:lnSpc>
              <a:buNone/>
            </a:pPr>
            <a:r>
              <a:rPr lang="en-US" sz="1100" dirty="0">
                <a:solidFill>
                  <a:srgbClr val="6B7C8C"/>
                </a:solidFill>
                <a:latin typeface="Calibri" pitchFamily="34" charset="0"/>
                <a:ea typeface="Calibri" pitchFamily="34" charset="-122"/>
                <a:cs typeface="Calibri" pitchFamily="34" charset="-120"/>
              </a:rPr>
              <a:t>callers ask for one key that is not in the cache yet</a:t>
            </a:r>
            <a:endParaRPr lang="en-US" sz="1100" dirty="0"/>
          </a:p>
        </p:txBody>
      </p:sp>
      <p:sp>
        <p:nvSpPr>
          <p:cNvPr id="6" name="Shape 4"/>
          <p:cNvSpPr/>
          <p:nvPr/>
        </p:nvSpPr>
        <p:spPr>
          <a:xfrm>
            <a:off x="3703320" y="1755648"/>
            <a:ext cx="548640" cy="274320"/>
          </a:xfrm>
          <a:prstGeom prst="rightArrow">
            <a:avLst/>
          </a:prstGeom>
          <a:solidFill>
            <a:srgbClr val="D8DFE6"/>
          </a:solidFill>
          <a:ln w="12700">
            <a:solidFill>
              <a:srgbClr val="D8DFE6"/>
            </a:solidFill>
            <a:prstDash val="solid"/>
          </a:ln>
        </p:spPr>
      </p:sp>
      <p:sp>
        <p:nvSpPr>
          <p:cNvPr id="7" name="Text 5"/>
          <p:cNvSpPr txBox="1"/>
          <p:nvPr/>
        </p:nvSpPr>
        <p:spPr>
          <a:xfrm>
            <a:off x="4709160" y="1325880"/>
            <a:ext cx="1463040" cy="1097280"/>
          </a:xfrm>
          <a:prstGeom prst="rect">
            <a:avLst/>
          </a:prstGeom>
          <a:noFill/>
          <a:ln/>
        </p:spPr>
        <p:txBody>
          <a:bodyPr wrap="square" lIns="0" tIns="0" rIns="0" bIns="0" rtlCol="0" anchor="ctr"/>
          <a:lstStyle/>
          <a:p>
            <a:pPr indent="0" marL="0">
              <a:buNone/>
            </a:pPr>
            <a:r>
              <a:rPr lang="en-US" sz="7200" b="1" dirty="0">
                <a:solidFill>
                  <a:srgbClr val="1B9C86"/>
                </a:solidFill>
                <a:latin typeface="Cambria" pitchFamily="34" charset="0"/>
                <a:ea typeface="Cambria" pitchFamily="34" charset="-122"/>
                <a:cs typeface="Cambria" pitchFamily="34" charset="-120"/>
              </a:rPr>
              <a:t>1</a:t>
            </a:r>
            <a:endParaRPr lang="en-US" sz="7200" dirty="0"/>
          </a:p>
        </p:txBody>
      </p:sp>
      <p:sp>
        <p:nvSpPr>
          <p:cNvPr id="8" name="Text 6"/>
          <p:cNvSpPr txBox="1"/>
          <p:nvPr/>
        </p:nvSpPr>
        <p:spPr>
          <a:xfrm>
            <a:off x="4736592" y="2286000"/>
            <a:ext cx="3474720" cy="457200"/>
          </a:xfrm>
          <a:prstGeom prst="rect">
            <a:avLst/>
          </a:prstGeom>
          <a:noFill/>
          <a:ln/>
        </p:spPr>
        <p:txBody>
          <a:bodyPr wrap="square" lIns="0" tIns="0" rIns="0" bIns="0" rtlCol="0" anchor="ctr"/>
          <a:lstStyle/>
          <a:p>
            <a:pPr indent="0" marL="0">
              <a:lnSpc>
                <a:spcPts val="1500"/>
              </a:lnSpc>
              <a:buNone/>
            </a:pPr>
            <a:r>
              <a:rPr lang="en-US" sz="1100" dirty="0">
                <a:solidFill>
                  <a:srgbClr val="6B7C8C"/>
                </a:solidFill>
                <a:latin typeface="Calibri" pitchFamily="34" charset="0"/>
                <a:ea typeface="Calibri" pitchFamily="34" charset="-122"/>
                <a:cs typeface="Calibri" pitchFamily="34" charset="-120"/>
              </a:rPr>
              <a:t>call reaches Postgres</a:t>
            </a:r>
            <a:endParaRPr lang="en-US" sz="1100" dirty="0"/>
          </a:p>
        </p:txBody>
      </p:sp>
      <p:sp>
        <p:nvSpPr>
          <p:cNvPr id="9" name="Shape 7"/>
          <p:cNvSpPr/>
          <p:nvPr/>
        </p:nvSpPr>
        <p:spPr>
          <a:xfrm>
            <a:off x="548640" y="2880360"/>
            <a:ext cx="8046720" cy="1143000"/>
          </a:xfrm>
          <a:prstGeom prst="roundRect">
            <a:avLst>
              <a:gd name="adj" fmla="val 4800"/>
            </a:avLst>
          </a:prstGeom>
          <a:solidFill>
            <a:srgbClr val="F1F4F7"/>
          </a:solidFill>
          <a:ln w="12700">
            <a:solidFill>
              <a:srgbClr val="F1F4F7"/>
            </a:solidFill>
            <a:prstDash val="solid"/>
          </a:ln>
          <a:effectLst>
            <a:outerShdw sx="100000" sy="100000" kx="0" ky="0" algn="bl" rotWithShape="0" blurRad="101600" dist="12700" dir="5400000">
              <a:srgbClr val="8CA0B3">
                <a:alpha val="10000"/>
              </a:srgbClr>
            </a:outerShdw>
          </a:effectLst>
        </p:spPr>
      </p:sp>
      <p:sp>
        <p:nvSpPr>
          <p:cNvPr id="10" name="Text 8"/>
          <p:cNvSpPr txBox="1"/>
          <p:nvPr/>
        </p:nvSpPr>
        <p:spPr>
          <a:xfrm>
            <a:off x="804672" y="2999232"/>
            <a:ext cx="7589520" cy="237744"/>
          </a:xfrm>
          <a:prstGeom prst="rect">
            <a:avLst/>
          </a:prstGeom>
          <a:noFill/>
          <a:ln/>
        </p:spPr>
        <p:txBody>
          <a:bodyPr wrap="square" lIns="0" tIns="0" rIns="0" bIns="0" rtlCol="0" anchor="ctr"/>
          <a:lstStyle/>
          <a:p>
            <a:pPr indent="0" marL="0">
              <a:buNone/>
            </a:pPr>
            <a:r>
              <a:rPr lang="en-US" sz="1150" b="1" dirty="0">
                <a:solidFill>
                  <a:srgbClr val="1B9C86"/>
                </a:solidFill>
                <a:latin typeface="Calibri" pitchFamily="34" charset="0"/>
                <a:ea typeface="Calibri" pitchFamily="34" charset="-122"/>
                <a:cs typeface="Calibri" pitchFamily="34" charset="-120"/>
              </a:rPr>
              <a:t>Single-flight lease</a:t>
            </a:r>
            <a:endParaRPr lang="en-US" sz="1150" dirty="0"/>
          </a:p>
        </p:txBody>
      </p:sp>
      <p:sp>
        <p:nvSpPr>
          <p:cNvPr id="11" name="Text 9"/>
          <p:cNvSpPr txBox="1"/>
          <p:nvPr/>
        </p:nvSpPr>
        <p:spPr>
          <a:xfrm>
            <a:off x="804672" y="3273552"/>
            <a:ext cx="7589520" cy="685800"/>
          </a:xfrm>
          <a:prstGeom prst="rect">
            <a:avLst/>
          </a:prstGeom>
          <a:noFill/>
          <a:ln/>
        </p:spPr>
        <p:txBody>
          <a:bodyPr wrap="square" lIns="0" tIns="0" rIns="0" bIns="0" rtlCol="0" anchor="ctr"/>
          <a:lstStyle/>
          <a:p>
            <a:pPr indent="0" marL="0">
              <a:lnSpc>
                <a:spcPts val="1500"/>
              </a:lnSpc>
              <a:buNone/>
            </a:pPr>
            <a:r>
              <a:rPr lang="en-US" sz="1100" dirty="0">
                <a:solidFill>
                  <a:srgbClr val="31404E"/>
                </a:solidFill>
                <a:latin typeface="Calibri" pitchFamily="34" charset="0"/>
                <a:ea typeface="Calibri" pitchFamily="34" charset="-122"/>
                <a:cs typeface="Calibri" pitchFamily="34" charset="-120"/>
              </a:rPr>
              <a:t>On a miss, exactly one caller is handed a lease and told to rebuild. The rest are told who is doing it, and wait for that result. Without the lease, a cold popular key turns a flash crowd into a thousand identical rebuilds and the cache becomes the outage it was there to prevent.</a:t>
            </a:r>
            <a:endParaRPr lang="en-US" sz="1100" dirty="0"/>
          </a:p>
        </p:txBody>
      </p:sp>
      <p:sp>
        <p:nvSpPr>
          <p:cNvPr id="12" name="Text 10"/>
          <p:cNvSpPr txBox="1"/>
          <p:nvPr/>
        </p:nvSpPr>
        <p:spPr>
          <a:xfrm>
            <a:off x="548640" y="4160520"/>
            <a:ext cx="7680960" cy="548640"/>
          </a:xfrm>
          <a:prstGeom prst="rect">
            <a:avLst/>
          </a:prstGeom>
          <a:noFill/>
          <a:ln/>
        </p:spPr>
        <p:txBody>
          <a:bodyPr wrap="square" lIns="0" tIns="0" rIns="0" bIns="0" rtlCol="0" anchor="ctr"/>
          <a:lstStyle/>
          <a:p>
            <a:pPr indent="0" marL="0">
              <a:lnSpc>
                <a:spcPts val="1500"/>
              </a:lnSpc>
              <a:buNone/>
            </a:pPr>
            <a:r>
              <a:rPr lang="en-US" sz="1100" dirty="0">
                <a:solidFill>
                  <a:srgbClr val="6B7C8C"/>
                </a:solidFill>
                <a:latin typeface="Calibri" pitchFamily="34" charset="0"/>
                <a:ea typeface="Calibri" pitchFamily="34" charset="-122"/>
                <a:cs typeface="Calibri" pitchFamily="34" charset="-120"/>
              </a:rPr>
              <a:t>The scored side helps too: a key a thousand people want has a very high 10-second reuse estimate, so it clears admission immediately. flash_crowd runs 15.2% under the strongest baseline.</a:t>
            </a:r>
            <a:endParaRPr lang="en-US" sz="1100" dirty="0"/>
          </a:p>
        </p:txBody>
      </p:sp>
      <p:sp>
        <p:nvSpPr>
          <p:cNvPr id="13" name="Text 11"/>
          <p:cNvSpPr txBox="1"/>
          <p:nvPr/>
        </p:nvSpPr>
        <p:spPr>
          <a:xfrm>
            <a:off x="8321040" y="4864608"/>
            <a:ext cx="457200" cy="237744"/>
          </a:xfrm>
          <a:prstGeom prst="rect">
            <a:avLst/>
          </a:prstGeom>
          <a:noFill/>
          <a:ln/>
        </p:spPr>
        <p:txBody>
          <a:bodyPr wrap="square" lIns="0" tIns="0" rIns="0" bIns="0" rtlCol="0" anchor="ctr"/>
          <a:lstStyle/>
          <a:p>
            <a:pPr algn="r" indent="0" marL="0">
              <a:buNone/>
            </a:pPr>
            <a:r>
              <a:rPr lang="en-US" sz="1000" dirty="0">
                <a:solidFill>
                  <a:srgbClr val="6B7C8C"/>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ctr"/>
          <a:lstStyle/>
          <a:p>
            <a:pPr indent="0" marL="0">
              <a:buNone/>
            </a:pPr>
            <a:r>
              <a:rPr lang="en-US" sz="1100" b="1" spc="200" kern="0" dirty="0">
                <a:solidFill>
                  <a:srgbClr val="1B9C86"/>
                </a:solidFill>
                <a:latin typeface="Calibri" pitchFamily="34" charset="0"/>
                <a:ea typeface="Calibri" pitchFamily="34" charset="-122"/>
                <a:cs typeface="Calibri" pitchFamily="34" charset="-120"/>
              </a:rPr>
              <a:t>A PRICE CHANGES IN POSTGRES</a:t>
            </a:r>
            <a:endParaRPr lang="en-US" sz="1100" dirty="0"/>
          </a:p>
        </p:txBody>
      </p:sp>
      <p:sp>
        <p:nvSpPr>
          <p:cNvPr id="3" name="Text 1"/>
          <p:cNvSpPr txBox="1"/>
          <p:nvPr/>
        </p:nvSpPr>
        <p:spPr>
          <a:xfrm>
            <a:off x="548640" y="658368"/>
            <a:ext cx="8229600" cy="731520"/>
          </a:xfrm>
          <a:prstGeom prst="rect">
            <a:avLst/>
          </a:prstGeom>
          <a:noFill/>
          <a:ln/>
        </p:spPr>
        <p:txBody>
          <a:bodyPr wrap="square" lIns="0" tIns="0" rIns="0" bIns="0" rtlCol="0" anchor="t"/>
          <a:lstStyle/>
          <a:p>
            <a:pPr indent="0" marL="0">
              <a:buNone/>
            </a:pPr>
            <a:r>
              <a:rPr lang="en-US" sz="2400" b="1" dirty="0">
                <a:solidFill>
                  <a:srgbClr val="141A24"/>
                </a:solidFill>
                <a:latin typeface="Cambria" pitchFamily="34" charset="0"/>
                <a:ea typeface="Cambria" pitchFamily="34" charset="-122"/>
                <a:cs typeface="Cambria" pitchFamily="34" charset="-120"/>
              </a:rPr>
              <a:t>One write. Exactly the objects built from that row.</a:t>
            </a:r>
            <a:endParaRPr lang="en-US" sz="2400" dirty="0"/>
          </a:p>
        </p:txBody>
      </p:sp>
      <p:sp>
        <p:nvSpPr>
          <p:cNvPr id="4" name="Shape 2"/>
          <p:cNvSpPr/>
          <p:nvPr/>
        </p:nvSpPr>
        <p:spPr>
          <a:xfrm>
            <a:off x="548640" y="1325880"/>
            <a:ext cx="8046720" cy="502920"/>
          </a:xfrm>
          <a:prstGeom prst="roundRect">
            <a:avLst>
              <a:gd name="adj" fmla="val 10909"/>
            </a:avLst>
          </a:prstGeom>
          <a:solidFill>
            <a:srgbClr val="F1F4F7"/>
          </a:solidFill>
          <a:ln w="12700">
            <a:solidFill>
              <a:srgbClr val="F1F4F7"/>
            </a:solidFill>
            <a:prstDash val="solid"/>
          </a:ln>
          <a:effectLst>
            <a:outerShdw sx="100000" sy="100000" kx="0" ky="0" algn="bl" rotWithShape="0" blurRad="101600" dist="12700" dir="5400000">
              <a:srgbClr val="8CA0B3">
                <a:alpha val="10000"/>
              </a:srgbClr>
            </a:outerShdw>
          </a:effectLst>
        </p:spPr>
      </p:sp>
      <p:sp>
        <p:nvSpPr>
          <p:cNvPr id="5" name="Text 3"/>
          <p:cNvSpPr txBox="1"/>
          <p:nvPr/>
        </p:nvSpPr>
        <p:spPr>
          <a:xfrm>
            <a:off x="804672" y="1435608"/>
            <a:ext cx="7589520" cy="274320"/>
          </a:xfrm>
          <a:prstGeom prst="rect">
            <a:avLst/>
          </a:prstGeom>
          <a:noFill/>
          <a:ln/>
        </p:spPr>
        <p:txBody>
          <a:bodyPr wrap="square" lIns="0" tIns="0" rIns="0" bIns="0" rtlCol="0" anchor="ctr"/>
          <a:lstStyle/>
          <a:p>
            <a:pPr indent="0" marL="0">
              <a:buNone/>
            </a:pPr>
            <a:r>
              <a:rPr lang="en-US" sz="1150" dirty="0">
                <a:solidFill>
                  <a:srgbClr val="141A24"/>
                </a:solidFill>
                <a:latin typeface="Courier New" pitchFamily="34" charset="0"/>
                <a:ea typeface="Courier New" pitchFamily="34" charset="-122"/>
                <a:cs typeface="Courier New" pitchFamily="34" charset="-120"/>
              </a:rPr>
              <a:t>UPDATE products SET price = 1899 WHERE id = 1292;</a:t>
            </a:r>
            <a:endParaRPr lang="en-US" sz="1150" dirty="0"/>
          </a:p>
        </p:txBody>
      </p:sp>
      <p:sp>
        <p:nvSpPr>
          <p:cNvPr id="6" name="Text 4"/>
          <p:cNvSpPr txBox="1"/>
          <p:nvPr/>
        </p:nvSpPr>
        <p:spPr>
          <a:xfrm>
            <a:off x="566928" y="1965960"/>
            <a:ext cx="7680960" cy="237744"/>
          </a:xfrm>
          <a:prstGeom prst="rect">
            <a:avLst/>
          </a:prstGeom>
          <a:noFill/>
          <a:ln/>
        </p:spPr>
        <p:txBody>
          <a:bodyPr wrap="square" lIns="0" tIns="0" rIns="0" bIns="0" rtlCol="0" anchor="ctr"/>
          <a:lstStyle/>
          <a:p>
            <a:pPr indent="0" marL="0">
              <a:buNone/>
            </a:pPr>
            <a:r>
              <a:rPr lang="en-US" sz="1050" b="1" dirty="0">
                <a:solidFill>
                  <a:srgbClr val="D97A16"/>
                </a:solidFill>
                <a:latin typeface="Calibri" pitchFamily="34" charset="0"/>
                <a:ea typeface="Calibri" pitchFamily="34" charset="-122"/>
                <a:cs typeface="Calibri" pitchFamily="34" charset="-120"/>
              </a:rPr>
              <a:t>dropped — these declared depends_on row:product:1292</a:t>
            </a:r>
            <a:endParaRPr lang="en-US" sz="1050" dirty="0"/>
          </a:p>
        </p:txBody>
      </p:sp>
      <p:sp>
        <p:nvSpPr>
          <p:cNvPr id="7" name="Shape 5"/>
          <p:cNvSpPr/>
          <p:nvPr/>
        </p:nvSpPr>
        <p:spPr>
          <a:xfrm>
            <a:off x="548640" y="2231136"/>
            <a:ext cx="2560320" cy="457200"/>
          </a:xfrm>
          <a:prstGeom prst="roundRect">
            <a:avLst>
              <a:gd name="adj" fmla="val 12000"/>
            </a:avLst>
          </a:prstGeom>
          <a:solidFill>
            <a:srgbClr val="FBE9D4"/>
          </a:solidFill>
          <a:ln w="12700">
            <a:solidFill>
              <a:srgbClr val="FBE9D4"/>
            </a:solidFill>
            <a:prstDash val="solid"/>
          </a:ln>
          <a:effectLst>
            <a:outerShdw sx="100000" sy="100000" kx="0" ky="0" algn="bl" rotWithShape="0" blurRad="101600" dist="12700" dir="5400000">
              <a:srgbClr val="8CA0B3">
                <a:alpha val="10000"/>
              </a:srgbClr>
            </a:outerShdw>
          </a:effectLst>
        </p:spPr>
      </p:sp>
      <p:sp>
        <p:nvSpPr>
          <p:cNvPr id="8" name="Text 6"/>
          <p:cNvSpPr txBox="1"/>
          <p:nvPr/>
        </p:nvSpPr>
        <p:spPr>
          <a:xfrm>
            <a:off x="713232" y="2331720"/>
            <a:ext cx="2286000" cy="256032"/>
          </a:xfrm>
          <a:prstGeom prst="rect">
            <a:avLst/>
          </a:prstGeom>
          <a:noFill/>
          <a:ln/>
        </p:spPr>
        <p:txBody>
          <a:bodyPr wrap="square" lIns="0" tIns="0" rIns="0" bIns="0" rtlCol="0" anchor="ctr"/>
          <a:lstStyle/>
          <a:p>
            <a:pPr indent="0" marL="0">
              <a:buNone/>
            </a:pPr>
            <a:r>
              <a:rPr lang="en-US" sz="1000" dirty="0">
                <a:solidFill>
                  <a:srgbClr val="141A24"/>
                </a:solidFill>
                <a:latin typeface="Courier New" pitchFamily="34" charset="0"/>
                <a:ea typeface="Courier New" pitchFamily="34" charset="-122"/>
                <a:cs typeface="Courier New" pitchFamily="34" charset="-120"/>
              </a:rPr>
              <a:t>product:1292:detail</a:t>
            </a:r>
            <a:endParaRPr lang="en-US" sz="1000" dirty="0"/>
          </a:p>
        </p:txBody>
      </p:sp>
      <p:sp>
        <p:nvSpPr>
          <p:cNvPr id="9" name="Shape 7"/>
          <p:cNvSpPr/>
          <p:nvPr/>
        </p:nvSpPr>
        <p:spPr>
          <a:xfrm>
            <a:off x="3291840" y="2231136"/>
            <a:ext cx="2560320" cy="457200"/>
          </a:xfrm>
          <a:prstGeom prst="roundRect">
            <a:avLst>
              <a:gd name="adj" fmla="val 12000"/>
            </a:avLst>
          </a:prstGeom>
          <a:solidFill>
            <a:srgbClr val="FBE9D4"/>
          </a:solidFill>
          <a:ln w="12700">
            <a:solidFill>
              <a:srgbClr val="FBE9D4"/>
            </a:solidFill>
            <a:prstDash val="solid"/>
          </a:ln>
          <a:effectLst>
            <a:outerShdw sx="100000" sy="100000" kx="0" ky="0" algn="bl" rotWithShape="0" blurRad="101600" dist="12700" dir="5400000">
              <a:srgbClr val="8CA0B3">
                <a:alpha val="10000"/>
              </a:srgbClr>
            </a:outerShdw>
          </a:effectLst>
        </p:spPr>
      </p:sp>
      <p:sp>
        <p:nvSpPr>
          <p:cNvPr id="10" name="Text 8"/>
          <p:cNvSpPr txBox="1"/>
          <p:nvPr/>
        </p:nvSpPr>
        <p:spPr>
          <a:xfrm>
            <a:off x="3456432" y="2331720"/>
            <a:ext cx="2286000" cy="256032"/>
          </a:xfrm>
          <a:prstGeom prst="rect">
            <a:avLst/>
          </a:prstGeom>
          <a:noFill/>
          <a:ln/>
        </p:spPr>
        <p:txBody>
          <a:bodyPr wrap="square" lIns="0" tIns="0" rIns="0" bIns="0" rtlCol="0" anchor="ctr"/>
          <a:lstStyle/>
          <a:p>
            <a:pPr indent="0" marL="0">
              <a:buNone/>
            </a:pPr>
            <a:r>
              <a:rPr lang="en-US" sz="1000" dirty="0">
                <a:solidFill>
                  <a:srgbClr val="141A24"/>
                </a:solidFill>
                <a:latin typeface="Courier New" pitchFamily="34" charset="0"/>
                <a:ea typeface="Courier New" pitchFamily="34" charset="-122"/>
                <a:cs typeface="Courier New" pitchFamily="34" charset="-120"/>
              </a:rPr>
              <a:t>search:phones:page1</a:t>
            </a:r>
            <a:endParaRPr lang="en-US" sz="1000" dirty="0"/>
          </a:p>
        </p:txBody>
      </p:sp>
      <p:sp>
        <p:nvSpPr>
          <p:cNvPr id="11" name="Shape 9"/>
          <p:cNvSpPr/>
          <p:nvPr/>
        </p:nvSpPr>
        <p:spPr>
          <a:xfrm>
            <a:off x="6035040" y="2231136"/>
            <a:ext cx="2560320" cy="457200"/>
          </a:xfrm>
          <a:prstGeom prst="roundRect">
            <a:avLst>
              <a:gd name="adj" fmla="val 12000"/>
            </a:avLst>
          </a:prstGeom>
          <a:solidFill>
            <a:srgbClr val="FBE9D4"/>
          </a:solidFill>
          <a:ln w="12700">
            <a:solidFill>
              <a:srgbClr val="FBE9D4"/>
            </a:solidFill>
            <a:prstDash val="solid"/>
          </a:ln>
          <a:effectLst>
            <a:outerShdw sx="100000" sy="100000" kx="0" ky="0" algn="bl" rotWithShape="0" blurRad="101600" dist="12700" dir="5400000">
              <a:srgbClr val="8CA0B3">
                <a:alpha val="10000"/>
              </a:srgbClr>
            </a:outerShdw>
          </a:effectLst>
        </p:spPr>
      </p:sp>
      <p:sp>
        <p:nvSpPr>
          <p:cNvPr id="12" name="Text 10"/>
          <p:cNvSpPr txBox="1"/>
          <p:nvPr/>
        </p:nvSpPr>
        <p:spPr>
          <a:xfrm>
            <a:off x="6199632" y="2331720"/>
            <a:ext cx="2286000" cy="256032"/>
          </a:xfrm>
          <a:prstGeom prst="rect">
            <a:avLst/>
          </a:prstGeom>
          <a:noFill/>
          <a:ln/>
        </p:spPr>
        <p:txBody>
          <a:bodyPr wrap="square" lIns="0" tIns="0" rIns="0" bIns="0" rtlCol="0" anchor="ctr"/>
          <a:lstStyle/>
          <a:p>
            <a:pPr indent="0" marL="0">
              <a:buNone/>
            </a:pPr>
            <a:r>
              <a:rPr lang="en-US" sz="1000" dirty="0">
                <a:solidFill>
                  <a:srgbClr val="141A24"/>
                </a:solidFill>
                <a:latin typeface="Courier New" pitchFamily="34" charset="0"/>
                <a:ea typeface="Courier New" pitchFamily="34" charset="-122"/>
                <a:cs typeface="Courier New" pitchFamily="34" charset="-120"/>
              </a:rPr>
              <a:t>reco:user:88:home</a:t>
            </a:r>
            <a:endParaRPr lang="en-US" sz="1000" dirty="0"/>
          </a:p>
        </p:txBody>
      </p:sp>
      <p:sp>
        <p:nvSpPr>
          <p:cNvPr id="13" name="Text 11"/>
          <p:cNvSpPr txBox="1"/>
          <p:nvPr/>
        </p:nvSpPr>
        <p:spPr>
          <a:xfrm>
            <a:off x="566928" y="2834640"/>
            <a:ext cx="7680960" cy="237744"/>
          </a:xfrm>
          <a:prstGeom prst="rect">
            <a:avLst/>
          </a:prstGeom>
          <a:noFill/>
          <a:ln/>
        </p:spPr>
        <p:txBody>
          <a:bodyPr wrap="square" lIns="0" tIns="0" rIns="0" bIns="0" rtlCol="0" anchor="ctr"/>
          <a:lstStyle/>
          <a:p>
            <a:pPr indent="0" marL="0">
              <a:buNone/>
            </a:pPr>
            <a:r>
              <a:rPr lang="en-US" sz="1050" b="1" dirty="0">
                <a:solidFill>
                  <a:srgbClr val="1B9C86"/>
                </a:solidFill>
                <a:latin typeface="Calibri" pitchFamily="34" charset="0"/>
                <a:ea typeface="Calibri" pitchFamily="34" charset="-122"/>
                <a:cs typeface="Calibri" pitchFamily="34" charset="-120"/>
              </a:rPr>
              <a:t>untouched — nothing about them was derived from that row</a:t>
            </a:r>
            <a:endParaRPr lang="en-US" sz="1050" dirty="0"/>
          </a:p>
        </p:txBody>
      </p:sp>
      <p:sp>
        <p:nvSpPr>
          <p:cNvPr id="14" name="Shape 12"/>
          <p:cNvSpPr/>
          <p:nvPr/>
        </p:nvSpPr>
        <p:spPr>
          <a:xfrm>
            <a:off x="548640" y="3099816"/>
            <a:ext cx="2560320" cy="457200"/>
          </a:xfrm>
          <a:prstGeom prst="roundRect">
            <a:avLst>
              <a:gd name="adj" fmla="val 12000"/>
            </a:avLst>
          </a:prstGeom>
          <a:solidFill>
            <a:srgbClr val="D9F0EB"/>
          </a:solidFill>
          <a:ln w="12700">
            <a:solidFill>
              <a:srgbClr val="D9F0EB"/>
            </a:solidFill>
            <a:prstDash val="solid"/>
          </a:ln>
          <a:effectLst>
            <a:outerShdw sx="100000" sy="100000" kx="0" ky="0" algn="bl" rotWithShape="0" blurRad="101600" dist="12700" dir="5400000">
              <a:srgbClr val="8CA0B3">
                <a:alpha val="10000"/>
              </a:srgbClr>
            </a:outerShdw>
          </a:effectLst>
        </p:spPr>
      </p:sp>
      <p:sp>
        <p:nvSpPr>
          <p:cNvPr id="15" name="Text 13"/>
          <p:cNvSpPr txBox="1"/>
          <p:nvPr/>
        </p:nvSpPr>
        <p:spPr>
          <a:xfrm>
            <a:off x="713232" y="3200400"/>
            <a:ext cx="2377440" cy="256032"/>
          </a:xfrm>
          <a:prstGeom prst="rect">
            <a:avLst/>
          </a:prstGeom>
          <a:noFill/>
          <a:ln/>
        </p:spPr>
        <p:txBody>
          <a:bodyPr wrap="square" lIns="0" tIns="0" rIns="0" bIns="0" rtlCol="0" anchor="ctr"/>
          <a:lstStyle/>
          <a:p>
            <a:pPr indent="0" marL="0">
              <a:buNone/>
            </a:pPr>
            <a:r>
              <a:rPr lang="en-US" sz="1000" dirty="0">
                <a:solidFill>
                  <a:srgbClr val="141A24"/>
                </a:solidFill>
                <a:latin typeface="Courier New" pitchFamily="34" charset="0"/>
                <a:ea typeface="Courier New" pitchFamily="34" charset="-122"/>
                <a:cs typeface="Courier New" pitchFamily="34" charset="-120"/>
              </a:rPr>
              <a:t>reco:user:12:home</a:t>
            </a:r>
            <a:endParaRPr lang="en-US" sz="1000" dirty="0"/>
          </a:p>
        </p:txBody>
      </p:sp>
      <p:sp>
        <p:nvSpPr>
          <p:cNvPr id="16" name="Shape 14"/>
          <p:cNvSpPr/>
          <p:nvPr/>
        </p:nvSpPr>
        <p:spPr>
          <a:xfrm>
            <a:off x="3291840" y="3099816"/>
            <a:ext cx="2560320" cy="457200"/>
          </a:xfrm>
          <a:prstGeom prst="roundRect">
            <a:avLst>
              <a:gd name="adj" fmla="val 12000"/>
            </a:avLst>
          </a:prstGeom>
          <a:solidFill>
            <a:srgbClr val="D9F0EB"/>
          </a:solidFill>
          <a:ln w="12700">
            <a:solidFill>
              <a:srgbClr val="D9F0EB"/>
            </a:solidFill>
            <a:prstDash val="solid"/>
          </a:ln>
          <a:effectLst>
            <a:outerShdw sx="100000" sy="100000" kx="0" ky="0" algn="bl" rotWithShape="0" blurRad="101600" dist="12700" dir="5400000">
              <a:srgbClr val="8CA0B3">
                <a:alpha val="10000"/>
              </a:srgbClr>
            </a:outerShdw>
          </a:effectLst>
        </p:spPr>
      </p:sp>
      <p:sp>
        <p:nvSpPr>
          <p:cNvPr id="17" name="Text 15"/>
          <p:cNvSpPr txBox="1"/>
          <p:nvPr/>
        </p:nvSpPr>
        <p:spPr>
          <a:xfrm>
            <a:off x="3456432" y="3200400"/>
            <a:ext cx="2377440" cy="256032"/>
          </a:xfrm>
          <a:prstGeom prst="rect">
            <a:avLst/>
          </a:prstGeom>
          <a:noFill/>
          <a:ln/>
        </p:spPr>
        <p:txBody>
          <a:bodyPr wrap="square" lIns="0" tIns="0" rIns="0" bIns="0" rtlCol="0" anchor="ctr"/>
          <a:lstStyle/>
          <a:p>
            <a:pPr indent="0" marL="0">
              <a:buNone/>
            </a:pPr>
            <a:r>
              <a:rPr lang="en-US" sz="1000" dirty="0">
                <a:solidFill>
                  <a:srgbClr val="141A24"/>
                </a:solidFill>
                <a:latin typeface="Courier New" pitchFamily="34" charset="0"/>
                <a:ea typeface="Courier New" pitchFamily="34" charset="-122"/>
                <a:cs typeface="Courier New" pitchFamily="34" charset="-120"/>
              </a:rPr>
              <a:t>analytics:revenue:mumbai:30d</a:t>
            </a:r>
            <a:endParaRPr lang="en-US" sz="1000" dirty="0"/>
          </a:p>
        </p:txBody>
      </p:sp>
      <p:sp>
        <p:nvSpPr>
          <p:cNvPr id="18" name="Text 16"/>
          <p:cNvSpPr txBox="1"/>
          <p:nvPr/>
        </p:nvSpPr>
        <p:spPr>
          <a:xfrm>
            <a:off x="548640" y="3749040"/>
            <a:ext cx="7680960" cy="822960"/>
          </a:xfrm>
          <a:prstGeom prst="rect">
            <a:avLst/>
          </a:prstGeom>
          <a:noFill/>
          <a:ln/>
        </p:spPr>
        <p:txBody>
          <a:bodyPr wrap="square" lIns="0" tIns="0" rIns="0" bIns="0" rtlCol="0" anchor="ctr"/>
          <a:lstStyle/>
          <a:p>
            <a:pPr indent="0" marL="0">
              <a:lnSpc>
                <a:spcPts val="1600"/>
              </a:lnSpc>
              <a:buNone/>
            </a:pPr>
            <a:r>
              <a:rPr lang="en-US" sz="1150" dirty="0">
                <a:solidFill>
                  <a:srgbClr val="31404E"/>
                </a:solidFill>
                <a:latin typeface="Calibri" pitchFamily="34" charset="0"/>
                <a:ea typeface="Calibri" pitchFamily="34" charset="-122"/>
                <a:cs typeface="Calibri" pitchFamily="34" charset="-120"/>
              </a:rPr>
              <a:t>Not a flush: a flush sends the entire miss stream at the origin at once. Not a TTL: a TTL means serving the old price until it happens to expire. The object declares what it was derived from, and the write goes and finds it — however many objects that is, and whoever built them.</a:t>
            </a:r>
            <a:endParaRPr lang="en-US" sz="1150" dirty="0"/>
          </a:p>
        </p:txBody>
      </p:sp>
      <p:sp>
        <p:nvSpPr>
          <p:cNvPr id="19" name="Text 17"/>
          <p:cNvSpPr txBox="1"/>
          <p:nvPr/>
        </p:nvSpPr>
        <p:spPr>
          <a:xfrm>
            <a:off x="8321040" y="4864608"/>
            <a:ext cx="457200" cy="237744"/>
          </a:xfrm>
          <a:prstGeom prst="rect">
            <a:avLst/>
          </a:prstGeom>
          <a:noFill/>
          <a:ln/>
        </p:spPr>
        <p:txBody>
          <a:bodyPr wrap="square" lIns="0" tIns="0" rIns="0" bIns="0" rtlCol="0" anchor="ctr"/>
          <a:lstStyle/>
          <a:p>
            <a:pPr algn="r" indent="0" marL="0">
              <a:buNone/>
            </a:pPr>
            <a:r>
              <a:rPr lang="en-US" sz="1000" dirty="0">
                <a:solidFill>
                  <a:srgbClr val="6B7C8C"/>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ctr"/>
          <a:lstStyle/>
          <a:p>
            <a:pPr indent="0" marL="0">
              <a:buNone/>
            </a:pPr>
            <a:r>
              <a:rPr lang="en-US" sz="1100" b="1" spc="200" kern="0" dirty="0">
                <a:solidFill>
                  <a:srgbClr val="1B9C86"/>
                </a:solidFill>
                <a:latin typeface="Calibri" pitchFamily="34" charset="0"/>
                <a:ea typeface="Calibri" pitchFamily="34" charset="-122"/>
                <a:cs typeface="Calibri" pitchFamily="34" charset="-120"/>
              </a:rPr>
              <a:t>A SCAN WALKS THE WHOLE TABLE</a:t>
            </a:r>
            <a:endParaRPr lang="en-US" sz="1100" dirty="0"/>
          </a:p>
        </p:txBody>
      </p:sp>
      <p:sp>
        <p:nvSpPr>
          <p:cNvPr id="3" name="Text 1"/>
          <p:cNvSpPr txBox="1"/>
          <p:nvPr/>
        </p:nvSpPr>
        <p:spPr>
          <a:xfrm>
            <a:off x="548640" y="658368"/>
            <a:ext cx="8229600" cy="731520"/>
          </a:xfrm>
          <a:prstGeom prst="rect">
            <a:avLst/>
          </a:prstGeom>
          <a:noFill/>
          <a:ln/>
        </p:spPr>
        <p:txBody>
          <a:bodyPr wrap="square" lIns="0" tIns="0" rIns="0" bIns="0" rtlCol="0" anchor="t"/>
          <a:lstStyle/>
          <a:p>
            <a:pPr indent="0" marL="0">
              <a:buNone/>
            </a:pPr>
            <a:r>
              <a:rPr lang="en-US" sz="2600" b="1" dirty="0">
                <a:solidFill>
                  <a:srgbClr val="141A24"/>
                </a:solidFill>
                <a:latin typeface="Cambria" pitchFamily="34" charset="0"/>
                <a:ea typeface="Cambria" pitchFamily="34" charset="-122"/>
                <a:cs typeface="Cambria" pitchFamily="34" charset="-120"/>
              </a:rPr>
              <a:t>Every eviction correct. The tenant still gone.</a:t>
            </a:r>
            <a:endParaRPr lang="en-US" sz="2600" dirty="0"/>
          </a:p>
        </p:txBody>
      </p:sp>
      <p:sp>
        <p:nvSpPr>
          <p:cNvPr id="4" name="Text 2"/>
          <p:cNvSpPr txBox="1"/>
          <p:nvPr/>
        </p:nvSpPr>
        <p:spPr>
          <a:xfrm>
            <a:off x="548640" y="1298448"/>
            <a:ext cx="8046720" cy="685800"/>
          </a:xfrm>
          <a:prstGeom prst="rect">
            <a:avLst/>
          </a:prstGeom>
          <a:noFill/>
          <a:ln/>
        </p:spPr>
        <p:txBody>
          <a:bodyPr wrap="square" lIns="0" tIns="0" rIns="0" bIns="0" rtlCol="0" anchor="ctr"/>
          <a:lstStyle/>
          <a:p>
            <a:pPr indent="0" marL="0">
              <a:lnSpc>
                <a:spcPts val="1600"/>
              </a:lnSpc>
              <a:buNone/>
            </a:pPr>
            <a:r>
              <a:rPr lang="en-US" sz="1150" i="1" dirty="0">
                <a:solidFill>
                  <a:srgbClr val="6B7C8C"/>
                </a:solidFill>
                <a:latin typeface="Calibri" pitchFamily="34" charset="0"/>
                <a:ea typeface="Calibri" pitchFamily="34" charset="-122"/>
                <a:cs typeface="Calibri" pitchFamily="34" charset="-120"/>
              </a:rPr>
              <a:t>A scan in analytics can empty recommendation one object at a time, and every single eviction is correct on value density — a freshly scanned row genuinely is worth more than a cold recommendation. The sum of correct decisions is a cache that has forgotten a tenant.</a:t>
            </a:r>
            <a:endParaRPr lang="en-US" sz="1150" dirty="0"/>
          </a:p>
        </p:txBody>
      </p:sp>
      <p:sp>
        <p:nvSpPr>
          <p:cNvPr id="5" name="Shape 3"/>
          <p:cNvSpPr/>
          <p:nvPr/>
        </p:nvSpPr>
        <p:spPr>
          <a:xfrm>
            <a:off x="548640" y="2084832"/>
            <a:ext cx="8046720" cy="384048"/>
          </a:xfrm>
          <a:prstGeom prst="rect">
            <a:avLst/>
          </a:prstGeom>
          <a:solidFill>
            <a:srgbClr val="F1F4F7"/>
          </a:solidFill>
          <a:ln w="12700">
            <a:solidFill>
              <a:srgbClr val="D8DFE6"/>
            </a:solidFill>
            <a:prstDash val="solid"/>
          </a:ln>
        </p:spPr>
      </p:sp>
      <p:sp>
        <p:nvSpPr>
          <p:cNvPr id="6" name="Shape 4"/>
          <p:cNvSpPr/>
          <p:nvPr/>
        </p:nvSpPr>
        <p:spPr>
          <a:xfrm>
            <a:off x="548640" y="2084832"/>
            <a:ext cx="1341150" cy="384048"/>
          </a:xfrm>
          <a:prstGeom prst="rect">
            <a:avLst/>
          </a:prstGeom>
          <a:solidFill>
            <a:srgbClr val="D9F0EB"/>
          </a:solidFill>
          <a:ln w="12700">
            <a:solidFill>
              <a:srgbClr val="1B9C86"/>
            </a:solidFill>
            <a:prstDash val="solid"/>
          </a:ln>
        </p:spPr>
      </p:sp>
      <p:sp>
        <p:nvSpPr>
          <p:cNvPr id="7" name="Shape 5"/>
          <p:cNvSpPr/>
          <p:nvPr/>
        </p:nvSpPr>
        <p:spPr>
          <a:xfrm>
            <a:off x="1889790" y="2084832"/>
            <a:ext cx="1341150" cy="384048"/>
          </a:xfrm>
          <a:prstGeom prst="rect">
            <a:avLst/>
          </a:prstGeom>
          <a:solidFill>
            <a:srgbClr val="D9F0EB"/>
          </a:solidFill>
          <a:ln w="12700">
            <a:solidFill>
              <a:srgbClr val="1B9C86"/>
            </a:solidFill>
            <a:prstDash val="solid"/>
          </a:ln>
        </p:spPr>
      </p:sp>
      <p:sp>
        <p:nvSpPr>
          <p:cNvPr id="8" name="Shape 6"/>
          <p:cNvSpPr/>
          <p:nvPr/>
        </p:nvSpPr>
        <p:spPr>
          <a:xfrm>
            <a:off x="3230941" y="2084832"/>
            <a:ext cx="1341150" cy="384048"/>
          </a:xfrm>
          <a:prstGeom prst="rect">
            <a:avLst/>
          </a:prstGeom>
          <a:solidFill>
            <a:srgbClr val="D9F0EB"/>
          </a:solidFill>
          <a:ln w="12700">
            <a:solidFill>
              <a:srgbClr val="1B9C86"/>
            </a:solidFill>
            <a:prstDash val="solid"/>
          </a:ln>
        </p:spPr>
      </p:sp>
      <p:sp>
        <p:nvSpPr>
          <p:cNvPr id="9" name="Text 7"/>
          <p:cNvSpPr txBox="1"/>
          <p:nvPr/>
        </p:nvSpPr>
        <p:spPr>
          <a:xfrm>
            <a:off x="566928" y="2523744"/>
            <a:ext cx="3931920" cy="237744"/>
          </a:xfrm>
          <a:prstGeom prst="rect">
            <a:avLst/>
          </a:prstGeom>
          <a:noFill/>
          <a:ln/>
        </p:spPr>
        <p:txBody>
          <a:bodyPr wrap="square" lIns="0" tIns="0" rIns="0" bIns="0" rtlCol="0" anchor="ctr"/>
          <a:lstStyle/>
          <a:p>
            <a:pPr indent="0" marL="0">
              <a:buNone/>
            </a:pPr>
            <a:r>
              <a:rPr lang="en-US" sz="1000" dirty="0">
                <a:solidFill>
                  <a:srgbClr val="1B9C86"/>
                </a:solidFill>
                <a:latin typeface="Calibri" pitchFamily="34" charset="0"/>
                <a:ea typeface="Calibri" pitchFamily="34" charset="-122"/>
                <a:cs typeface="Calibri" pitchFamily="34" charset="-120"/>
              </a:rPr>
              <a:t>three floors, a sixth of the pool each</a:t>
            </a:r>
            <a:endParaRPr lang="en-US" sz="1000" dirty="0"/>
          </a:p>
        </p:txBody>
      </p:sp>
      <p:sp>
        <p:nvSpPr>
          <p:cNvPr id="10" name="Text 8"/>
          <p:cNvSpPr txBox="1"/>
          <p:nvPr/>
        </p:nvSpPr>
        <p:spPr>
          <a:xfrm>
            <a:off x="4663440" y="2523744"/>
            <a:ext cx="3931920" cy="237744"/>
          </a:xfrm>
          <a:prstGeom prst="rect">
            <a:avLst/>
          </a:prstGeom>
          <a:noFill/>
          <a:ln/>
        </p:spPr>
        <p:txBody>
          <a:bodyPr wrap="square" lIns="0" tIns="0" rIns="0" bIns="0" rtlCol="0" anchor="ctr"/>
          <a:lstStyle/>
          <a:p>
            <a:pPr algn="r" indent="0" marL="0">
              <a:buNone/>
            </a:pPr>
            <a:r>
              <a:rPr lang="en-US" sz="1000" dirty="0">
                <a:solidFill>
                  <a:srgbClr val="6B7C8C"/>
                </a:solidFill>
                <a:latin typeface="Calibri" pitchFamily="34" charset="0"/>
                <a:ea typeface="Calibri" pitchFamily="34" charset="-122"/>
                <a:cs typeface="Calibri" pitchFamily="34" charset="-120"/>
              </a:rPr>
              <a:t>the other half, contested purely on value density</a:t>
            </a:r>
            <a:endParaRPr lang="en-US" sz="1000" dirty="0"/>
          </a:p>
        </p:txBody>
      </p:sp>
      <p:sp>
        <p:nvSpPr>
          <p:cNvPr id="11" name="Shape 9"/>
          <p:cNvSpPr/>
          <p:nvPr/>
        </p:nvSpPr>
        <p:spPr>
          <a:xfrm>
            <a:off x="548640" y="2926080"/>
            <a:ext cx="3931920" cy="1371600"/>
          </a:xfrm>
          <a:prstGeom prst="roundRect">
            <a:avLst>
              <a:gd name="adj" fmla="val 4000"/>
            </a:avLst>
          </a:prstGeom>
          <a:solidFill>
            <a:srgbClr val="D9F0EB"/>
          </a:solidFill>
          <a:ln w="12700">
            <a:solidFill>
              <a:srgbClr val="D9F0EB"/>
            </a:solidFill>
            <a:prstDash val="solid"/>
          </a:ln>
          <a:effectLst>
            <a:outerShdw sx="100000" sy="100000" kx="0" ky="0" algn="bl" rotWithShape="0" blurRad="101600" dist="12700" dir="5400000">
              <a:srgbClr val="8CA0B3">
                <a:alpha val="10000"/>
              </a:srgbClr>
            </a:outerShdw>
          </a:effectLst>
        </p:spPr>
      </p:sp>
      <p:sp>
        <p:nvSpPr>
          <p:cNvPr id="12" name="Text 10"/>
          <p:cNvSpPr txBox="1"/>
          <p:nvPr/>
        </p:nvSpPr>
        <p:spPr>
          <a:xfrm>
            <a:off x="804672" y="3035808"/>
            <a:ext cx="3474720" cy="237744"/>
          </a:xfrm>
          <a:prstGeom prst="rect">
            <a:avLst/>
          </a:prstGeom>
          <a:noFill/>
          <a:ln/>
        </p:spPr>
        <p:txBody>
          <a:bodyPr wrap="square" lIns="0" tIns="0" rIns="0" bIns="0" rtlCol="0" anchor="ctr"/>
          <a:lstStyle/>
          <a:p>
            <a:pPr indent="0" marL="0">
              <a:buNone/>
            </a:pPr>
            <a:r>
              <a:rPr lang="en-US" sz="1150" b="1" dirty="0">
                <a:solidFill>
                  <a:srgbClr val="1B9C86"/>
                </a:solidFill>
                <a:latin typeface="Calibri" pitchFamily="34" charset="0"/>
                <a:ea typeface="Calibri" pitchFamily="34" charset="-122"/>
                <a:cs typeface="Calibri" pitchFamily="34" charset="-120"/>
              </a:rPr>
              <a:t>Refused at the door</a:t>
            </a:r>
            <a:endParaRPr lang="en-US" sz="1150" dirty="0"/>
          </a:p>
        </p:txBody>
      </p:sp>
      <p:sp>
        <p:nvSpPr>
          <p:cNvPr id="13" name="Text 11"/>
          <p:cNvSpPr txBox="1"/>
          <p:nvPr/>
        </p:nvSpPr>
        <p:spPr>
          <a:xfrm>
            <a:off x="804672" y="3291840"/>
            <a:ext cx="3474720" cy="914400"/>
          </a:xfrm>
          <a:prstGeom prst="rect">
            <a:avLst/>
          </a:prstGeom>
          <a:noFill/>
          <a:ln/>
        </p:spPr>
        <p:txBody>
          <a:bodyPr wrap="square" lIns="0" tIns="0" rIns="0" bIns="0" rtlCol="0" anchor="ctr"/>
          <a:lstStyle/>
          <a:p>
            <a:pPr indent="0" marL="0">
              <a:lnSpc>
                <a:spcPts val="1300"/>
              </a:lnSpc>
              <a:buNone/>
            </a:pPr>
            <a:r>
              <a:rPr lang="en-US" sz="1000" dirty="0">
                <a:solidFill>
                  <a:srgbClr val="31404E"/>
                </a:solidFill>
                <a:latin typeface="Calibri" pitchFamily="34" charset="0"/>
                <a:ea typeface="Calibri" pitchFamily="34" charset="-122"/>
                <a:cs typeface="Calibri" pitchFamily="34" charset="-120"/>
              </a:rPr>
              <a:t>A one-touch scan key has near-zero predicted reuse, so near-zero density. To get in it must beat victim_bar × 1.10 — the weakest of 32 sampled residents, the object that would have to die to make room for it. It does not.</a:t>
            </a:r>
            <a:endParaRPr lang="en-US" sz="1000" dirty="0"/>
          </a:p>
        </p:txBody>
      </p:sp>
      <p:sp>
        <p:nvSpPr>
          <p:cNvPr id="14" name="Shape 12"/>
          <p:cNvSpPr/>
          <p:nvPr/>
        </p:nvSpPr>
        <p:spPr>
          <a:xfrm>
            <a:off x="4663440" y="2926080"/>
            <a:ext cx="3931920" cy="1371600"/>
          </a:xfrm>
          <a:prstGeom prst="roundRect">
            <a:avLst>
              <a:gd name="adj" fmla="val 4000"/>
            </a:avLst>
          </a:prstGeom>
          <a:solidFill>
            <a:srgbClr val="F1F4F7"/>
          </a:solidFill>
          <a:ln w="12700">
            <a:solidFill>
              <a:srgbClr val="F1F4F7"/>
            </a:solidFill>
            <a:prstDash val="solid"/>
          </a:ln>
          <a:effectLst>
            <a:outerShdw sx="100000" sy="100000" kx="0" ky="0" algn="bl" rotWithShape="0" blurRad="101600" dist="12700" dir="5400000">
              <a:srgbClr val="8CA0B3">
                <a:alpha val="10000"/>
              </a:srgbClr>
            </a:outerShdw>
          </a:effectLst>
        </p:spPr>
      </p:sp>
      <p:sp>
        <p:nvSpPr>
          <p:cNvPr id="15" name="Text 13"/>
          <p:cNvSpPr txBox="1"/>
          <p:nvPr/>
        </p:nvSpPr>
        <p:spPr>
          <a:xfrm>
            <a:off x="4919472" y="3035808"/>
            <a:ext cx="3474720" cy="237744"/>
          </a:xfrm>
          <a:prstGeom prst="rect">
            <a:avLst/>
          </a:prstGeom>
          <a:noFill/>
          <a:ln/>
        </p:spPr>
        <p:txBody>
          <a:bodyPr wrap="square" lIns="0" tIns="0" rIns="0" bIns="0" rtlCol="0" anchor="ctr"/>
          <a:lstStyle/>
          <a:p>
            <a:pPr indent="0" marL="0">
              <a:buNone/>
            </a:pPr>
            <a:r>
              <a:rPr lang="en-US" sz="1150" b="1" dirty="0">
                <a:solidFill>
                  <a:srgbClr val="141A24"/>
                </a:solidFill>
                <a:latin typeface="Calibri" pitchFamily="34" charset="0"/>
                <a:ea typeface="Calibri" pitchFamily="34" charset="-122"/>
                <a:cs typeface="Calibri" pitchFamily="34" charset="-120"/>
              </a:rPr>
              <a:t>A floor under every application</a:t>
            </a:r>
            <a:endParaRPr lang="en-US" sz="1150" dirty="0"/>
          </a:p>
        </p:txBody>
      </p:sp>
      <p:sp>
        <p:nvSpPr>
          <p:cNvPr id="16" name="Text 14"/>
          <p:cNvSpPr txBox="1"/>
          <p:nvPr/>
        </p:nvSpPr>
        <p:spPr>
          <a:xfrm>
            <a:off x="4919472" y="3291840"/>
            <a:ext cx="3474720" cy="914400"/>
          </a:xfrm>
          <a:prstGeom prst="rect">
            <a:avLst/>
          </a:prstGeom>
          <a:noFill/>
          <a:ln/>
        </p:spPr>
        <p:txBody>
          <a:bodyPr wrap="square" lIns="0" tIns="0" rIns="0" bIns="0" rtlCol="0" anchor="ctr"/>
          <a:lstStyle/>
          <a:p>
            <a:pPr indent="0" marL="0">
              <a:lnSpc>
                <a:spcPts val="1300"/>
              </a:lnSpc>
              <a:buNone/>
            </a:pPr>
            <a:r>
              <a:rPr lang="en-US" sz="1000" dirty="0">
                <a:solidFill>
                  <a:srgbClr val="31404E"/>
                </a:solidFill>
                <a:latin typeface="Calibri" pitchFamily="34" charset="0"/>
                <a:ea typeface="Calibri" pitchFamily="34" charset="-122"/>
                <a:cs typeface="Calibri" pitchFamily="34" charset="-120"/>
              </a:rPr>
              <a:t>floor = capacity / resident_apps × 0.5. Eviction splits its 32 candidates into protected and unprotected and takes the weakest unprotected one, falling back only when the whole sample was protected.</a:t>
            </a:r>
            <a:endParaRPr lang="en-US" sz="1000" dirty="0"/>
          </a:p>
        </p:txBody>
      </p:sp>
      <p:sp>
        <p:nvSpPr>
          <p:cNvPr id="17" name="Text 15"/>
          <p:cNvSpPr txBox="1"/>
          <p:nvPr/>
        </p:nvSpPr>
        <p:spPr>
          <a:xfrm>
            <a:off x="548640" y="4434840"/>
            <a:ext cx="7680960" cy="274320"/>
          </a:xfrm>
          <a:prstGeom prst="rect">
            <a:avLst/>
          </a:prstGeom>
          <a:noFill/>
          <a:ln/>
        </p:spPr>
        <p:txBody>
          <a:bodyPr wrap="square" lIns="0" tIns="0" rIns="0" bIns="0" rtlCol="0" anchor="ctr"/>
          <a:lstStyle/>
          <a:p>
            <a:pPr indent="0" marL="0">
              <a:buNone/>
            </a:pPr>
            <a:r>
              <a:rPr lang="en-US" sz="1200" b="1" dirty="0">
                <a:solidFill>
                  <a:srgbClr val="1B9C86"/>
                </a:solidFill>
                <a:latin typeface="Calibri" pitchFamily="34" charset="0"/>
                <a:ea typeface="Calibri" pitchFamily="34" charset="-122"/>
                <a:cs typeface="Calibri" pitchFamily="34" charset="-120"/>
              </a:rPr>
              <a:t>The byte budget is an invariant. Fairness is a preference.</a:t>
            </a:r>
            <a:endParaRPr lang="en-US" sz="1200" dirty="0"/>
          </a:p>
        </p:txBody>
      </p:sp>
      <p:sp>
        <p:nvSpPr>
          <p:cNvPr id="18" name="Text 16"/>
          <p:cNvSpPr txBox="1"/>
          <p:nvPr/>
        </p:nvSpPr>
        <p:spPr>
          <a:xfrm>
            <a:off x="8321040" y="4864608"/>
            <a:ext cx="457200" cy="237744"/>
          </a:xfrm>
          <a:prstGeom prst="rect">
            <a:avLst/>
          </a:prstGeom>
          <a:noFill/>
          <a:ln/>
        </p:spPr>
        <p:txBody>
          <a:bodyPr wrap="square" lIns="0" tIns="0" rIns="0" bIns="0" rtlCol="0" anchor="ctr"/>
          <a:lstStyle/>
          <a:p>
            <a:pPr algn="r" indent="0" marL="0">
              <a:buNone/>
            </a:pPr>
            <a:r>
              <a:rPr lang="en-US" sz="1000" dirty="0">
                <a:solidFill>
                  <a:srgbClr val="6B7C8C"/>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ctr"/>
          <a:lstStyle/>
          <a:p>
            <a:pPr indent="0" marL="0">
              <a:buNone/>
            </a:pPr>
            <a:r>
              <a:rPr lang="en-US" sz="1100" b="1" spc="200" kern="0" dirty="0">
                <a:solidFill>
                  <a:srgbClr val="1B9C86"/>
                </a:solidFill>
                <a:latin typeface="Calibri" pitchFamily="34" charset="0"/>
                <a:ea typeface="Calibri" pitchFamily="34" charset="-122"/>
                <a:cs typeface="Calibri" pitchFamily="34" charset="-120"/>
              </a:rPr>
              <a:t>THE POOL FILLS UP</a:t>
            </a:r>
            <a:endParaRPr lang="en-US" sz="1100" dirty="0"/>
          </a:p>
        </p:txBody>
      </p:sp>
      <p:sp>
        <p:nvSpPr>
          <p:cNvPr id="3" name="Text 1"/>
          <p:cNvSpPr txBox="1"/>
          <p:nvPr/>
        </p:nvSpPr>
        <p:spPr>
          <a:xfrm>
            <a:off x="548640" y="658368"/>
            <a:ext cx="8229600" cy="731520"/>
          </a:xfrm>
          <a:prstGeom prst="rect">
            <a:avLst/>
          </a:prstGeom>
          <a:noFill/>
          <a:ln/>
        </p:spPr>
        <p:txBody>
          <a:bodyPr wrap="square" lIns="0" tIns="0" rIns="0" bIns="0" rtlCol="0" anchor="t"/>
          <a:lstStyle/>
          <a:p>
            <a:pPr indent="0" marL="0">
              <a:buNone/>
            </a:pPr>
            <a:r>
              <a:rPr lang="en-US" sz="2400" b="1" dirty="0">
                <a:solidFill>
                  <a:srgbClr val="141A24"/>
                </a:solidFill>
                <a:latin typeface="Cambria" pitchFamily="34" charset="0"/>
                <a:ea typeface="Cambria" pitchFamily="34" charset="-122"/>
                <a:cs typeface="Cambria" pitchFamily="34" charset="-120"/>
              </a:rPr>
              <a:t>A cache that grows whenever it is full is not scaling</a:t>
            </a:r>
            <a:endParaRPr lang="en-US" sz="2400" dirty="0"/>
          </a:p>
        </p:txBody>
      </p:sp>
      <p:sp>
        <p:nvSpPr>
          <p:cNvPr id="4" name="Text 2"/>
          <p:cNvSpPr txBox="1"/>
          <p:nvPr/>
        </p:nvSpPr>
        <p:spPr>
          <a:xfrm>
            <a:off x="548640" y="1371600"/>
            <a:ext cx="3931920" cy="777240"/>
          </a:xfrm>
          <a:prstGeom prst="rect">
            <a:avLst/>
          </a:prstGeom>
          <a:noFill/>
          <a:ln/>
        </p:spPr>
        <p:txBody>
          <a:bodyPr wrap="square" lIns="0" tIns="0" rIns="0" bIns="0" rtlCol="0" anchor="ctr"/>
          <a:lstStyle/>
          <a:p>
            <a:pPr indent="0" marL="0">
              <a:buNone/>
            </a:pPr>
            <a:r>
              <a:rPr lang="en-US" sz="4000" b="1" dirty="0">
                <a:solidFill>
                  <a:srgbClr val="1B9C86"/>
                </a:solidFill>
                <a:latin typeface="Cambria" pitchFamily="34" charset="0"/>
                <a:ea typeface="Cambria" pitchFamily="34" charset="-122"/>
                <a:cs typeface="Cambria" pitchFamily="34" charset="-120"/>
              </a:rPr>
              <a:t>+$0.41 / hr</a:t>
            </a:r>
            <a:endParaRPr lang="en-US" sz="4000" dirty="0"/>
          </a:p>
        </p:txBody>
      </p:sp>
      <p:sp>
        <p:nvSpPr>
          <p:cNvPr id="5" name="Text 3"/>
          <p:cNvSpPr txBox="1"/>
          <p:nvPr/>
        </p:nvSpPr>
        <p:spPr>
          <a:xfrm>
            <a:off x="566928" y="2121408"/>
            <a:ext cx="3931920" cy="457200"/>
          </a:xfrm>
          <a:prstGeom prst="rect">
            <a:avLst/>
          </a:prstGeom>
          <a:noFill/>
          <a:ln/>
        </p:spPr>
        <p:txBody>
          <a:bodyPr wrap="square" lIns="0" tIns="0" rIns="0" bIns="0" rtlCol="0" anchor="ctr"/>
          <a:lstStyle/>
          <a:p>
            <a:pPr indent="0" marL="0">
              <a:lnSpc>
                <a:spcPts val="1500"/>
              </a:lnSpc>
              <a:buNone/>
            </a:pPr>
            <a:r>
              <a:rPr lang="en-US" sz="1100" dirty="0">
                <a:solidFill>
                  <a:srgbClr val="6B7C8C"/>
                </a:solidFill>
                <a:latin typeface="Calibri" pitchFamily="34" charset="0"/>
                <a:ea typeface="Calibri" pitchFamily="34" charset="-122"/>
                <a:cs typeface="Calibri" pitchFamily="34" charset="-120"/>
              </a:rPr>
              <a:t>net, after paying rent on the memory it just asked for</a:t>
            </a:r>
            <a:endParaRPr lang="en-US" sz="1100" dirty="0"/>
          </a:p>
        </p:txBody>
      </p:sp>
      <p:sp>
        <p:nvSpPr>
          <p:cNvPr id="6" name="Shape 4"/>
          <p:cNvSpPr/>
          <p:nvPr/>
        </p:nvSpPr>
        <p:spPr>
          <a:xfrm>
            <a:off x="548640" y="2633472"/>
            <a:ext cx="3931920" cy="1371600"/>
          </a:xfrm>
          <a:prstGeom prst="roundRect">
            <a:avLst>
              <a:gd name="adj" fmla="val 4000"/>
            </a:avLst>
          </a:prstGeom>
          <a:solidFill>
            <a:srgbClr val="D9F0EB"/>
          </a:solidFill>
          <a:ln w="12700">
            <a:solidFill>
              <a:srgbClr val="D9F0EB"/>
            </a:solidFill>
            <a:prstDash val="solid"/>
          </a:ln>
          <a:effectLst>
            <a:outerShdw sx="100000" sy="100000" kx="0" ky="0" algn="bl" rotWithShape="0" blurRad="101600" dist="12700" dir="5400000">
              <a:srgbClr val="8CA0B3">
                <a:alpha val="10000"/>
              </a:srgbClr>
            </a:outerShdw>
          </a:effectLst>
        </p:spPr>
      </p:sp>
      <p:sp>
        <p:nvSpPr>
          <p:cNvPr id="7" name="Text 5"/>
          <p:cNvSpPr txBox="1"/>
          <p:nvPr/>
        </p:nvSpPr>
        <p:spPr>
          <a:xfrm>
            <a:off x="804672" y="2779776"/>
            <a:ext cx="3474720" cy="1097280"/>
          </a:xfrm>
          <a:prstGeom prst="rect">
            <a:avLst/>
          </a:prstGeom>
          <a:noFill/>
          <a:ln/>
        </p:spPr>
        <p:txBody>
          <a:bodyPr wrap="square" lIns="0" tIns="0" rIns="0" bIns="0" rtlCol="0" anchor="ctr"/>
          <a:lstStyle/>
          <a:p>
            <a:pPr indent="0" marL="0">
              <a:lnSpc>
                <a:spcPts val="1800"/>
              </a:lnSpc>
              <a:buNone/>
            </a:pPr>
            <a:r>
              <a:rPr lang="en-US" sz="1200" i="1" dirty="0">
                <a:solidFill>
                  <a:srgbClr val="141A24"/>
                </a:solidFill>
                <a:latin typeface="Cambria" pitchFamily="34" charset="0"/>
                <a:ea typeface="Cambria" pitchFamily="34" charset="-122"/>
                <a:cs typeface="Cambria" pitchFamily="34" charset="-120"/>
              </a:rPr>
              <a:t>“Grew the pool from 128 MB to 384 MB. The extra memory should lift the hit rate 4.1 points, saving $0.42/hr against $0.01/hr of rent.”</a:t>
            </a:r>
            <a:endParaRPr lang="en-US" sz="1200" dirty="0"/>
          </a:p>
        </p:txBody>
      </p:sp>
      <p:sp>
        <p:nvSpPr>
          <p:cNvPr id="8" name="Text 6"/>
          <p:cNvSpPr txBox="1"/>
          <p:nvPr/>
        </p:nvSpPr>
        <p:spPr>
          <a:xfrm>
            <a:off x="4663440" y="1371600"/>
            <a:ext cx="3931920" cy="237744"/>
          </a:xfrm>
          <a:prstGeom prst="rect">
            <a:avLst/>
          </a:prstGeom>
          <a:noFill/>
          <a:ln/>
        </p:spPr>
        <p:txBody>
          <a:bodyPr wrap="square" lIns="0" tIns="0" rIns="0" bIns="0" rtlCol="0" anchor="ctr"/>
          <a:lstStyle/>
          <a:p>
            <a:pPr indent="0" marL="0">
              <a:buNone/>
            </a:pPr>
            <a:r>
              <a:rPr lang="en-US" sz="1150" b="1" dirty="0">
                <a:solidFill>
                  <a:srgbClr val="1B9C86"/>
                </a:solidFill>
                <a:latin typeface="Calibri" pitchFamily="34" charset="0"/>
                <a:ea typeface="Calibri" pitchFamily="34" charset="-122"/>
                <a:cs typeface="Calibri" pitchFamily="34" charset="-120"/>
              </a:rPr>
              <a:t>Buys only when it pays</a:t>
            </a:r>
            <a:endParaRPr lang="en-US" sz="1150" dirty="0"/>
          </a:p>
        </p:txBody>
      </p:sp>
      <p:sp>
        <p:nvSpPr>
          <p:cNvPr id="9" name="Text 7"/>
          <p:cNvSpPr txBox="1"/>
          <p:nvPr/>
        </p:nvSpPr>
        <p:spPr>
          <a:xfrm>
            <a:off x="4663440" y="1627632"/>
            <a:ext cx="3931920" cy="685800"/>
          </a:xfrm>
          <a:prstGeom prst="rect">
            <a:avLst/>
          </a:prstGeom>
          <a:noFill/>
          <a:ln/>
        </p:spPr>
        <p:txBody>
          <a:bodyPr wrap="square" lIns="0" tIns="0" rIns="0" bIns="0" rtlCol="0" anchor="ctr"/>
          <a:lstStyle/>
          <a:p>
            <a:pPr indent="0" marL="0">
              <a:lnSpc>
                <a:spcPts val="1300"/>
              </a:lnSpc>
              <a:buNone/>
            </a:pPr>
            <a:r>
              <a:rPr lang="en-US" sz="1000" dirty="0">
                <a:solidFill>
                  <a:srgbClr val="31404E"/>
                </a:solidFill>
                <a:latin typeface="Calibri" pitchFamily="34" charset="0"/>
                <a:ea typeface="Calibri" pitchFamily="34" charset="-122"/>
                <a:cs typeface="Calibri" pitchFamily="34" charset="-120"/>
              </a:rPr>
              <a:t>roi = projected savings ÷ rent, off a miss-ratio curve fitted to the hit rate it is actually achieving. It grows only when roi clears 1.25 and the host has headroom.</a:t>
            </a:r>
            <a:endParaRPr lang="en-US" sz="1000" dirty="0"/>
          </a:p>
        </p:txBody>
      </p:sp>
      <p:sp>
        <p:nvSpPr>
          <p:cNvPr id="10" name="Text 8"/>
          <p:cNvSpPr txBox="1"/>
          <p:nvPr/>
        </p:nvSpPr>
        <p:spPr>
          <a:xfrm>
            <a:off x="4663440" y="2304288"/>
            <a:ext cx="3931920" cy="237744"/>
          </a:xfrm>
          <a:prstGeom prst="rect">
            <a:avLst/>
          </a:prstGeom>
          <a:noFill/>
          <a:ln/>
        </p:spPr>
        <p:txBody>
          <a:bodyPr wrap="square" lIns="0" tIns="0" rIns="0" bIns="0" rtlCol="0" anchor="ctr"/>
          <a:lstStyle/>
          <a:p>
            <a:pPr indent="0" marL="0">
              <a:buNone/>
            </a:pPr>
            <a:r>
              <a:rPr lang="en-US" sz="1150" b="1" dirty="0">
                <a:solidFill>
                  <a:srgbClr val="D97A16"/>
                </a:solidFill>
                <a:latin typeface="Calibri" pitchFamily="34" charset="0"/>
                <a:ea typeface="Calibri" pitchFamily="34" charset="-122"/>
                <a:cs typeface="Calibri" pitchFamily="34" charset="-120"/>
              </a:rPr>
              <a:t>Sells only when it is sure</a:t>
            </a:r>
            <a:endParaRPr lang="en-US" sz="1150" dirty="0"/>
          </a:p>
        </p:txBody>
      </p:sp>
      <p:sp>
        <p:nvSpPr>
          <p:cNvPr id="11" name="Text 9"/>
          <p:cNvSpPr txBox="1"/>
          <p:nvPr/>
        </p:nvSpPr>
        <p:spPr>
          <a:xfrm>
            <a:off x="4663440" y="2560320"/>
            <a:ext cx="3931920" cy="685800"/>
          </a:xfrm>
          <a:prstGeom prst="rect">
            <a:avLst/>
          </a:prstGeom>
          <a:noFill/>
          <a:ln/>
        </p:spPr>
        <p:txBody>
          <a:bodyPr wrap="square" lIns="0" tIns="0" rIns="0" bIns="0" rtlCol="0" anchor="ctr"/>
          <a:lstStyle/>
          <a:p>
            <a:pPr indent="0" marL="0">
              <a:lnSpc>
                <a:spcPts val="1300"/>
              </a:lnSpc>
              <a:buNone/>
            </a:pPr>
            <a:r>
              <a:rPr lang="en-US" sz="1000" dirty="0">
                <a:solidFill>
                  <a:srgbClr val="31404E"/>
                </a:solidFill>
                <a:latin typeface="Calibri" pitchFamily="34" charset="0"/>
                <a:ea typeface="Calibri" pitchFamily="34" charset="-122"/>
                <a:cs typeface="Calibri" pitchFamily="34" charset="-120"/>
              </a:rPr>
              <a:t>It shrinks only when utilisation is under 0.55 AND it has actually seen evictions AND it has seen 5,000 requests — the guard that stops it reading a cold cache as an oversized one.</a:t>
            </a:r>
            <a:endParaRPr lang="en-US" sz="1000" dirty="0"/>
          </a:p>
        </p:txBody>
      </p:sp>
      <p:sp>
        <p:nvSpPr>
          <p:cNvPr id="12" name="Text 10"/>
          <p:cNvSpPr txBox="1"/>
          <p:nvPr/>
        </p:nvSpPr>
        <p:spPr>
          <a:xfrm>
            <a:off x="4663440" y="3236976"/>
            <a:ext cx="3931920" cy="237744"/>
          </a:xfrm>
          <a:prstGeom prst="rect">
            <a:avLst/>
          </a:prstGeom>
          <a:noFill/>
          <a:ln/>
        </p:spPr>
        <p:txBody>
          <a:bodyPr wrap="square" lIns="0" tIns="0" rIns="0" bIns="0" rtlCol="0" anchor="ctr"/>
          <a:lstStyle/>
          <a:p>
            <a:pPr indent="0" marL="0">
              <a:buNone/>
            </a:pPr>
            <a:r>
              <a:rPr lang="en-US" sz="1150" b="1" dirty="0">
                <a:solidFill>
                  <a:srgbClr val="141A24"/>
                </a:solidFill>
                <a:latin typeface="Calibri" pitchFamily="34" charset="0"/>
                <a:ea typeface="Calibri" pitchFamily="34" charset="-122"/>
                <a:cs typeface="Calibri" pitchFamily="34" charset="-120"/>
              </a:rPr>
              <a:t>Re-argued every 250 ms</a:t>
            </a:r>
            <a:endParaRPr lang="en-US" sz="1150" dirty="0"/>
          </a:p>
        </p:txBody>
      </p:sp>
      <p:sp>
        <p:nvSpPr>
          <p:cNvPr id="13" name="Text 11"/>
          <p:cNvSpPr txBox="1"/>
          <p:nvPr/>
        </p:nvSpPr>
        <p:spPr>
          <a:xfrm>
            <a:off x="4663440" y="3493008"/>
            <a:ext cx="3931920" cy="685800"/>
          </a:xfrm>
          <a:prstGeom prst="rect">
            <a:avLst/>
          </a:prstGeom>
          <a:noFill/>
          <a:ln/>
        </p:spPr>
        <p:txBody>
          <a:bodyPr wrap="square" lIns="0" tIns="0" rIns="0" bIns="0" rtlCol="0" anchor="ctr"/>
          <a:lstStyle/>
          <a:p>
            <a:pPr indent="0" marL="0">
              <a:lnSpc>
                <a:spcPts val="1300"/>
              </a:lnSpc>
              <a:buNone/>
            </a:pPr>
            <a:r>
              <a:rPr lang="en-US" sz="1000" dirty="0">
                <a:solidFill>
                  <a:srgbClr val="31404E"/>
                </a:solidFill>
                <a:latin typeface="Calibri" pitchFamily="34" charset="0"/>
                <a:ea typeface="Calibri" pitchFamily="34" charset="-122"/>
                <a:cs typeface="Calibri" pitchFamily="34" charset="-120"/>
              </a:rPr>
              <a:t>On the controller tick, with a cooldown, so a transient burst cannot make it oscillate.</a:t>
            </a:r>
            <a:endParaRPr lang="en-US" sz="1000" dirty="0"/>
          </a:p>
        </p:txBody>
      </p:sp>
      <p:sp>
        <p:nvSpPr>
          <p:cNvPr id="14" name="Text 12"/>
          <p:cNvSpPr txBox="1"/>
          <p:nvPr/>
        </p:nvSpPr>
        <p:spPr>
          <a:xfrm>
            <a:off x="548640" y="4206240"/>
            <a:ext cx="7680960" cy="320040"/>
          </a:xfrm>
          <a:prstGeom prst="rect">
            <a:avLst/>
          </a:prstGeom>
          <a:noFill/>
          <a:ln/>
        </p:spPr>
        <p:txBody>
          <a:bodyPr wrap="square" lIns="0" tIns="0" rIns="0" bIns="0" rtlCol="0" anchor="ctr"/>
          <a:lstStyle/>
          <a:p>
            <a:pPr indent="0" marL="0">
              <a:buNone/>
            </a:pPr>
            <a:r>
              <a:rPr lang="en-US" sz="1200" b="1" dirty="0">
                <a:solidFill>
                  <a:srgbClr val="141A24"/>
                </a:solidFill>
                <a:latin typeface="Calibri" pitchFamily="34" charset="0"/>
                <a:ea typeface="Calibri" pitchFamily="34" charset="-122"/>
                <a:cs typeface="Calibri" pitchFamily="34" charset="-120"/>
              </a:rPr>
              <a:t>It is failing to evict. This is a purchase decision, and no classical policy makes one at all.</a:t>
            </a:r>
            <a:endParaRPr lang="en-US" sz="1200" dirty="0"/>
          </a:p>
        </p:txBody>
      </p:sp>
      <p:sp>
        <p:nvSpPr>
          <p:cNvPr id="15" name="Text 13"/>
          <p:cNvSpPr txBox="1"/>
          <p:nvPr/>
        </p:nvSpPr>
        <p:spPr>
          <a:xfrm>
            <a:off x="8321040" y="4864608"/>
            <a:ext cx="457200" cy="237744"/>
          </a:xfrm>
          <a:prstGeom prst="rect">
            <a:avLst/>
          </a:prstGeom>
          <a:noFill/>
          <a:ln/>
        </p:spPr>
        <p:txBody>
          <a:bodyPr wrap="square" lIns="0" tIns="0" rIns="0" bIns="0" rtlCol="0" anchor="ctr"/>
          <a:lstStyle/>
          <a:p>
            <a:pPr algn="r" indent="0" marL="0">
              <a:buNone/>
            </a:pPr>
            <a:r>
              <a:rPr lang="en-US" sz="1000" dirty="0">
                <a:solidFill>
                  <a:srgbClr val="6B7C8C"/>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1A24"/>
        </a:solidFill>
      </p:bgPr>
    </p:bg>
    <p:spTree>
      <p:nvGrpSpPr>
        <p:cNvPr id="1" name=""/>
        <p:cNvGrpSpPr/>
        <p:nvPr/>
      </p:nvGrpSpPr>
      <p:grpSpPr>
        <a:xfrm>
          <a:off x="0" y="0"/>
          <a:ext cx="0" cy="0"/>
          <a:chOff x="0" y="0"/>
          <a:chExt cx="0" cy="0"/>
        </a:xfrm>
      </p:grpSpPr>
      <p:sp>
        <p:nvSpPr>
          <p:cNvPr id="2" name="Text 0"/>
          <p:cNvSpPr txBox="1"/>
          <p:nvPr/>
        </p:nvSpPr>
        <p:spPr>
          <a:xfrm>
            <a:off x="640080" y="1325880"/>
            <a:ext cx="7863840" cy="256032"/>
          </a:xfrm>
          <a:prstGeom prst="rect">
            <a:avLst/>
          </a:prstGeom>
          <a:noFill/>
          <a:ln/>
        </p:spPr>
        <p:txBody>
          <a:bodyPr wrap="square" lIns="0" tIns="0" rIns="0" bIns="0" rtlCol="0" anchor="ctr"/>
          <a:lstStyle/>
          <a:p>
            <a:pPr indent="0" marL="0">
              <a:buNone/>
            </a:pPr>
            <a:r>
              <a:rPr lang="en-US" sz="1100" b="1" spc="200" kern="0" dirty="0">
                <a:solidFill>
                  <a:srgbClr val="1B9C86"/>
                </a:solidFill>
                <a:latin typeface="Calibri" pitchFamily="34" charset="0"/>
                <a:ea typeface="Calibri" pitchFamily="34" charset="-122"/>
                <a:cs typeface="Calibri" pitchFamily="34" charset="-120"/>
              </a:rPr>
              <a:t>ACT FIVE</a:t>
            </a:r>
            <a:endParaRPr lang="en-US" sz="1100" dirty="0"/>
          </a:p>
        </p:txBody>
      </p:sp>
      <p:sp>
        <p:nvSpPr>
          <p:cNvPr id="3" name="Text 1"/>
          <p:cNvSpPr txBox="1"/>
          <p:nvPr/>
        </p:nvSpPr>
        <p:spPr>
          <a:xfrm>
            <a:off x="640080" y="1691640"/>
            <a:ext cx="7863840" cy="1371600"/>
          </a:xfrm>
          <a:prstGeom prst="rect">
            <a:avLst/>
          </a:prstGeom>
          <a:noFill/>
          <a:ln/>
        </p:spPr>
        <p:txBody>
          <a:bodyPr wrap="square" lIns="0" tIns="0" rIns="0" bIns="0" rtlCol="0" anchor="ctr"/>
          <a:lstStyle/>
          <a:p>
            <a:pPr indent="0" marL="0">
              <a:lnSpc>
                <a:spcPts val="4600"/>
              </a:lnSpc>
              <a:buNone/>
            </a:pPr>
            <a:r>
              <a:rPr lang="en-US" sz="3800" b="1" dirty="0">
                <a:solidFill>
                  <a:srgbClr val="FFFFFF"/>
                </a:solidFill>
                <a:latin typeface="Cambria" pitchFamily="34" charset="0"/>
                <a:ea typeface="Cambria" pitchFamily="34" charset="-122"/>
                <a:cs typeface="Cambria" pitchFamily="34" charset="-120"/>
              </a:rPr>
              <a:t>What is actually</a:t>
            </a:r>
            <a:endParaRPr lang="en-US" sz="3800" dirty="0"/>
          </a:p>
          <a:p>
            <a:pPr indent="0" marL="0">
              <a:lnSpc>
                <a:spcPts val="4600"/>
              </a:lnSpc>
              <a:buNone/>
            </a:pPr>
            <a:r>
              <a:rPr lang="en-US" sz="3800" b="1" dirty="0">
                <a:solidFill>
                  <a:srgbClr val="FFFFFF"/>
                </a:solidFill>
                <a:latin typeface="Cambria" pitchFamily="34" charset="0"/>
                <a:ea typeface="Cambria" pitchFamily="34" charset="-122"/>
                <a:cs typeface="Cambria" pitchFamily="34" charset="-120"/>
              </a:rPr>
              <a:t>running?</a:t>
            </a:r>
            <a:endParaRPr lang="en-US" sz="3800" dirty="0"/>
          </a:p>
        </p:txBody>
      </p:sp>
      <p:sp>
        <p:nvSpPr>
          <p:cNvPr id="4" name="Text 2"/>
          <p:cNvSpPr txBox="1"/>
          <p:nvPr/>
        </p:nvSpPr>
        <p:spPr>
          <a:xfrm>
            <a:off x="658368" y="3310128"/>
            <a:ext cx="6949440" cy="548640"/>
          </a:xfrm>
          <a:prstGeom prst="rect">
            <a:avLst/>
          </a:prstGeom>
          <a:noFill/>
          <a:ln/>
        </p:spPr>
        <p:txBody>
          <a:bodyPr wrap="square" lIns="0" tIns="0" rIns="0" bIns="0" rtlCol="0" anchor="ctr"/>
          <a:lstStyle/>
          <a:p>
            <a:pPr indent="0" marL="0">
              <a:lnSpc>
                <a:spcPts val="1900"/>
              </a:lnSpc>
              <a:buNone/>
            </a:pPr>
            <a:r>
              <a:rPr lang="en-US" sz="1250" dirty="0">
                <a:solidFill>
                  <a:srgbClr val="9AAAB8"/>
                </a:solidFill>
                <a:latin typeface="Calibri" pitchFamily="34" charset="0"/>
                <a:ea typeface="Calibri" pitchFamily="34" charset="-122"/>
                <a:cs typeface="Calibri" pitchFamily="34" charset="-120"/>
              </a:rPr>
              <a:t>What is wired, what the charts prove while you watch, and what we would not claim.</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ctr"/>
          <a:lstStyle/>
          <a:p>
            <a:pPr indent="0" marL="0">
              <a:buNone/>
            </a:pPr>
            <a:r>
              <a:rPr lang="en-US" sz="1100" b="1" spc="200" kern="0" dirty="0">
                <a:solidFill>
                  <a:srgbClr val="1B9C86"/>
                </a:solidFill>
                <a:latin typeface="Calibri" pitchFamily="34" charset="0"/>
                <a:ea typeface="Calibri" pitchFamily="34" charset="-122"/>
                <a:cs typeface="Calibri" pitchFamily="34" charset="-120"/>
              </a:rPr>
              <a:t>TWO TIERS</a:t>
            </a:r>
            <a:endParaRPr lang="en-US" sz="1100" dirty="0"/>
          </a:p>
        </p:txBody>
      </p:sp>
      <p:sp>
        <p:nvSpPr>
          <p:cNvPr id="3" name="Text 1"/>
          <p:cNvSpPr txBox="1"/>
          <p:nvPr/>
        </p:nvSpPr>
        <p:spPr>
          <a:xfrm>
            <a:off x="548640" y="658368"/>
            <a:ext cx="8229600" cy="731520"/>
          </a:xfrm>
          <a:prstGeom prst="rect">
            <a:avLst/>
          </a:prstGeom>
          <a:noFill/>
          <a:ln/>
        </p:spPr>
        <p:txBody>
          <a:bodyPr wrap="square" lIns="0" tIns="0" rIns="0" bIns="0" rtlCol="0" anchor="t"/>
          <a:lstStyle/>
          <a:p>
            <a:pPr indent="0" marL="0">
              <a:buNone/>
            </a:pPr>
            <a:r>
              <a:rPr lang="en-US" sz="2300" b="1" dirty="0">
                <a:solidFill>
                  <a:srgbClr val="141A24"/>
                </a:solidFill>
                <a:latin typeface="Cambria" pitchFamily="34" charset="0"/>
                <a:ea typeface="Cambria" pitchFamily="34" charset="-122"/>
                <a:cs typeface="Cambria" pitchFamily="34" charset="-120"/>
              </a:rPr>
              <a:t>A request served locally never reaches the engine at all</a:t>
            </a:r>
            <a:endParaRPr lang="en-US" sz="2300" dirty="0"/>
          </a:p>
        </p:txBody>
      </p:sp>
      <p:sp>
        <p:nvSpPr>
          <p:cNvPr id="4" name="Shape 2"/>
          <p:cNvSpPr/>
          <p:nvPr/>
        </p:nvSpPr>
        <p:spPr>
          <a:xfrm>
            <a:off x="548640" y="1325880"/>
            <a:ext cx="2377440" cy="731520"/>
          </a:xfrm>
          <a:prstGeom prst="roundRect">
            <a:avLst>
              <a:gd name="adj" fmla="val 7500"/>
            </a:avLst>
          </a:prstGeom>
          <a:solidFill>
            <a:srgbClr val="1E2933"/>
          </a:solidFill>
          <a:ln w="12700">
            <a:solidFill>
              <a:srgbClr val="1E2933"/>
            </a:solidFill>
            <a:prstDash val="solid"/>
          </a:ln>
        </p:spPr>
      </p:sp>
      <p:sp>
        <p:nvSpPr>
          <p:cNvPr id="5" name="Text 3"/>
          <p:cNvSpPr txBox="1"/>
          <p:nvPr/>
        </p:nvSpPr>
        <p:spPr>
          <a:xfrm>
            <a:off x="548640" y="1325880"/>
            <a:ext cx="2377440" cy="7315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Application</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 L1</a:t>
            </a:r>
            <a:endParaRPr lang="en-US" sz="1100" dirty="0"/>
          </a:p>
        </p:txBody>
      </p:sp>
      <p:sp>
        <p:nvSpPr>
          <p:cNvPr id="6" name="Shape 4"/>
          <p:cNvSpPr/>
          <p:nvPr/>
        </p:nvSpPr>
        <p:spPr>
          <a:xfrm>
            <a:off x="2999232" y="1581912"/>
            <a:ext cx="310896" cy="219456"/>
          </a:xfrm>
          <a:prstGeom prst="rightArrow">
            <a:avLst/>
          </a:prstGeom>
          <a:solidFill>
            <a:srgbClr val="D8DFE6"/>
          </a:solidFill>
          <a:ln w="12700">
            <a:solidFill>
              <a:srgbClr val="D8DFE6"/>
            </a:solidFill>
            <a:prstDash val="solid"/>
          </a:ln>
        </p:spPr>
      </p:sp>
      <p:sp>
        <p:nvSpPr>
          <p:cNvPr id="7" name="Shape 5"/>
          <p:cNvSpPr/>
          <p:nvPr/>
        </p:nvSpPr>
        <p:spPr>
          <a:xfrm>
            <a:off x="3383280" y="1325880"/>
            <a:ext cx="2377440" cy="731520"/>
          </a:xfrm>
          <a:prstGeom prst="roundRect">
            <a:avLst>
              <a:gd name="adj" fmla="val 7500"/>
            </a:avLst>
          </a:prstGeom>
          <a:solidFill>
            <a:srgbClr val="1B9C86"/>
          </a:solidFill>
          <a:ln w="12700">
            <a:solidFill>
              <a:srgbClr val="1B9C86"/>
            </a:solidFill>
            <a:prstDash val="solid"/>
          </a:ln>
        </p:spPr>
      </p:sp>
      <p:sp>
        <p:nvSpPr>
          <p:cNvPr id="8" name="Text 6"/>
          <p:cNvSpPr txBox="1"/>
          <p:nvPr/>
        </p:nvSpPr>
        <p:spPr>
          <a:xfrm>
            <a:off x="3383280" y="1325880"/>
            <a:ext cx="2377440" cy="7315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AURA engine</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L2</a:t>
            </a:r>
            <a:endParaRPr lang="en-US" sz="1100" dirty="0"/>
          </a:p>
        </p:txBody>
      </p:sp>
      <p:sp>
        <p:nvSpPr>
          <p:cNvPr id="9" name="Shape 7"/>
          <p:cNvSpPr/>
          <p:nvPr/>
        </p:nvSpPr>
        <p:spPr>
          <a:xfrm>
            <a:off x="5833872" y="1581912"/>
            <a:ext cx="310896" cy="219456"/>
          </a:xfrm>
          <a:prstGeom prst="rightArrow">
            <a:avLst/>
          </a:prstGeom>
          <a:solidFill>
            <a:srgbClr val="D8DFE6"/>
          </a:solidFill>
          <a:ln w="12700">
            <a:solidFill>
              <a:srgbClr val="D8DFE6"/>
            </a:solidFill>
            <a:prstDash val="solid"/>
          </a:ln>
        </p:spPr>
      </p:sp>
      <p:sp>
        <p:nvSpPr>
          <p:cNvPr id="10" name="Shape 8"/>
          <p:cNvSpPr/>
          <p:nvPr/>
        </p:nvSpPr>
        <p:spPr>
          <a:xfrm>
            <a:off x="6217920" y="1325880"/>
            <a:ext cx="2377440" cy="731520"/>
          </a:xfrm>
          <a:prstGeom prst="roundRect">
            <a:avLst>
              <a:gd name="adj" fmla="val 7500"/>
            </a:avLst>
          </a:prstGeom>
          <a:solidFill>
            <a:srgbClr val="6B7C8C"/>
          </a:solidFill>
          <a:ln w="12700">
            <a:solidFill>
              <a:srgbClr val="6B7C8C"/>
            </a:solidFill>
            <a:prstDash val="solid"/>
          </a:ln>
        </p:spPr>
      </p:sp>
      <p:sp>
        <p:nvSpPr>
          <p:cNvPr id="11" name="Text 9"/>
          <p:cNvSpPr txBox="1"/>
          <p:nvPr/>
        </p:nvSpPr>
        <p:spPr>
          <a:xfrm>
            <a:off x="6217920" y="1325880"/>
            <a:ext cx="2377440" cy="7315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Origin</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Postgres / GPU / API</a:t>
            </a:r>
            <a:endParaRPr lang="en-US" sz="1100" dirty="0"/>
          </a:p>
        </p:txBody>
      </p:sp>
      <p:sp>
        <p:nvSpPr>
          <p:cNvPr id="12" name="Text 10"/>
          <p:cNvSpPr txBox="1"/>
          <p:nvPr/>
        </p:nvSpPr>
        <p:spPr>
          <a:xfrm>
            <a:off x="548640" y="2130552"/>
            <a:ext cx="8046720" cy="256032"/>
          </a:xfrm>
          <a:prstGeom prst="rect">
            <a:avLst/>
          </a:prstGeom>
          <a:noFill/>
          <a:ln/>
        </p:spPr>
        <p:txBody>
          <a:bodyPr wrap="square" lIns="0" tIns="0" rIns="0" bIns="0" rtlCol="0" anchor="ctr"/>
          <a:lstStyle/>
          <a:p>
            <a:pPr indent="0" marL="0">
              <a:buNone/>
            </a:pPr>
            <a:r>
              <a:rPr lang="en-US" sz="1050" i="1" dirty="0">
                <a:solidFill>
                  <a:srgbClr val="1B9C86"/>
                </a:solidFill>
                <a:latin typeface="Calibri" pitchFamily="34" charset="0"/>
                <a:ea typeface="Calibri" pitchFamily="34" charset="-122"/>
                <a:cs typeface="Calibri" pitchFamily="34" charset="-120"/>
              </a:rPr>
              <a:t>L1 counters posted back to the engine every 5 s — a local hit is otherwise invisible to it</a:t>
            </a:r>
            <a:endParaRPr lang="en-US" sz="1050" dirty="0"/>
          </a:p>
        </p:txBody>
      </p:sp>
      <p:sp>
        <p:nvSpPr>
          <p:cNvPr id="13" name="Shape 11"/>
          <p:cNvSpPr/>
          <p:nvPr/>
        </p:nvSpPr>
        <p:spPr>
          <a:xfrm>
            <a:off x="548640" y="2487168"/>
            <a:ext cx="3931920" cy="1188720"/>
          </a:xfrm>
          <a:prstGeom prst="roundRect">
            <a:avLst>
              <a:gd name="adj" fmla="val 4615"/>
            </a:avLst>
          </a:prstGeom>
          <a:solidFill>
            <a:srgbClr val="F1F4F7"/>
          </a:solidFill>
          <a:ln w="12700">
            <a:solidFill>
              <a:srgbClr val="F1F4F7"/>
            </a:solidFill>
            <a:prstDash val="solid"/>
          </a:ln>
          <a:effectLst>
            <a:outerShdw sx="100000" sy="100000" kx="0" ky="0" algn="bl" rotWithShape="0" blurRad="101600" dist="12700" dir="5400000">
              <a:srgbClr val="8CA0B3">
                <a:alpha val="10000"/>
              </a:srgbClr>
            </a:outerShdw>
          </a:effectLst>
        </p:spPr>
      </p:sp>
      <p:sp>
        <p:nvSpPr>
          <p:cNvPr id="14" name="Text 12"/>
          <p:cNvSpPr txBox="1"/>
          <p:nvPr/>
        </p:nvSpPr>
        <p:spPr>
          <a:xfrm>
            <a:off x="804672" y="2596896"/>
            <a:ext cx="3474720" cy="237744"/>
          </a:xfrm>
          <a:prstGeom prst="rect">
            <a:avLst/>
          </a:prstGeom>
          <a:noFill/>
          <a:ln/>
        </p:spPr>
        <p:txBody>
          <a:bodyPr wrap="square" lIns="0" tIns="0" rIns="0" bIns="0" rtlCol="0" anchor="ctr"/>
          <a:lstStyle/>
          <a:p>
            <a:pPr indent="0" marL="0">
              <a:buNone/>
            </a:pPr>
            <a:r>
              <a:rPr lang="en-US" sz="1150" b="1" dirty="0">
                <a:solidFill>
                  <a:srgbClr val="141A24"/>
                </a:solidFill>
                <a:latin typeface="Calibri" pitchFamily="34" charset="0"/>
                <a:ea typeface="Calibri" pitchFamily="34" charset="-122"/>
                <a:cs typeface="Calibri" pitchFamily="34" charset="-120"/>
              </a:rPr>
              <a:t>L1 — in every application process</a:t>
            </a:r>
            <a:endParaRPr lang="en-US" sz="1150" dirty="0"/>
          </a:p>
        </p:txBody>
      </p:sp>
      <p:sp>
        <p:nvSpPr>
          <p:cNvPr id="15" name="Text 13"/>
          <p:cNvSpPr txBox="1"/>
          <p:nvPr/>
        </p:nvSpPr>
        <p:spPr>
          <a:xfrm>
            <a:off x="804672" y="2852928"/>
            <a:ext cx="3474720" cy="731520"/>
          </a:xfrm>
          <a:prstGeom prst="rect">
            <a:avLst/>
          </a:prstGeom>
          <a:noFill/>
          <a:ln/>
        </p:spPr>
        <p:txBody>
          <a:bodyPr wrap="square" lIns="0" tIns="0" rIns="0" bIns="0" rtlCol="0" anchor="ctr"/>
          <a:lstStyle/>
          <a:p>
            <a:pPr indent="0" marL="0">
              <a:lnSpc>
                <a:spcPts val="1300"/>
              </a:lnSpc>
              <a:buNone/>
            </a:pPr>
            <a:r>
              <a:rPr lang="en-US" sz="1000" dirty="0">
                <a:solidFill>
                  <a:srgbClr val="31404E"/>
                </a:solidFill>
                <a:latin typeface="Calibri" pitchFamily="34" charset="0"/>
                <a:ea typeface="Calibri" pitchFamily="34" charset="-122"/>
                <a:cs typeface="Calibri" pitchFamily="34" charset="-120"/>
              </a:rPr>
              <a:t>A byte-capped LRU with a TTL ceiling of 5 seconds and no scoring at all. What it removes is a network round trip.</a:t>
            </a:r>
            <a:endParaRPr lang="en-US" sz="1000" dirty="0"/>
          </a:p>
        </p:txBody>
      </p:sp>
      <p:sp>
        <p:nvSpPr>
          <p:cNvPr id="16" name="Shape 14"/>
          <p:cNvSpPr/>
          <p:nvPr/>
        </p:nvSpPr>
        <p:spPr>
          <a:xfrm>
            <a:off x="4663440" y="2487168"/>
            <a:ext cx="3931920" cy="1188720"/>
          </a:xfrm>
          <a:prstGeom prst="roundRect">
            <a:avLst>
              <a:gd name="adj" fmla="val 4615"/>
            </a:avLst>
          </a:prstGeom>
          <a:solidFill>
            <a:srgbClr val="D9F0EB"/>
          </a:solidFill>
          <a:ln w="12700">
            <a:solidFill>
              <a:srgbClr val="D9F0EB"/>
            </a:solidFill>
            <a:prstDash val="solid"/>
          </a:ln>
          <a:effectLst>
            <a:outerShdw sx="100000" sy="100000" kx="0" ky="0" algn="bl" rotWithShape="0" blurRad="101600" dist="12700" dir="5400000">
              <a:srgbClr val="8CA0B3">
                <a:alpha val="10000"/>
              </a:srgbClr>
            </a:outerShdw>
          </a:effectLst>
        </p:spPr>
      </p:sp>
      <p:sp>
        <p:nvSpPr>
          <p:cNvPr id="17" name="Text 15"/>
          <p:cNvSpPr txBox="1"/>
          <p:nvPr/>
        </p:nvSpPr>
        <p:spPr>
          <a:xfrm>
            <a:off x="4919472" y="2596896"/>
            <a:ext cx="3474720" cy="237744"/>
          </a:xfrm>
          <a:prstGeom prst="rect">
            <a:avLst/>
          </a:prstGeom>
          <a:noFill/>
          <a:ln/>
        </p:spPr>
        <p:txBody>
          <a:bodyPr wrap="square" lIns="0" tIns="0" rIns="0" bIns="0" rtlCol="0" anchor="ctr"/>
          <a:lstStyle/>
          <a:p>
            <a:pPr indent="0" marL="0">
              <a:buNone/>
            </a:pPr>
            <a:r>
              <a:rPr lang="en-US" sz="1150" b="1" dirty="0">
                <a:solidFill>
                  <a:srgbClr val="1B9C86"/>
                </a:solidFill>
                <a:latin typeface="Calibri" pitchFamily="34" charset="0"/>
                <a:ea typeface="Calibri" pitchFamily="34" charset="-122"/>
                <a:cs typeface="Calibri" pitchFamily="34" charset="-120"/>
              </a:rPr>
              <a:t>L2 — the engine, shared by the fleet</a:t>
            </a:r>
            <a:endParaRPr lang="en-US" sz="1150" dirty="0"/>
          </a:p>
        </p:txBody>
      </p:sp>
      <p:sp>
        <p:nvSpPr>
          <p:cNvPr id="18" name="Text 16"/>
          <p:cNvSpPr txBox="1"/>
          <p:nvPr/>
        </p:nvSpPr>
        <p:spPr>
          <a:xfrm>
            <a:off x="4919472" y="2852928"/>
            <a:ext cx="3474720" cy="731520"/>
          </a:xfrm>
          <a:prstGeom prst="rect">
            <a:avLst/>
          </a:prstGeom>
          <a:noFill/>
          <a:ln/>
        </p:spPr>
        <p:txBody>
          <a:bodyPr wrap="square" lIns="0" tIns="0" rIns="0" bIns="0" rtlCol="0" anchor="ctr"/>
          <a:lstStyle/>
          <a:p>
            <a:pPr indent="0" marL="0">
              <a:lnSpc>
                <a:spcPts val="1300"/>
              </a:lnSpc>
              <a:buNone/>
            </a:pPr>
            <a:r>
              <a:rPr lang="en-US" sz="1000" dirty="0">
                <a:solidFill>
                  <a:srgbClr val="31404E"/>
                </a:solidFill>
                <a:latin typeface="Calibri" pitchFamily="34" charset="0"/>
                <a:ea typeface="Calibri" pitchFamily="34" charset="-122"/>
                <a:cs typeface="Calibri" pitchFamily="34" charset="-120"/>
              </a:rPr>
              <a:t>What it removes is a rebuild, and it protects the origin across every process. Only L2 sees the whole fleet’s demand, so only L2 reasons about value.</a:t>
            </a:r>
            <a:endParaRPr lang="en-US" sz="1000" dirty="0"/>
          </a:p>
        </p:txBody>
      </p:sp>
      <p:sp>
        <p:nvSpPr>
          <p:cNvPr id="19" name="Text 17"/>
          <p:cNvSpPr txBox="1"/>
          <p:nvPr/>
        </p:nvSpPr>
        <p:spPr>
          <a:xfrm>
            <a:off x="548640" y="3794760"/>
            <a:ext cx="8046720" cy="502920"/>
          </a:xfrm>
          <a:prstGeom prst="rect">
            <a:avLst/>
          </a:prstGeom>
          <a:noFill/>
          <a:ln/>
        </p:spPr>
        <p:txBody>
          <a:bodyPr wrap="square" lIns="0" tIns="0" rIns="0" bIns="0" rtlCol="0" anchor="ctr"/>
          <a:lstStyle/>
          <a:p>
            <a:pPr indent="0" marL="0">
              <a:lnSpc>
                <a:spcPts val="1500"/>
              </a:lnSpc>
              <a:buNone/>
            </a:pPr>
            <a:r>
              <a:rPr lang="en-US" sz="1100" dirty="0">
                <a:solidFill>
                  <a:srgbClr val="31404E"/>
                </a:solidFill>
                <a:latin typeface="Calibri" pitchFamily="34" charset="0"/>
                <a:ea typeface="Calibri" pitchFamily="34" charset="-122"/>
                <a:cs typeface="Calibri" pitchFamily="34" charset="-120"/>
              </a:rPr>
              <a:t>write_bound objects — a price, a balance, a permission — never enter L1. Invalidating L2 is one message to one service; invalidating L1 means reaching every process that might hold a copy.</a:t>
            </a:r>
            <a:endParaRPr lang="en-US" sz="1100" dirty="0"/>
          </a:p>
        </p:txBody>
      </p:sp>
      <p:sp>
        <p:nvSpPr>
          <p:cNvPr id="20" name="Text 18"/>
          <p:cNvSpPr txBox="1"/>
          <p:nvPr/>
        </p:nvSpPr>
        <p:spPr>
          <a:xfrm>
            <a:off x="548640" y="4370832"/>
            <a:ext cx="7680960" cy="457200"/>
          </a:xfrm>
          <a:prstGeom prst="rect">
            <a:avLst/>
          </a:prstGeom>
          <a:noFill/>
          <a:ln/>
        </p:spPr>
        <p:txBody>
          <a:bodyPr wrap="square" lIns="0" tIns="0" rIns="0" bIns="0" rtlCol="0" anchor="ctr"/>
          <a:lstStyle/>
          <a:p>
            <a:pPr indent="0" marL="0">
              <a:lnSpc>
                <a:spcPts val="1500"/>
              </a:lnSpc>
              <a:buNone/>
            </a:pPr>
            <a:r>
              <a:rPr lang="en-US" sz="1100" i="1" dirty="0">
                <a:solidFill>
                  <a:srgbClr val="6B7C8C"/>
                </a:solidFill>
                <a:latin typeface="Calibri" pitchFamily="34" charset="0"/>
                <a:ea typeface="Calibri" pitchFamily="34" charset="-122"/>
                <a:cs typeface="Calibri" pitchFamily="34" charset="-120"/>
              </a:rPr>
              <a:t>L1 does no scoring on purpose: two adaptive policies competing over the same objects would make every measurement ambiguous.</a:t>
            </a:r>
            <a:endParaRPr lang="en-US" sz="1100" dirty="0"/>
          </a:p>
        </p:txBody>
      </p:sp>
      <p:sp>
        <p:nvSpPr>
          <p:cNvPr id="21" name="Text 19"/>
          <p:cNvSpPr txBox="1"/>
          <p:nvPr/>
        </p:nvSpPr>
        <p:spPr>
          <a:xfrm>
            <a:off x="8321040" y="4864608"/>
            <a:ext cx="457200" cy="237744"/>
          </a:xfrm>
          <a:prstGeom prst="rect">
            <a:avLst/>
          </a:prstGeom>
          <a:noFill/>
          <a:ln/>
        </p:spPr>
        <p:txBody>
          <a:bodyPr wrap="square" lIns="0" tIns="0" rIns="0" bIns="0" rtlCol="0" anchor="ctr"/>
          <a:lstStyle/>
          <a:p>
            <a:pPr algn="r" indent="0" marL="0">
              <a:buNone/>
            </a:pPr>
            <a:r>
              <a:rPr lang="en-US" sz="1000" dirty="0">
                <a:solidFill>
                  <a:srgbClr val="6B7C8C"/>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ctr"/>
          <a:lstStyle/>
          <a:p>
            <a:pPr indent="0" marL="0">
              <a:buNone/>
            </a:pPr>
            <a:r>
              <a:rPr lang="en-US" sz="1100" b="1" spc="200" kern="0" dirty="0">
                <a:solidFill>
                  <a:srgbClr val="1B9C86"/>
                </a:solidFill>
                <a:latin typeface="Calibri" pitchFamily="34" charset="0"/>
                <a:ea typeface="Calibri" pitchFamily="34" charset="-122"/>
                <a:cs typeface="Calibri" pitchFamily="34" charset="-120"/>
              </a:rPr>
              <a:t>THE PROOF</a:t>
            </a:r>
            <a:endParaRPr lang="en-US" sz="1100" dirty="0"/>
          </a:p>
        </p:txBody>
      </p:sp>
      <p:sp>
        <p:nvSpPr>
          <p:cNvPr id="3" name="Text 1"/>
          <p:cNvSpPr txBox="1"/>
          <p:nvPr/>
        </p:nvSpPr>
        <p:spPr>
          <a:xfrm>
            <a:off x="548640" y="658368"/>
            <a:ext cx="8229600" cy="731520"/>
          </a:xfrm>
          <a:prstGeom prst="rect">
            <a:avLst/>
          </a:prstGeom>
          <a:noFill/>
          <a:ln/>
        </p:spPr>
        <p:txBody>
          <a:bodyPr wrap="square" lIns="0" tIns="0" rIns="0" bIns="0" rtlCol="0" anchor="t"/>
          <a:lstStyle/>
          <a:p>
            <a:pPr indent="0" marL="0">
              <a:buNone/>
            </a:pPr>
            <a:r>
              <a:rPr lang="en-US" sz="2700" b="1" dirty="0">
                <a:solidFill>
                  <a:srgbClr val="141A24"/>
                </a:solidFill>
                <a:latin typeface="Cambria" pitchFamily="34" charset="0"/>
                <a:ea typeface="Cambria" pitchFamily="34" charset="-122"/>
                <a:cs typeface="Cambria" pitchFamily="34" charset="-120"/>
              </a:rPr>
              <a:t>One stream, ten policies, identical prices</a:t>
            </a:r>
            <a:endParaRPr lang="en-US" sz="2700" dirty="0"/>
          </a:p>
        </p:txBody>
      </p:sp>
      <p:graphicFrame>
        <p:nvGraphicFramePr>
          <p:cNvPr id="4" name="Chart 0" descr=""/>
          <p:cNvGraphicFramePr/>
          <p:nvPr/>
        </p:nvGraphicFramePr>
        <p:xfrm>
          <a:off x="502920" y="1298448"/>
          <a:ext cx="5029200" cy="32004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715000" y="1371600"/>
            <a:ext cx="2926080" cy="256032"/>
          </a:xfrm>
          <a:prstGeom prst="rect">
            <a:avLst/>
          </a:prstGeom>
          <a:noFill/>
          <a:ln/>
        </p:spPr>
        <p:txBody>
          <a:bodyPr wrap="square" lIns="0" tIns="0" rIns="0" bIns="0" rtlCol="0" anchor="ctr"/>
          <a:lstStyle/>
          <a:p>
            <a:pPr indent="0" marL="0">
              <a:buNone/>
            </a:pPr>
            <a:r>
              <a:rPr lang="en-US" sz="1100" b="1" dirty="0">
                <a:solidFill>
                  <a:srgbClr val="141A24"/>
                </a:solidFill>
                <a:latin typeface="Calibri" pitchFamily="34" charset="0"/>
                <a:ea typeface="Calibri" pitchFamily="34" charset="-122"/>
                <a:cs typeface="Calibri" pitchFamily="34" charset="-120"/>
              </a:rPr>
              <a:t>Cost against the strongest baseline, per scenario</a:t>
            </a:r>
            <a:endParaRPr lang="en-US" sz="1100" dirty="0"/>
          </a:p>
        </p:txBody>
      </p:sp>
      <p:sp>
        <p:nvSpPr>
          <p:cNvPr id="6" name="Text 3"/>
          <p:cNvSpPr txBox="1"/>
          <p:nvPr/>
        </p:nvSpPr>
        <p:spPr>
          <a:xfrm>
            <a:off x="5715000" y="1719072"/>
            <a:ext cx="2011680" cy="256032"/>
          </a:xfrm>
          <a:prstGeom prst="rect">
            <a:avLst/>
          </a:prstGeom>
          <a:noFill/>
          <a:ln/>
        </p:spPr>
        <p:txBody>
          <a:bodyPr wrap="square" lIns="0" tIns="0" rIns="0" bIns="0" rtlCol="0" anchor="ctr"/>
          <a:lstStyle/>
          <a:p>
            <a:pPr indent="0" marL="0">
              <a:buNone/>
            </a:pPr>
            <a:r>
              <a:rPr lang="en-US" sz="1000" dirty="0">
                <a:solidFill>
                  <a:srgbClr val="31404E"/>
                </a:solidFill>
                <a:latin typeface="Calibri" pitchFamily="34" charset="0"/>
                <a:ea typeface="Calibri" pitchFamily="34" charset="-122"/>
                <a:cs typeface="Calibri" pitchFamily="34" charset="-120"/>
              </a:rPr>
              <a:t>steady_zipf</a:t>
            </a:r>
            <a:endParaRPr lang="en-US" sz="1000" dirty="0"/>
          </a:p>
        </p:txBody>
      </p:sp>
      <p:sp>
        <p:nvSpPr>
          <p:cNvPr id="7" name="Text 4"/>
          <p:cNvSpPr txBox="1"/>
          <p:nvPr/>
        </p:nvSpPr>
        <p:spPr>
          <a:xfrm>
            <a:off x="7772400" y="1719072"/>
            <a:ext cx="822960" cy="256032"/>
          </a:xfrm>
          <a:prstGeom prst="rect">
            <a:avLst/>
          </a:prstGeom>
          <a:noFill/>
          <a:ln/>
        </p:spPr>
        <p:txBody>
          <a:bodyPr wrap="square" lIns="0" tIns="0" rIns="0" bIns="0" rtlCol="0" anchor="ctr"/>
          <a:lstStyle/>
          <a:p>
            <a:pPr algn="r" indent="0" marL="0">
              <a:buNone/>
            </a:pPr>
            <a:r>
              <a:rPr lang="en-US" sz="1050" b="1" dirty="0">
                <a:solidFill>
                  <a:srgbClr val="1B9C86"/>
                </a:solidFill>
                <a:latin typeface="Calibri" pitchFamily="34" charset="0"/>
                <a:ea typeface="Calibri" pitchFamily="34" charset="-122"/>
                <a:cs typeface="Calibri" pitchFamily="34" charset="-120"/>
              </a:rPr>
              <a:t>+22.0%</a:t>
            </a:r>
            <a:endParaRPr lang="en-US" sz="1050" dirty="0"/>
          </a:p>
        </p:txBody>
      </p:sp>
      <p:sp>
        <p:nvSpPr>
          <p:cNvPr id="8" name="Text 5"/>
          <p:cNvSpPr txBox="1"/>
          <p:nvPr/>
        </p:nvSpPr>
        <p:spPr>
          <a:xfrm>
            <a:off x="5715000" y="2048256"/>
            <a:ext cx="2011680" cy="256032"/>
          </a:xfrm>
          <a:prstGeom prst="rect">
            <a:avLst/>
          </a:prstGeom>
          <a:noFill/>
          <a:ln/>
        </p:spPr>
        <p:txBody>
          <a:bodyPr wrap="square" lIns="0" tIns="0" rIns="0" bIns="0" rtlCol="0" anchor="ctr"/>
          <a:lstStyle/>
          <a:p>
            <a:pPr indent="0" marL="0">
              <a:buNone/>
            </a:pPr>
            <a:r>
              <a:rPr lang="en-US" sz="1000" dirty="0">
                <a:solidFill>
                  <a:srgbClr val="31404E"/>
                </a:solidFill>
                <a:latin typeface="Calibri" pitchFamily="34" charset="0"/>
                <a:ea typeface="Calibri" pitchFamily="34" charset="-122"/>
                <a:cs typeface="Calibri" pitchFamily="34" charset="-120"/>
              </a:rPr>
              <a:t>flash_crowd</a:t>
            </a:r>
            <a:endParaRPr lang="en-US" sz="1000" dirty="0"/>
          </a:p>
        </p:txBody>
      </p:sp>
      <p:sp>
        <p:nvSpPr>
          <p:cNvPr id="9" name="Text 6"/>
          <p:cNvSpPr txBox="1"/>
          <p:nvPr/>
        </p:nvSpPr>
        <p:spPr>
          <a:xfrm>
            <a:off x="7772400" y="2048256"/>
            <a:ext cx="822960" cy="256032"/>
          </a:xfrm>
          <a:prstGeom prst="rect">
            <a:avLst/>
          </a:prstGeom>
          <a:noFill/>
          <a:ln/>
        </p:spPr>
        <p:txBody>
          <a:bodyPr wrap="square" lIns="0" tIns="0" rIns="0" bIns="0" rtlCol="0" anchor="ctr"/>
          <a:lstStyle/>
          <a:p>
            <a:pPr algn="r" indent="0" marL="0">
              <a:buNone/>
            </a:pPr>
            <a:r>
              <a:rPr lang="en-US" sz="1050" b="1" dirty="0">
                <a:solidFill>
                  <a:srgbClr val="1B9C86"/>
                </a:solidFill>
                <a:latin typeface="Calibri" pitchFamily="34" charset="0"/>
                <a:ea typeface="Calibri" pitchFamily="34" charset="-122"/>
                <a:cs typeface="Calibri" pitchFamily="34" charset="-120"/>
              </a:rPr>
              <a:t>+15.2%</a:t>
            </a:r>
            <a:endParaRPr lang="en-US" sz="1050" dirty="0"/>
          </a:p>
        </p:txBody>
      </p:sp>
      <p:sp>
        <p:nvSpPr>
          <p:cNvPr id="10" name="Text 7"/>
          <p:cNvSpPr txBox="1"/>
          <p:nvPr/>
        </p:nvSpPr>
        <p:spPr>
          <a:xfrm>
            <a:off x="5715000" y="2377440"/>
            <a:ext cx="2011680" cy="256032"/>
          </a:xfrm>
          <a:prstGeom prst="rect">
            <a:avLst/>
          </a:prstGeom>
          <a:noFill/>
          <a:ln/>
        </p:spPr>
        <p:txBody>
          <a:bodyPr wrap="square" lIns="0" tIns="0" rIns="0" bIns="0" rtlCol="0" anchor="ctr"/>
          <a:lstStyle/>
          <a:p>
            <a:pPr indent="0" marL="0">
              <a:buNone/>
            </a:pPr>
            <a:r>
              <a:rPr lang="en-US" sz="1000" dirty="0">
                <a:solidFill>
                  <a:srgbClr val="31404E"/>
                </a:solidFill>
                <a:latin typeface="Calibri" pitchFamily="34" charset="0"/>
                <a:ea typeface="Calibri" pitchFamily="34" charset="-122"/>
                <a:cs typeface="Calibri" pitchFamily="34" charset="-120"/>
              </a:rPr>
              <a:t>shifting_popularity</a:t>
            </a:r>
            <a:endParaRPr lang="en-US" sz="1000" dirty="0"/>
          </a:p>
        </p:txBody>
      </p:sp>
      <p:sp>
        <p:nvSpPr>
          <p:cNvPr id="11" name="Text 8"/>
          <p:cNvSpPr txBox="1"/>
          <p:nvPr/>
        </p:nvSpPr>
        <p:spPr>
          <a:xfrm>
            <a:off x="7772400" y="2377440"/>
            <a:ext cx="822960" cy="256032"/>
          </a:xfrm>
          <a:prstGeom prst="rect">
            <a:avLst/>
          </a:prstGeom>
          <a:noFill/>
          <a:ln/>
        </p:spPr>
        <p:txBody>
          <a:bodyPr wrap="square" lIns="0" tIns="0" rIns="0" bIns="0" rtlCol="0" anchor="ctr"/>
          <a:lstStyle/>
          <a:p>
            <a:pPr algn="r" indent="0" marL="0">
              <a:buNone/>
            </a:pPr>
            <a:r>
              <a:rPr lang="en-US" sz="1050" b="1" dirty="0">
                <a:solidFill>
                  <a:srgbClr val="1B9C86"/>
                </a:solidFill>
                <a:latin typeface="Calibri" pitchFamily="34" charset="0"/>
                <a:ea typeface="Calibri" pitchFamily="34" charset="-122"/>
                <a:cs typeface="Calibri" pitchFamily="34" charset="-120"/>
              </a:rPr>
              <a:t>+6.0%</a:t>
            </a:r>
            <a:endParaRPr lang="en-US" sz="1050" dirty="0"/>
          </a:p>
        </p:txBody>
      </p:sp>
      <p:sp>
        <p:nvSpPr>
          <p:cNvPr id="12" name="Text 9"/>
          <p:cNvSpPr txBox="1"/>
          <p:nvPr/>
        </p:nvSpPr>
        <p:spPr>
          <a:xfrm>
            <a:off x="5715000" y="2706624"/>
            <a:ext cx="2011680" cy="256032"/>
          </a:xfrm>
          <a:prstGeom prst="rect">
            <a:avLst/>
          </a:prstGeom>
          <a:noFill/>
          <a:ln/>
        </p:spPr>
        <p:txBody>
          <a:bodyPr wrap="square" lIns="0" tIns="0" rIns="0" bIns="0" rtlCol="0" anchor="ctr"/>
          <a:lstStyle/>
          <a:p>
            <a:pPr indent="0" marL="0">
              <a:buNone/>
            </a:pPr>
            <a:r>
              <a:rPr lang="en-US" sz="1000" dirty="0">
                <a:solidFill>
                  <a:srgbClr val="31404E"/>
                </a:solidFill>
                <a:latin typeface="Calibri" pitchFamily="34" charset="0"/>
                <a:ea typeface="Calibri" pitchFamily="34" charset="-122"/>
                <a:cs typeface="Calibri" pitchFamily="34" charset="-120"/>
              </a:rPr>
              <a:t>expensive_tail</a:t>
            </a:r>
            <a:endParaRPr lang="en-US" sz="1000" dirty="0"/>
          </a:p>
        </p:txBody>
      </p:sp>
      <p:sp>
        <p:nvSpPr>
          <p:cNvPr id="13" name="Text 10"/>
          <p:cNvSpPr txBox="1"/>
          <p:nvPr/>
        </p:nvSpPr>
        <p:spPr>
          <a:xfrm>
            <a:off x="7772400" y="2706624"/>
            <a:ext cx="822960" cy="256032"/>
          </a:xfrm>
          <a:prstGeom prst="rect">
            <a:avLst/>
          </a:prstGeom>
          <a:noFill/>
          <a:ln/>
        </p:spPr>
        <p:txBody>
          <a:bodyPr wrap="square" lIns="0" tIns="0" rIns="0" bIns="0" rtlCol="0" anchor="ctr"/>
          <a:lstStyle/>
          <a:p>
            <a:pPr algn="r" indent="0" marL="0">
              <a:buNone/>
            </a:pPr>
            <a:r>
              <a:rPr lang="en-US" sz="1050" b="1" dirty="0">
                <a:solidFill>
                  <a:srgbClr val="1B9C86"/>
                </a:solidFill>
                <a:latin typeface="Calibri" pitchFamily="34" charset="0"/>
                <a:ea typeface="Calibri" pitchFamily="34" charset="-122"/>
                <a:cs typeface="Calibri" pitchFamily="34" charset="-120"/>
              </a:rPr>
              <a:t>+4.9%</a:t>
            </a:r>
            <a:endParaRPr lang="en-US" sz="1050" dirty="0"/>
          </a:p>
        </p:txBody>
      </p:sp>
      <p:sp>
        <p:nvSpPr>
          <p:cNvPr id="14" name="Text 11"/>
          <p:cNvSpPr txBox="1"/>
          <p:nvPr/>
        </p:nvSpPr>
        <p:spPr>
          <a:xfrm>
            <a:off x="5715000" y="3035808"/>
            <a:ext cx="2011680" cy="256032"/>
          </a:xfrm>
          <a:prstGeom prst="rect">
            <a:avLst/>
          </a:prstGeom>
          <a:noFill/>
          <a:ln/>
        </p:spPr>
        <p:txBody>
          <a:bodyPr wrap="square" lIns="0" tIns="0" rIns="0" bIns="0" rtlCol="0" anchor="ctr"/>
          <a:lstStyle/>
          <a:p>
            <a:pPr indent="0" marL="0">
              <a:buNone/>
            </a:pPr>
            <a:r>
              <a:rPr lang="en-US" sz="1000" dirty="0">
                <a:solidFill>
                  <a:srgbClr val="31404E"/>
                </a:solidFill>
                <a:latin typeface="Calibri" pitchFamily="34" charset="0"/>
                <a:ea typeface="Calibri" pitchFamily="34" charset="-122"/>
                <a:cs typeface="Calibri" pitchFamily="34" charset="-120"/>
              </a:rPr>
              <a:t>scan_resistance</a:t>
            </a:r>
            <a:endParaRPr lang="en-US" sz="1000" dirty="0"/>
          </a:p>
        </p:txBody>
      </p:sp>
      <p:sp>
        <p:nvSpPr>
          <p:cNvPr id="15" name="Text 12"/>
          <p:cNvSpPr txBox="1"/>
          <p:nvPr/>
        </p:nvSpPr>
        <p:spPr>
          <a:xfrm>
            <a:off x="7772400" y="3035808"/>
            <a:ext cx="822960" cy="256032"/>
          </a:xfrm>
          <a:prstGeom prst="rect">
            <a:avLst/>
          </a:prstGeom>
          <a:noFill/>
          <a:ln/>
        </p:spPr>
        <p:txBody>
          <a:bodyPr wrap="square" lIns="0" tIns="0" rIns="0" bIns="0" rtlCol="0" anchor="ctr"/>
          <a:lstStyle/>
          <a:p>
            <a:pPr algn="r" indent="0" marL="0">
              <a:buNone/>
            </a:pPr>
            <a:r>
              <a:rPr lang="en-US" sz="1050" b="1" dirty="0">
                <a:solidFill>
                  <a:srgbClr val="1B9C86"/>
                </a:solidFill>
                <a:latin typeface="Calibri" pitchFamily="34" charset="0"/>
                <a:ea typeface="Calibri" pitchFamily="34" charset="-122"/>
                <a:cs typeface="Calibri" pitchFamily="34" charset="-120"/>
              </a:rPr>
              <a:t>+1.5%</a:t>
            </a:r>
            <a:endParaRPr lang="en-US" sz="1050" dirty="0"/>
          </a:p>
        </p:txBody>
      </p:sp>
      <p:sp>
        <p:nvSpPr>
          <p:cNvPr id="16" name="Text 13"/>
          <p:cNvSpPr txBox="1"/>
          <p:nvPr/>
        </p:nvSpPr>
        <p:spPr>
          <a:xfrm>
            <a:off x="5715000" y="3364992"/>
            <a:ext cx="2011680" cy="256032"/>
          </a:xfrm>
          <a:prstGeom prst="rect">
            <a:avLst/>
          </a:prstGeom>
          <a:noFill/>
          <a:ln/>
        </p:spPr>
        <p:txBody>
          <a:bodyPr wrap="square" lIns="0" tIns="0" rIns="0" bIns="0" rtlCol="0" anchor="ctr"/>
          <a:lstStyle/>
          <a:p>
            <a:pPr indent="0" marL="0">
              <a:buNone/>
            </a:pPr>
            <a:r>
              <a:rPr lang="en-US" sz="1000" dirty="0">
                <a:solidFill>
                  <a:srgbClr val="31404E"/>
                </a:solidFill>
                <a:latin typeface="Calibri" pitchFamily="34" charset="0"/>
                <a:ea typeface="Calibri" pitchFamily="34" charset="-122"/>
                <a:cs typeface="Calibri" pitchFamily="34" charset="-120"/>
              </a:rPr>
              <a:t>mixed_production</a:t>
            </a:r>
            <a:endParaRPr lang="en-US" sz="1000" dirty="0"/>
          </a:p>
        </p:txBody>
      </p:sp>
      <p:sp>
        <p:nvSpPr>
          <p:cNvPr id="17" name="Text 14"/>
          <p:cNvSpPr txBox="1"/>
          <p:nvPr/>
        </p:nvSpPr>
        <p:spPr>
          <a:xfrm>
            <a:off x="7772400" y="3364992"/>
            <a:ext cx="822960" cy="256032"/>
          </a:xfrm>
          <a:prstGeom prst="rect">
            <a:avLst/>
          </a:prstGeom>
          <a:noFill/>
          <a:ln/>
        </p:spPr>
        <p:txBody>
          <a:bodyPr wrap="square" lIns="0" tIns="0" rIns="0" bIns="0" rtlCol="0" anchor="ctr"/>
          <a:lstStyle/>
          <a:p>
            <a:pPr algn="r" indent="0" marL="0">
              <a:buNone/>
            </a:pPr>
            <a:r>
              <a:rPr lang="en-US" sz="1050" b="1" dirty="0">
                <a:solidFill>
                  <a:srgbClr val="B3402F"/>
                </a:solidFill>
                <a:latin typeface="Calibri" pitchFamily="34" charset="0"/>
                <a:ea typeface="Calibri" pitchFamily="34" charset="-122"/>
                <a:cs typeface="Calibri" pitchFamily="34" charset="-120"/>
              </a:rPr>
              <a:t>−0.99%</a:t>
            </a:r>
            <a:endParaRPr lang="en-US" sz="1050" dirty="0"/>
          </a:p>
        </p:txBody>
      </p:sp>
      <p:sp>
        <p:nvSpPr>
          <p:cNvPr id="18" name="Shape 15"/>
          <p:cNvSpPr/>
          <p:nvPr/>
        </p:nvSpPr>
        <p:spPr>
          <a:xfrm>
            <a:off x="5715000" y="3675888"/>
            <a:ext cx="2880360" cy="1005840"/>
          </a:xfrm>
          <a:prstGeom prst="roundRect">
            <a:avLst>
              <a:gd name="adj" fmla="val 5455"/>
            </a:avLst>
          </a:prstGeom>
          <a:solidFill>
            <a:srgbClr val="F1F4F7"/>
          </a:solidFill>
          <a:ln w="12700">
            <a:solidFill>
              <a:srgbClr val="F1F4F7"/>
            </a:solidFill>
            <a:prstDash val="solid"/>
          </a:ln>
          <a:effectLst>
            <a:outerShdw sx="100000" sy="100000" kx="0" ky="0" algn="bl" rotWithShape="0" blurRad="101600" dist="12700" dir="5400000">
              <a:srgbClr val="8CA0B3">
                <a:alpha val="10000"/>
              </a:srgbClr>
            </a:outerShdw>
          </a:effectLst>
        </p:spPr>
      </p:sp>
      <p:sp>
        <p:nvSpPr>
          <p:cNvPr id="19" name="Text 16"/>
          <p:cNvSpPr txBox="1"/>
          <p:nvPr/>
        </p:nvSpPr>
        <p:spPr>
          <a:xfrm>
            <a:off x="5897880" y="3785616"/>
            <a:ext cx="2560320" cy="237744"/>
          </a:xfrm>
          <a:prstGeom prst="rect">
            <a:avLst/>
          </a:prstGeom>
          <a:noFill/>
          <a:ln/>
        </p:spPr>
        <p:txBody>
          <a:bodyPr wrap="square" lIns="0" tIns="0" rIns="0" bIns="0" rtlCol="0" anchor="ctr"/>
          <a:lstStyle/>
          <a:p>
            <a:pPr indent="0" marL="0">
              <a:buNone/>
            </a:pPr>
            <a:r>
              <a:rPr lang="en-US" sz="950" b="1" dirty="0">
                <a:solidFill>
                  <a:srgbClr val="141A24"/>
                </a:solidFill>
                <a:latin typeface="Calibri" pitchFamily="34" charset="0"/>
                <a:ea typeface="Calibri" pitchFamily="34" charset="-122"/>
                <a:cs typeface="Calibri" pitchFamily="34" charset="-120"/>
              </a:rPr>
              <a:t>Against the three the brief names</a:t>
            </a:r>
            <a:endParaRPr lang="en-US" sz="950" dirty="0"/>
          </a:p>
        </p:txBody>
      </p:sp>
      <p:sp>
        <p:nvSpPr>
          <p:cNvPr id="20" name="Text 17"/>
          <p:cNvSpPr txBox="1"/>
          <p:nvPr/>
        </p:nvSpPr>
        <p:spPr>
          <a:xfrm>
            <a:off x="5897880" y="4041648"/>
            <a:ext cx="2560320" cy="603504"/>
          </a:xfrm>
          <a:prstGeom prst="rect">
            <a:avLst/>
          </a:prstGeom>
          <a:noFill/>
          <a:ln/>
        </p:spPr>
        <p:txBody>
          <a:bodyPr wrap="square" lIns="0" tIns="0" rIns="0" bIns="0" rtlCol="0" anchor="ctr"/>
          <a:lstStyle/>
          <a:p>
            <a:pPr indent="0" marL="0">
              <a:lnSpc>
                <a:spcPts val="1400"/>
              </a:lnSpc>
              <a:buNone/>
            </a:pPr>
            <a:r>
              <a:rPr lang="en-US" sz="950" dirty="0">
                <a:solidFill>
                  <a:srgbClr val="1B9C86"/>
                </a:solidFill>
                <a:latin typeface="Courier New" pitchFamily="34" charset="0"/>
                <a:ea typeface="Courier New" pitchFamily="34" charset="-122"/>
                <a:cs typeface="Courier New" pitchFamily="34" charset="-120"/>
              </a:rPr>
              <a:t>LRU  +5.4% to +35.7%</a:t>
            </a:r>
            <a:endParaRPr lang="en-US" sz="950" dirty="0"/>
          </a:p>
          <a:p>
            <a:pPr indent="0" marL="0">
              <a:lnSpc>
                <a:spcPts val="1400"/>
              </a:lnSpc>
              <a:buNone/>
            </a:pPr>
            <a:r>
              <a:rPr lang="en-US" sz="950" dirty="0">
                <a:solidFill>
                  <a:srgbClr val="1B9C86"/>
                </a:solidFill>
                <a:latin typeface="Courier New" pitchFamily="34" charset="0"/>
                <a:ea typeface="Courier New" pitchFamily="34" charset="-122"/>
                <a:cs typeface="Courier New" pitchFamily="34" charset="-120"/>
              </a:rPr>
              <a:t>LFU  +1.2% to +25.1%</a:t>
            </a:r>
            <a:endParaRPr lang="en-US" sz="950" dirty="0"/>
          </a:p>
          <a:p>
            <a:pPr indent="0" marL="0">
              <a:lnSpc>
                <a:spcPts val="1400"/>
              </a:lnSpc>
              <a:buNone/>
            </a:pPr>
            <a:r>
              <a:rPr lang="en-US" sz="950" dirty="0">
                <a:solidFill>
                  <a:srgbClr val="1B9C86"/>
                </a:solidFill>
                <a:latin typeface="Courier New" pitchFamily="34" charset="0"/>
                <a:ea typeface="Courier New" pitchFamily="34" charset="-122"/>
                <a:cs typeface="Courier New" pitchFamily="34" charset="-120"/>
              </a:rPr>
              <a:t>GDS  +5.1% to +36.3%</a:t>
            </a:r>
            <a:endParaRPr lang="en-US" sz="950" dirty="0"/>
          </a:p>
        </p:txBody>
      </p:sp>
      <p:sp>
        <p:nvSpPr>
          <p:cNvPr id="21" name="Text 18"/>
          <p:cNvSpPr txBox="1"/>
          <p:nvPr/>
        </p:nvSpPr>
        <p:spPr>
          <a:xfrm>
            <a:off x="502920" y="4526280"/>
            <a:ext cx="5120640" cy="548640"/>
          </a:xfrm>
          <a:prstGeom prst="rect">
            <a:avLst/>
          </a:prstGeom>
          <a:noFill/>
          <a:ln/>
        </p:spPr>
        <p:txBody>
          <a:bodyPr wrap="square" lIns="0" tIns="0" rIns="0" bIns="0" rtlCol="0" anchor="ctr"/>
          <a:lstStyle/>
          <a:p>
            <a:pPr indent="0" marL="0">
              <a:lnSpc>
                <a:spcPts val="1100"/>
              </a:lnSpc>
              <a:buNone/>
            </a:pPr>
            <a:r>
              <a:rPr lang="en-US" sz="850" dirty="0">
                <a:solidFill>
                  <a:srgbClr val="6B7C8C"/>
                </a:solidFill>
                <a:latin typeface="Calibri" pitchFamily="34" charset="0"/>
                <a:ea typeface="Calibri" pitchFamily="34" charset="-122"/>
                <a:cs typeface="Calibri" pitchFamily="34" charset="-120"/>
              </a:rPr>
              <a:t>Nine baseline policies as real implementations, plus Belady as the offline ceiling. Six generator scenarios, one seeded stream replayed identically for every policy, one price list for all of them, memory charged as occupancy integrated over time.</a:t>
            </a:r>
            <a:endParaRPr lang="en-US" sz="850" dirty="0"/>
          </a:p>
        </p:txBody>
      </p:sp>
      <p:sp>
        <p:nvSpPr>
          <p:cNvPr id="22" name="Text 19"/>
          <p:cNvSpPr txBox="1"/>
          <p:nvPr/>
        </p:nvSpPr>
        <p:spPr>
          <a:xfrm>
            <a:off x="8321040" y="4864608"/>
            <a:ext cx="457200" cy="237744"/>
          </a:xfrm>
          <a:prstGeom prst="rect">
            <a:avLst/>
          </a:prstGeom>
          <a:noFill/>
          <a:ln/>
        </p:spPr>
        <p:txBody>
          <a:bodyPr wrap="square" lIns="0" tIns="0" rIns="0" bIns="0" rtlCol="0" anchor="ctr"/>
          <a:lstStyle/>
          <a:p>
            <a:pPr algn="r" indent="0" marL="0">
              <a:buNone/>
            </a:pPr>
            <a:r>
              <a:rPr lang="en-US" sz="1000" dirty="0">
                <a:solidFill>
                  <a:srgbClr val="6B7C8C"/>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ctr"/>
          <a:lstStyle/>
          <a:p>
            <a:pPr indent="0" marL="0">
              <a:buNone/>
            </a:pPr>
            <a:r>
              <a:rPr lang="en-US" sz="1100" b="1" spc="200" kern="0" dirty="0">
                <a:solidFill>
                  <a:srgbClr val="1B9C86"/>
                </a:solidFill>
                <a:latin typeface="Calibri" pitchFamily="34" charset="0"/>
                <a:ea typeface="Calibri" pitchFamily="34" charset="-122"/>
                <a:cs typeface="Calibri" pitchFamily="34" charset="-120"/>
              </a:rPr>
              <a:t>THE EVIDENCE TAB</a:t>
            </a:r>
            <a:endParaRPr lang="en-US" sz="1100" dirty="0"/>
          </a:p>
        </p:txBody>
      </p:sp>
      <p:sp>
        <p:nvSpPr>
          <p:cNvPr id="3" name="Text 1"/>
          <p:cNvSpPr txBox="1"/>
          <p:nvPr/>
        </p:nvSpPr>
        <p:spPr>
          <a:xfrm>
            <a:off x="548640" y="658368"/>
            <a:ext cx="8229600" cy="731520"/>
          </a:xfrm>
          <a:prstGeom prst="rect">
            <a:avLst/>
          </a:prstGeom>
          <a:noFill/>
          <a:ln/>
        </p:spPr>
        <p:txBody>
          <a:bodyPr wrap="square" lIns="0" tIns="0" rIns="0" bIns="0" rtlCol="0" anchor="t"/>
          <a:lstStyle/>
          <a:p>
            <a:pPr indent="0" marL="0">
              <a:buNone/>
            </a:pPr>
            <a:r>
              <a:rPr lang="en-US" sz="2600" b="1" dirty="0">
                <a:solidFill>
                  <a:srgbClr val="141A24"/>
                </a:solidFill>
                <a:latin typeface="Cambria" pitchFamily="34" charset="0"/>
                <a:ea typeface="Cambria" pitchFamily="34" charset="-122"/>
                <a:cs typeface="Cambria" pitchFamily="34" charset="-120"/>
              </a:rPr>
              <a:t>Six charts, and the belief moving on screen</a:t>
            </a:r>
            <a:endParaRPr lang="en-US" sz="2600" dirty="0"/>
          </a:p>
        </p:txBody>
      </p:sp>
      <p:sp>
        <p:nvSpPr>
          <p:cNvPr id="4" name="Shape 2"/>
          <p:cNvSpPr/>
          <p:nvPr/>
        </p:nvSpPr>
        <p:spPr>
          <a:xfrm>
            <a:off x="548640" y="1325880"/>
            <a:ext cx="2560320" cy="1298448"/>
          </a:xfrm>
          <a:prstGeom prst="roundRect">
            <a:avLst>
              <a:gd name="adj" fmla="val 4225"/>
            </a:avLst>
          </a:prstGeom>
          <a:solidFill>
            <a:srgbClr val="F1F4F7"/>
          </a:solidFill>
          <a:ln w="12700">
            <a:solidFill>
              <a:srgbClr val="F1F4F7"/>
            </a:solidFill>
            <a:prstDash val="solid"/>
          </a:ln>
          <a:effectLst>
            <a:outerShdw sx="100000" sy="100000" kx="0" ky="0" algn="bl" rotWithShape="0" blurRad="101600" dist="12700" dir="5400000">
              <a:srgbClr val="8CA0B3">
                <a:alpha val="10000"/>
              </a:srgbClr>
            </a:outerShdw>
          </a:effectLst>
        </p:spPr>
      </p:sp>
      <p:sp>
        <p:nvSpPr>
          <p:cNvPr id="5" name="Text 3"/>
          <p:cNvSpPr txBox="1"/>
          <p:nvPr/>
        </p:nvSpPr>
        <p:spPr>
          <a:xfrm>
            <a:off x="731520" y="1453896"/>
            <a:ext cx="2212848" cy="384048"/>
          </a:xfrm>
          <a:prstGeom prst="rect">
            <a:avLst/>
          </a:prstGeom>
          <a:noFill/>
          <a:ln/>
        </p:spPr>
        <p:txBody>
          <a:bodyPr wrap="square" lIns="0" tIns="0" rIns="0" bIns="0" rtlCol="0" anchor="ctr"/>
          <a:lstStyle/>
          <a:p>
            <a:pPr indent="0" marL="0">
              <a:lnSpc>
                <a:spcPts val="1400"/>
              </a:lnSpc>
              <a:buNone/>
            </a:pPr>
            <a:r>
              <a:rPr lang="en-US" sz="1100" b="1" dirty="0">
                <a:solidFill>
                  <a:srgbClr val="D97A16"/>
                </a:solidFill>
                <a:latin typeface="Calibri" pitchFamily="34" charset="0"/>
                <a:ea typeface="Calibri" pitchFamily="34" charset="-122"/>
                <a:cs typeface="Calibri" pitchFamily="34" charset="-120"/>
              </a:rPr>
              <a:t>Offered vs arriving load</a:t>
            </a:r>
            <a:endParaRPr lang="en-US" sz="1100" dirty="0"/>
          </a:p>
        </p:txBody>
      </p:sp>
      <p:sp>
        <p:nvSpPr>
          <p:cNvPr id="6" name="Text 4"/>
          <p:cNvSpPr txBox="1"/>
          <p:nvPr/>
        </p:nvSpPr>
        <p:spPr>
          <a:xfrm>
            <a:off x="731520" y="1837944"/>
            <a:ext cx="2231136" cy="713232"/>
          </a:xfrm>
          <a:prstGeom prst="rect">
            <a:avLst/>
          </a:prstGeom>
          <a:noFill/>
          <a:ln/>
        </p:spPr>
        <p:txBody>
          <a:bodyPr wrap="square" lIns="0" tIns="0" rIns="0" bIns="0" rtlCol="0" anchor="ctr"/>
          <a:lstStyle/>
          <a:p>
            <a:pPr indent="0" marL="0">
              <a:lnSpc>
                <a:spcPts val="1150"/>
              </a:lnSpc>
              <a:buNone/>
            </a:pPr>
            <a:r>
              <a:rPr lang="en-US" sz="900" dirty="0">
                <a:solidFill>
                  <a:srgbClr val="31404E"/>
                </a:solidFill>
                <a:latin typeface="Calibri" pitchFamily="34" charset="0"/>
                <a:ea typeface="Calibri" pitchFamily="34" charset="-122"/>
                <a:cs typeface="Calibri" pitchFamily="34" charset="-120"/>
              </a:rPr>
              <a:t>Two lines. A disturbance is the gap between them.</a:t>
            </a:r>
            <a:endParaRPr lang="en-US" sz="900" dirty="0"/>
          </a:p>
        </p:txBody>
      </p:sp>
      <p:sp>
        <p:nvSpPr>
          <p:cNvPr id="7" name="Shape 5"/>
          <p:cNvSpPr/>
          <p:nvPr/>
        </p:nvSpPr>
        <p:spPr>
          <a:xfrm>
            <a:off x="3291840" y="1325880"/>
            <a:ext cx="2560320" cy="1298448"/>
          </a:xfrm>
          <a:prstGeom prst="roundRect">
            <a:avLst>
              <a:gd name="adj" fmla="val 4225"/>
            </a:avLst>
          </a:prstGeom>
          <a:solidFill>
            <a:srgbClr val="F1F4F7"/>
          </a:solidFill>
          <a:ln w="12700">
            <a:solidFill>
              <a:srgbClr val="F1F4F7"/>
            </a:solidFill>
            <a:prstDash val="solid"/>
          </a:ln>
          <a:effectLst>
            <a:outerShdw sx="100000" sy="100000" kx="0" ky="0" algn="bl" rotWithShape="0" blurRad="101600" dist="12700" dir="5400000">
              <a:srgbClr val="8CA0B3">
                <a:alpha val="10000"/>
              </a:srgbClr>
            </a:outerShdw>
          </a:effectLst>
        </p:spPr>
      </p:sp>
      <p:sp>
        <p:nvSpPr>
          <p:cNvPr id="8" name="Text 6"/>
          <p:cNvSpPr txBox="1"/>
          <p:nvPr/>
        </p:nvSpPr>
        <p:spPr>
          <a:xfrm>
            <a:off x="3474720" y="1453896"/>
            <a:ext cx="2212848" cy="384048"/>
          </a:xfrm>
          <a:prstGeom prst="rect">
            <a:avLst/>
          </a:prstGeom>
          <a:noFill/>
          <a:ln/>
        </p:spPr>
        <p:txBody>
          <a:bodyPr wrap="square" lIns="0" tIns="0" rIns="0" bIns="0" rtlCol="0" anchor="ctr"/>
          <a:lstStyle/>
          <a:p>
            <a:pPr indent="0" marL="0">
              <a:lnSpc>
                <a:spcPts val="1400"/>
              </a:lnSpc>
              <a:buNone/>
            </a:pPr>
            <a:r>
              <a:rPr lang="en-US" sz="1100" b="1" dirty="0">
                <a:solidFill>
                  <a:srgbClr val="1B9C86"/>
                </a:solidFill>
                <a:latin typeface="Calibri" pitchFamily="34" charset="0"/>
                <a:ea typeface="Calibri" pitchFamily="34" charset="-122"/>
                <a:cs typeface="Calibri" pitchFamily="34" charset="-120"/>
              </a:rPr>
              <a:t>Admissions, refusals, evictions</a:t>
            </a:r>
            <a:endParaRPr lang="en-US" sz="1100" dirty="0"/>
          </a:p>
        </p:txBody>
      </p:sp>
      <p:sp>
        <p:nvSpPr>
          <p:cNvPr id="9" name="Text 7"/>
          <p:cNvSpPr txBox="1"/>
          <p:nvPr/>
        </p:nvSpPr>
        <p:spPr>
          <a:xfrm>
            <a:off x="3474720" y="1837944"/>
            <a:ext cx="2231136" cy="713232"/>
          </a:xfrm>
          <a:prstGeom prst="rect">
            <a:avLst/>
          </a:prstGeom>
          <a:noFill/>
          <a:ln/>
        </p:spPr>
        <p:txBody>
          <a:bodyPr wrap="square" lIns="0" tIns="0" rIns="0" bIns="0" rtlCol="0" anchor="ctr"/>
          <a:lstStyle/>
          <a:p>
            <a:pPr indent="0" marL="0">
              <a:lnSpc>
                <a:spcPts val="1150"/>
              </a:lnSpc>
              <a:buNone/>
            </a:pPr>
            <a:r>
              <a:rPr lang="en-US" sz="900" dirty="0">
                <a:solidFill>
                  <a:srgbClr val="31404E"/>
                </a:solidFill>
                <a:latin typeface="Calibri" pitchFamily="34" charset="0"/>
                <a:ea typeface="Calibri" pitchFamily="34" charset="-122"/>
                <a:cs typeface="Calibri" pitchFamily="34" charset="-120"/>
              </a:rPr>
              <a:t>Per tick. Refusals rising while evictions stay flat is the admission gate declining objects instead of throwing better ones out.</a:t>
            </a:r>
            <a:endParaRPr lang="en-US" sz="900" dirty="0"/>
          </a:p>
        </p:txBody>
      </p:sp>
      <p:sp>
        <p:nvSpPr>
          <p:cNvPr id="10" name="Shape 8"/>
          <p:cNvSpPr/>
          <p:nvPr/>
        </p:nvSpPr>
        <p:spPr>
          <a:xfrm>
            <a:off x="6035040" y="1325880"/>
            <a:ext cx="2560320" cy="1298448"/>
          </a:xfrm>
          <a:prstGeom prst="roundRect">
            <a:avLst>
              <a:gd name="adj" fmla="val 4225"/>
            </a:avLst>
          </a:prstGeom>
          <a:solidFill>
            <a:srgbClr val="F1F4F7"/>
          </a:solidFill>
          <a:ln w="12700">
            <a:solidFill>
              <a:srgbClr val="F1F4F7"/>
            </a:solidFill>
            <a:prstDash val="solid"/>
          </a:ln>
          <a:effectLst>
            <a:outerShdw sx="100000" sy="100000" kx="0" ky="0" algn="bl" rotWithShape="0" blurRad="101600" dist="12700" dir="5400000">
              <a:srgbClr val="8CA0B3">
                <a:alpha val="10000"/>
              </a:srgbClr>
            </a:outerShdw>
          </a:effectLst>
        </p:spPr>
      </p:sp>
      <p:sp>
        <p:nvSpPr>
          <p:cNvPr id="11" name="Text 9"/>
          <p:cNvSpPr txBox="1"/>
          <p:nvPr/>
        </p:nvSpPr>
        <p:spPr>
          <a:xfrm>
            <a:off x="6217920" y="1453896"/>
            <a:ext cx="2212848" cy="384048"/>
          </a:xfrm>
          <a:prstGeom prst="rect">
            <a:avLst/>
          </a:prstGeom>
          <a:noFill/>
          <a:ln/>
        </p:spPr>
        <p:txBody>
          <a:bodyPr wrap="square" lIns="0" tIns="0" rIns="0" bIns="0" rtlCol="0" anchor="ctr"/>
          <a:lstStyle/>
          <a:p>
            <a:pPr indent="0" marL="0">
              <a:lnSpc>
                <a:spcPts val="1400"/>
              </a:lnSpc>
              <a:buNone/>
            </a:pPr>
            <a:r>
              <a:rPr lang="en-US" sz="1100" b="1" dirty="0">
                <a:solidFill>
                  <a:srgbClr val="1B9C86"/>
                </a:solidFill>
                <a:latin typeface="Calibri" pitchFamily="34" charset="0"/>
                <a:ea typeface="Calibri" pitchFamily="34" charset="-122"/>
                <a:cs typeface="Calibri" pitchFamily="34" charset="-120"/>
              </a:rPr>
              <a:t>Running cost vs shadow caches</a:t>
            </a:r>
            <a:endParaRPr lang="en-US" sz="1100" dirty="0"/>
          </a:p>
        </p:txBody>
      </p:sp>
      <p:sp>
        <p:nvSpPr>
          <p:cNvPr id="12" name="Text 10"/>
          <p:cNvSpPr txBox="1"/>
          <p:nvPr/>
        </p:nvSpPr>
        <p:spPr>
          <a:xfrm>
            <a:off x="6217920" y="1837944"/>
            <a:ext cx="2231136" cy="713232"/>
          </a:xfrm>
          <a:prstGeom prst="rect">
            <a:avLst/>
          </a:prstGeom>
          <a:noFill/>
          <a:ln/>
        </p:spPr>
        <p:txBody>
          <a:bodyPr wrap="square" lIns="0" tIns="0" rIns="0" bIns="0" rtlCol="0" anchor="ctr"/>
          <a:lstStyle/>
          <a:p>
            <a:pPr indent="0" marL="0">
              <a:lnSpc>
                <a:spcPts val="1150"/>
              </a:lnSpc>
              <a:buNone/>
            </a:pPr>
            <a:r>
              <a:rPr lang="en-US" sz="900" dirty="0">
                <a:solidFill>
                  <a:srgbClr val="31404E"/>
                </a:solidFill>
                <a:latin typeface="Calibri" pitchFamily="34" charset="0"/>
                <a:ea typeface="Calibri" pitchFamily="34" charset="-122"/>
                <a:cs typeface="Calibri" pitchFamily="34" charset="-120"/>
              </a:rPr>
              <a:t>LRU, LFU and GDS run live on the same traffic, charged the same prices.</a:t>
            </a:r>
            <a:endParaRPr lang="en-US" sz="900" dirty="0"/>
          </a:p>
        </p:txBody>
      </p:sp>
      <p:sp>
        <p:nvSpPr>
          <p:cNvPr id="13" name="Shape 11"/>
          <p:cNvSpPr/>
          <p:nvPr/>
        </p:nvSpPr>
        <p:spPr>
          <a:xfrm>
            <a:off x="548640" y="2697480"/>
            <a:ext cx="2560320" cy="1298448"/>
          </a:xfrm>
          <a:prstGeom prst="roundRect">
            <a:avLst>
              <a:gd name="adj" fmla="val 4225"/>
            </a:avLst>
          </a:prstGeom>
          <a:solidFill>
            <a:srgbClr val="F1F4F7"/>
          </a:solidFill>
          <a:ln w="12700">
            <a:solidFill>
              <a:srgbClr val="F1F4F7"/>
            </a:solidFill>
            <a:prstDash val="solid"/>
          </a:ln>
          <a:effectLst>
            <a:outerShdw sx="100000" sy="100000" kx="0" ky="0" algn="bl" rotWithShape="0" blurRad="101600" dist="12700" dir="5400000">
              <a:srgbClr val="8CA0B3">
                <a:alpha val="10000"/>
              </a:srgbClr>
            </a:outerShdw>
          </a:effectLst>
        </p:spPr>
      </p:sp>
      <p:sp>
        <p:nvSpPr>
          <p:cNvPr id="14" name="Text 12"/>
          <p:cNvSpPr txBox="1"/>
          <p:nvPr/>
        </p:nvSpPr>
        <p:spPr>
          <a:xfrm>
            <a:off x="731520" y="2825496"/>
            <a:ext cx="2212848" cy="384048"/>
          </a:xfrm>
          <a:prstGeom prst="rect">
            <a:avLst/>
          </a:prstGeom>
          <a:noFill/>
          <a:ln/>
        </p:spPr>
        <p:txBody>
          <a:bodyPr wrap="square" lIns="0" tIns="0" rIns="0" bIns="0" rtlCol="0" anchor="ctr"/>
          <a:lstStyle/>
          <a:p>
            <a:pPr indent="0" marL="0">
              <a:lnSpc>
                <a:spcPts val="1400"/>
              </a:lnSpc>
              <a:buNone/>
            </a:pPr>
            <a:r>
              <a:rPr lang="en-US" sz="1100" b="1" dirty="0">
                <a:solidFill>
                  <a:srgbClr val="D97A16"/>
                </a:solidFill>
                <a:latin typeface="Calibri" pitchFamily="34" charset="0"/>
                <a:ea typeface="Calibri" pitchFamily="34" charset="-122"/>
                <a:cs typeface="Calibri" pitchFamily="34" charset="-120"/>
              </a:rPr>
              <a:t>Pool size</a:t>
            </a:r>
            <a:endParaRPr lang="en-US" sz="1100" dirty="0"/>
          </a:p>
        </p:txBody>
      </p:sp>
      <p:sp>
        <p:nvSpPr>
          <p:cNvPr id="15" name="Text 13"/>
          <p:cNvSpPr txBox="1"/>
          <p:nvPr/>
        </p:nvSpPr>
        <p:spPr>
          <a:xfrm>
            <a:off x="731520" y="3209544"/>
            <a:ext cx="2231136" cy="713232"/>
          </a:xfrm>
          <a:prstGeom prst="rect">
            <a:avLst/>
          </a:prstGeom>
          <a:noFill/>
          <a:ln/>
        </p:spPr>
        <p:txBody>
          <a:bodyPr wrap="square" lIns="0" tIns="0" rIns="0" bIns="0" rtlCol="0" anchor="ctr"/>
          <a:lstStyle/>
          <a:p>
            <a:pPr indent="0" marL="0">
              <a:lnSpc>
                <a:spcPts val="1150"/>
              </a:lnSpc>
              <a:buNone/>
            </a:pPr>
            <a:r>
              <a:rPr lang="en-US" sz="900" dirty="0">
                <a:solidFill>
                  <a:srgbClr val="31404E"/>
                </a:solidFill>
                <a:latin typeface="Calibri" pitchFamily="34" charset="0"/>
                <a:ea typeface="Calibri" pitchFamily="34" charset="-122"/>
                <a:cs typeface="Calibri" pitchFamily="34" charset="-120"/>
              </a:rPr>
              <a:t>The whole curve, with every scale decision marked on it.</a:t>
            </a:r>
            <a:endParaRPr lang="en-US" sz="900" dirty="0"/>
          </a:p>
        </p:txBody>
      </p:sp>
      <p:sp>
        <p:nvSpPr>
          <p:cNvPr id="16" name="Shape 14"/>
          <p:cNvSpPr/>
          <p:nvPr/>
        </p:nvSpPr>
        <p:spPr>
          <a:xfrm>
            <a:off x="3291840" y="2697480"/>
            <a:ext cx="2560320" cy="1298448"/>
          </a:xfrm>
          <a:prstGeom prst="roundRect">
            <a:avLst>
              <a:gd name="adj" fmla="val 4225"/>
            </a:avLst>
          </a:prstGeom>
          <a:solidFill>
            <a:srgbClr val="F1F4F7"/>
          </a:solidFill>
          <a:ln w="12700">
            <a:solidFill>
              <a:srgbClr val="F1F4F7"/>
            </a:solidFill>
            <a:prstDash val="solid"/>
          </a:ln>
          <a:effectLst>
            <a:outerShdw sx="100000" sy="100000" kx="0" ky="0" algn="bl" rotWithShape="0" blurRad="101600" dist="12700" dir="5400000">
              <a:srgbClr val="8CA0B3">
                <a:alpha val="10000"/>
              </a:srgbClr>
            </a:outerShdw>
          </a:effectLst>
        </p:spPr>
      </p:sp>
      <p:sp>
        <p:nvSpPr>
          <p:cNvPr id="17" name="Text 15"/>
          <p:cNvSpPr txBox="1"/>
          <p:nvPr/>
        </p:nvSpPr>
        <p:spPr>
          <a:xfrm>
            <a:off x="3474720" y="2825496"/>
            <a:ext cx="2212848" cy="384048"/>
          </a:xfrm>
          <a:prstGeom prst="rect">
            <a:avLst/>
          </a:prstGeom>
          <a:noFill/>
          <a:ln/>
        </p:spPr>
        <p:txBody>
          <a:bodyPr wrap="square" lIns="0" tIns="0" rIns="0" bIns="0" rtlCol="0" anchor="ctr"/>
          <a:lstStyle/>
          <a:p>
            <a:pPr indent="0" marL="0">
              <a:lnSpc>
                <a:spcPts val="1400"/>
              </a:lnSpc>
              <a:buNone/>
            </a:pPr>
            <a:r>
              <a:rPr lang="en-US" sz="1100" b="1" dirty="0">
                <a:solidFill>
                  <a:srgbClr val="1B9C86"/>
                </a:solidFill>
                <a:latin typeface="Calibri" pitchFamily="34" charset="0"/>
                <a:ea typeface="Calibri" pitchFamily="34" charset="-122"/>
                <a:cs typeface="Calibri" pitchFamily="34" charset="-120"/>
              </a:rPr>
              <a:t>The bandit’s six beliefs</a:t>
            </a:r>
            <a:endParaRPr lang="en-US" sz="1100" dirty="0"/>
          </a:p>
        </p:txBody>
      </p:sp>
      <p:sp>
        <p:nvSpPr>
          <p:cNvPr id="18" name="Text 16"/>
          <p:cNvSpPr txBox="1"/>
          <p:nvPr/>
        </p:nvSpPr>
        <p:spPr>
          <a:xfrm>
            <a:off x="3474720" y="3209544"/>
            <a:ext cx="2231136" cy="713232"/>
          </a:xfrm>
          <a:prstGeom prst="rect">
            <a:avLst/>
          </a:prstGeom>
          <a:noFill/>
          <a:ln/>
        </p:spPr>
        <p:txBody>
          <a:bodyPr wrap="square" lIns="0" tIns="0" rIns="0" bIns="0" rtlCol="0" anchor="ctr"/>
          <a:lstStyle/>
          <a:p>
            <a:pPr indent="0" marL="0">
              <a:lnSpc>
                <a:spcPts val="1150"/>
              </a:lnSpc>
              <a:buNone/>
            </a:pPr>
            <a:r>
              <a:rPr lang="en-US" sz="900" dirty="0">
                <a:solidFill>
                  <a:srgbClr val="31404E"/>
                </a:solidFill>
                <a:latin typeface="Calibri" pitchFamily="34" charset="0"/>
                <a:ea typeface="Calibri" pitchFamily="34" charset="-122"/>
                <a:cs typeface="Calibri" pitchFamily="34" charset="-120"/>
              </a:rPr>
              <a:t>Stacked bands over time. The shift when the workload changes IS the adaptation, and nothing about it was configured.</a:t>
            </a:r>
            <a:endParaRPr lang="en-US" sz="900" dirty="0"/>
          </a:p>
        </p:txBody>
      </p:sp>
      <p:sp>
        <p:nvSpPr>
          <p:cNvPr id="19" name="Shape 17"/>
          <p:cNvSpPr/>
          <p:nvPr/>
        </p:nvSpPr>
        <p:spPr>
          <a:xfrm>
            <a:off x="6035040" y="2697480"/>
            <a:ext cx="2560320" cy="1298448"/>
          </a:xfrm>
          <a:prstGeom prst="roundRect">
            <a:avLst>
              <a:gd name="adj" fmla="val 4225"/>
            </a:avLst>
          </a:prstGeom>
          <a:solidFill>
            <a:srgbClr val="F1F4F7"/>
          </a:solidFill>
          <a:ln w="12700">
            <a:solidFill>
              <a:srgbClr val="F1F4F7"/>
            </a:solidFill>
            <a:prstDash val="solid"/>
          </a:ln>
          <a:effectLst>
            <a:outerShdw sx="100000" sy="100000" kx="0" ky="0" algn="bl" rotWithShape="0" blurRad="101600" dist="12700" dir="5400000">
              <a:srgbClr val="8CA0B3">
                <a:alpha val="10000"/>
              </a:srgbClr>
            </a:outerShdw>
          </a:effectLst>
        </p:spPr>
      </p:sp>
      <p:sp>
        <p:nvSpPr>
          <p:cNvPr id="20" name="Text 18"/>
          <p:cNvSpPr txBox="1"/>
          <p:nvPr/>
        </p:nvSpPr>
        <p:spPr>
          <a:xfrm>
            <a:off x="6217920" y="2825496"/>
            <a:ext cx="2212848" cy="384048"/>
          </a:xfrm>
          <a:prstGeom prst="rect">
            <a:avLst/>
          </a:prstGeom>
          <a:noFill/>
          <a:ln/>
        </p:spPr>
        <p:txBody>
          <a:bodyPr wrap="square" lIns="0" tIns="0" rIns="0" bIns="0" rtlCol="0" anchor="ctr"/>
          <a:lstStyle/>
          <a:p>
            <a:pPr indent="0" marL="0">
              <a:lnSpc>
                <a:spcPts val="1400"/>
              </a:lnSpc>
              <a:buNone/>
            </a:pPr>
            <a:r>
              <a:rPr lang="en-US" sz="1100" b="1" dirty="0">
                <a:solidFill>
                  <a:srgbClr val="141A24"/>
                </a:solidFill>
                <a:latin typeface="Calibri" pitchFamily="34" charset="0"/>
                <a:ea typeface="Calibri" pitchFamily="34" charset="-122"/>
                <a:cs typeface="Calibri" pitchFamily="34" charset="-120"/>
              </a:rPr>
              <a:t>Hit rate, per tier</a:t>
            </a:r>
            <a:endParaRPr lang="en-US" sz="1100" dirty="0"/>
          </a:p>
        </p:txBody>
      </p:sp>
      <p:sp>
        <p:nvSpPr>
          <p:cNvPr id="21" name="Text 19"/>
          <p:cNvSpPr txBox="1"/>
          <p:nvPr/>
        </p:nvSpPr>
        <p:spPr>
          <a:xfrm>
            <a:off x="6217920" y="3209544"/>
            <a:ext cx="2231136" cy="713232"/>
          </a:xfrm>
          <a:prstGeom prst="rect">
            <a:avLst/>
          </a:prstGeom>
          <a:noFill/>
          <a:ln/>
        </p:spPr>
        <p:txBody>
          <a:bodyPr wrap="square" lIns="0" tIns="0" rIns="0" bIns="0" rtlCol="0" anchor="ctr"/>
          <a:lstStyle/>
          <a:p>
            <a:pPr indent="0" marL="0">
              <a:lnSpc>
                <a:spcPts val="1150"/>
              </a:lnSpc>
              <a:buNone/>
            </a:pPr>
            <a:r>
              <a:rPr lang="en-US" sz="900" dirty="0">
                <a:solidFill>
                  <a:srgbClr val="31404E"/>
                </a:solidFill>
                <a:latin typeface="Calibri" pitchFamily="34" charset="0"/>
                <a:ea typeface="Calibri" pitchFamily="34" charset="-122"/>
                <a:cs typeface="Calibri" pitchFamily="34" charset="-120"/>
              </a:rPr>
              <a:t>L1 and L2 reported separately, never added together.</a:t>
            </a:r>
            <a:endParaRPr lang="en-US" sz="900" dirty="0"/>
          </a:p>
        </p:txBody>
      </p:sp>
      <p:sp>
        <p:nvSpPr>
          <p:cNvPr id="22" name="Shape 20"/>
          <p:cNvSpPr/>
          <p:nvPr/>
        </p:nvSpPr>
        <p:spPr>
          <a:xfrm>
            <a:off x="548640" y="4142232"/>
            <a:ext cx="8046720" cy="640080"/>
          </a:xfrm>
          <a:prstGeom prst="roundRect">
            <a:avLst>
              <a:gd name="adj" fmla="val 8571"/>
            </a:avLst>
          </a:prstGeom>
          <a:solidFill>
            <a:srgbClr val="F1F4F7"/>
          </a:solidFill>
          <a:ln w="12700">
            <a:solidFill>
              <a:srgbClr val="F1F4F7"/>
            </a:solidFill>
            <a:prstDash val="solid"/>
          </a:ln>
          <a:effectLst>
            <a:outerShdw sx="100000" sy="100000" kx="0" ky="0" algn="bl" rotWithShape="0" blurRad="101600" dist="12700" dir="5400000">
              <a:srgbClr val="8CA0B3">
                <a:alpha val="10000"/>
              </a:srgbClr>
            </a:outerShdw>
          </a:effectLst>
        </p:spPr>
      </p:sp>
      <p:sp>
        <p:nvSpPr>
          <p:cNvPr id="23" name="Text 21"/>
          <p:cNvSpPr txBox="1"/>
          <p:nvPr/>
        </p:nvSpPr>
        <p:spPr>
          <a:xfrm>
            <a:off x="804672" y="4261104"/>
            <a:ext cx="7589520" cy="438912"/>
          </a:xfrm>
          <a:prstGeom prst="rect">
            <a:avLst/>
          </a:prstGeom>
          <a:noFill/>
          <a:ln/>
        </p:spPr>
        <p:txBody>
          <a:bodyPr wrap="square" lIns="0" tIns="0" rIns="0" bIns="0" rtlCol="0" anchor="ctr"/>
          <a:lstStyle/>
          <a:p>
            <a:pPr indent="0" marL="0">
              <a:lnSpc>
                <a:spcPts val="1400"/>
              </a:lnSpc>
              <a:buNone/>
            </a:pPr>
            <a:r>
              <a:rPr lang="en-US" sz="1050" dirty="0">
                <a:solidFill>
                  <a:srgbClr val="31404E"/>
                </a:solidFill>
                <a:latin typeface="Calibri" pitchFamily="34" charset="0"/>
                <a:ea typeface="Calibri" pitchFamily="34" charset="-122"/>
                <a:cs typeface="Calibri" pitchFamily="34" charset="-120"/>
              </a:rPr>
              <a:t>The engine keeps no history — it sends a complete snapshot every frame — so these series accumulate in the browser as you watch. 116 engine tests pin the behaviour these slides describe.</a:t>
            </a:r>
            <a:endParaRPr lang="en-US" sz="1050" dirty="0"/>
          </a:p>
        </p:txBody>
      </p:sp>
      <p:sp>
        <p:nvSpPr>
          <p:cNvPr id="24" name="Text 22"/>
          <p:cNvSpPr txBox="1"/>
          <p:nvPr/>
        </p:nvSpPr>
        <p:spPr>
          <a:xfrm>
            <a:off x="8321040" y="4864608"/>
            <a:ext cx="457200" cy="237744"/>
          </a:xfrm>
          <a:prstGeom prst="rect">
            <a:avLst/>
          </a:prstGeom>
          <a:noFill/>
          <a:ln/>
        </p:spPr>
        <p:txBody>
          <a:bodyPr wrap="square" lIns="0" tIns="0" rIns="0" bIns="0" rtlCol="0" anchor="ctr"/>
          <a:lstStyle/>
          <a:p>
            <a:pPr algn="r" indent="0" marL="0">
              <a:buNone/>
            </a:pPr>
            <a:r>
              <a:rPr lang="en-US" sz="1000" dirty="0">
                <a:solidFill>
                  <a:srgbClr val="6B7C8C"/>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41A24"/>
        </a:solidFill>
      </p:bgPr>
    </p:bg>
    <p:spTree>
      <p:nvGrpSpPr>
        <p:cNvPr id="1" name=""/>
        <p:cNvGrpSpPr/>
        <p:nvPr/>
      </p:nvGrpSpPr>
      <p:grpSpPr>
        <a:xfrm>
          <a:off x="0" y="0"/>
          <a:ext cx="0" cy="0"/>
          <a:chOff x="0" y="0"/>
          <a:chExt cx="0" cy="0"/>
        </a:xfrm>
      </p:grpSpPr>
      <p:sp>
        <p:nvSpPr>
          <p:cNvPr id="2" name="Text 0"/>
          <p:cNvSpPr txBox="1"/>
          <p:nvPr/>
        </p:nvSpPr>
        <p:spPr>
          <a:xfrm>
            <a:off x="640080" y="640080"/>
            <a:ext cx="786384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we would not claim</a:t>
            </a:r>
            <a:endParaRPr lang="en-US" sz="3200" dirty="0"/>
          </a:p>
        </p:txBody>
      </p:sp>
      <p:sp>
        <p:nvSpPr>
          <p:cNvPr id="3" name="Text 1"/>
          <p:cNvSpPr txBox="1"/>
          <p:nvPr/>
        </p:nvSpPr>
        <p:spPr>
          <a:xfrm>
            <a:off x="658368" y="1207008"/>
            <a:ext cx="7863840" cy="274320"/>
          </a:xfrm>
          <a:prstGeom prst="rect">
            <a:avLst/>
          </a:prstGeom>
          <a:noFill/>
          <a:ln/>
        </p:spPr>
        <p:txBody>
          <a:bodyPr wrap="square" lIns="0" tIns="0" rIns="0" bIns="0" rtlCol="0" anchor="ctr"/>
          <a:lstStyle/>
          <a:p>
            <a:pPr indent="0" marL="0">
              <a:buNone/>
            </a:pPr>
            <a:r>
              <a:rPr lang="en-US" sz="1200" dirty="0">
                <a:solidFill>
                  <a:srgbClr val="9AAAB8"/>
                </a:solidFill>
                <a:latin typeface="Calibri" pitchFamily="34" charset="0"/>
                <a:ea typeface="Calibri" pitchFamily="34" charset="-122"/>
                <a:cs typeface="Calibri" pitchFamily="34" charset="-120"/>
              </a:rPr>
              <a:t>The three things we would rather say ourselves than have found.</a:t>
            </a:r>
            <a:endParaRPr lang="en-US" sz="1200" dirty="0"/>
          </a:p>
        </p:txBody>
      </p:sp>
      <p:sp>
        <p:nvSpPr>
          <p:cNvPr id="4" name="Shape 2"/>
          <p:cNvSpPr/>
          <p:nvPr/>
        </p:nvSpPr>
        <p:spPr>
          <a:xfrm>
            <a:off x="640080" y="1691640"/>
            <a:ext cx="329184" cy="329184"/>
          </a:xfrm>
          <a:prstGeom prst="ellipse">
            <a:avLst/>
          </a:prstGeom>
          <a:solidFill>
            <a:srgbClr val="B3402F"/>
          </a:solidFill>
          <a:ln w="12700">
            <a:solidFill>
              <a:srgbClr val="B3402F"/>
            </a:solidFill>
            <a:prstDash val="solid"/>
          </a:ln>
        </p:spPr>
      </p:sp>
      <p:sp>
        <p:nvSpPr>
          <p:cNvPr id="5" name="Text 3"/>
          <p:cNvSpPr txBox="1"/>
          <p:nvPr/>
        </p:nvSpPr>
        <p:spPr>
          <a:xfrm>
            <a:off x="640080" y="169164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170432" y="1673352"/>
            <a:ext cx="73152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headline benchmark is not an equal-memory comparison</a:t>
            </a:r>
            <a:endParaRPr lang="en-US" sz="1300" dirty="0"/>
          </a:p>
        </p:txBody>
      </p:sp>
      <p:sp>
        <p:nvSpPr>
          <p:cNvPr id="7" name="Text 5"/>
          <p:cNvSpPr txBox="1"/>
          <p:nvPr/>
        </p:nvSpPr>
        <p:spPr>
          <a:xfrm>
            <a:off x="1170432" y="1965960"/>
            <a:ext cx="7315200" cy="731520"/>
          </a:xfrm>
          <a:prstGeom prst="rect">
            <a:avLst/>
          </a:prstGeom>
          <a:noFill/>
          <a:ln/>
        </p:spPr>
        <p:txBody>
          <a:bodyPr wrap="square" lIns="0" tIns="0" rIns="0" bIns="0" rtlCol="0" anchor="ctr"/>
          <a:lstStyle/>
          <a:p>
            <a:pPr indent="0" marL="0">
              <a:lnSpc>
                <a:spcPts val="1400"/>
              </a:lnSpc>
              <a:buNone/>
            </a:pPr>
            <a:r>
              <a:rPr lang="en-US" sz="1050" dirty="0">
                <a:solidFill>
                  <a:srgbClr val="9AAAB8"/>
                </a:solidFill>
                <a:latin typeface="Calibri" pitchFamily="34" charset="0"/>
                <a:ea typeface="Calibri" pitchFamily="34" charset="-122"/>
                <a:cs typeface="Calibri" pitchFamily="34" charset="-120"/>
              </a:rPr>
              <a:t>AURA runs a 512 MB pool against every baseline’s 128 MB. The aura_fixed control — the same engine held at equal memory — loses on four of the six scenarios. The ones it still wins are the cost-skewed ones, which is exactly what the scoring was built for.</a:t>
            </a:r>
            <a:endParaRPr lang="en-US" sz="1050" dirty="0"/>
          </a:p>
        </p:txBody>
      </p:sp>
      <p:sp>
        <p:nvSpPr>
          <p:cNvPr id="8" name="Shape 6"/>
          <p:cNvSpPr/>
          <p:nvPr/>
        </p:nvSpPr>
        <p:spPr>
          <a:xfrm>
            <a:off x="640080" y="2770632"/>
            <a:ext cx="329184" cy="329184"/>
          </a:xfrm>
          <a:prstGeom prst="ellipse">
            <a:avLst/>
          </a:prstGeom>
          <a:solidFill>
            <a:srgbClr val="D97A16"/>
          </a:solidFill>
          <a:ln w="12700">
            <a:solidFill>
              <a:srgbClr val="D97A16"/>
            </a:solidFill>
            <a:prstDash val="solid"/>
          </a:ln>
        </p:spPr>
      </p:sp>
      <p:sp>
        <p:nvSpPr>
          <p:cNvPr id="9" name="Text 7"/>
          <p:cNvSpPr txBox="1"/>
          <p:nvPr/>
        </p:nvSpPr>
        <p:spPr>
          <a:xfrm>
            <a:off x="640080" y="2770632"/>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1170432" y="2752344"/>
            <a:ext cx="73152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bandit.kind is a config knob that currently does nothing</a:t>
            </a:r>
            <a:endParaRPr lang="en-US" sz="1300" dirty="0"/>
          </a:p>
        </p:txBody>
      </p:sp>
      <p:sp>
        <p:nvSpPr>
          <p:cNvPr id="11" name="Text 9"/>
          <p:cNvSpPr txBox="1"/>
          <p:nvPr/>
        </p:nvSpPr>
        <p:spPr>
          <a:xfrm>
            <a:off x="1170432" y="3044952"/>
            <a:ext cx="7315200" cy="731520"/>
          </a:xfrm>
          <a:prstGeom prst="rect">
            <a:avLst/>
          </a:prstGeom>
          <a:noFill/>
          <a:ln/>
        </p:spPr>
        <p:txBody>
          <a:bodyPr wrap="square" lIns="0" tIns="0" rIns="0" bIns="0" rtlCol="0" anchor="ctr"/>
          <a:lstStyle/>
          <a:p>
            <a:pPr indent="0" marL="0">
              <a:lnSpc>
                <a:spcPts val="1400"/>
              </a:lnSpc>
              <a:buNone/>
            </a:pPr>
            <a:r>
              <a:rPr lang="en-US" sz="1050" dirty="0">
                <a:solidFill>
                  <a:srgbClr val="9AAAB8"/>
                </a:solidFill>
                <a:latin typeface="Calibri" pitchFamily="34" charset="0"/>
                <a:ea typeface="Calibri" pitchFamily="34" charset="-122"/>
                <a:cs typeface="Calibri" pitchFamily="34" charset="-120"/>
              </a:rPr>
              <a:t>The field reads as a choice of algorithm. There is one implementation behind it: arm selection is always Thompson sampling.</a:t>
            </a:r>
            <a:endParaRPr lang="en-US" sz="1050" dirty="0"/>
          </a:p>
        </p:txBody>
      </p:sp>
      <p:sp>
        <p:nvSpPr>
          <p:cNvPr id="12" name="Shape 10"/>
          <p:cNvSpPr/>
          <p:nvPr/>
        </p:nvSpPr>
        <p:spPr>
          <a:xfrm>
            <a:off x="640080" y="3849624"/>
            <a:ext cx="329184" cy="329184"/>
          </a:xfrm>
          <a:prstGeom prst="ellipse">
            <a:avLst/>
          </a:prstGeom>
          <a:solidFill>
            <a:srgbClr val="D97A16"/>
          </a:solidFill>
          <a:ln w="12700">
            <a:solidFill>
              <a:srgbClr val="D97A16"/>
            </a:solidFill>
            <a:prstDash val="solid"/>
          </a:ln>
        </p:spPr>
      </p:sp>
      <p:sp>
        <p:nvSpPr>
          <p:cNvPr id="13" name="Text 11"/>
          <p:cNvSpPr txBox="1"/>
          <p:nvPr/>
        </p:nvSpPr>
        <p:spPr>
          <a:xfrm>
            <a:off x="640080" y="3849624"/>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170432" y="3831336"/>
            <a:ext cx="73152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first request after idle takes about 50 seconds</a:t>
            </a:r>
            <a:endParaRPr lang="en-US" sz="1300" dirty="0"/>
          </a:p>
        </p:txBody>
      </p:sp>
      <p:sp>
        <p:nvSpPr>
          <p:cNvPr id="15" name="Text 13"/>
          <p:cNvSpPr txBox="1"/>
          <p:nvPr/>
        </p:nvSpPr>
        <p:spPr>
          <a:xfrm>
            <a:off x="1170432" y="4123944"/>
            <a:ext cx="7315200" cy="731520"/>
          </a:xfrm>
          <a:prstGeom prst="rect">
            <a:avLst/>
          </a:prstGeom>
          <a:noFill/>
          <a:ln/>
        </p:spPr>
        <p:txBody>
          <a:bodyPr wrap="square" lIns="0" tIns="0" rIns="0" bIns="0" rtlCol="0" anchor="ctr"/>
          <a:lstStyle/>
          <a:p>
            <a:pPr indent="0" marL="0">
              <a:lnSpc>
                <a:spcPts val="1400"/>
              </a:lnSpc>
              <a:buNone/>
            </a:pPr>
            <a:r>
              <a:rPr lang="en-US" sz="1050" dirty="0">
                <a:solidFill>
                  <a:srgbClr val="9AAAB8"/>
                </a:solidFill>
                <a:latin typeface="Calibri" pitchFamily="34" charset="0"/>
                <a:ea typeface="Calibri" pitchFamily="34" charset="-122"/>
                <a:cs typeface="Calibri" pitchFamily="34" charset="-120"/>
              </a:rPr>
              <a:t>Free-tier hosting sleeps. Anything demoed cold pays that once, so the demo needs a warm-up request before anyone is watching.</a:t>
            </a:r>
            <a:endParaRPr lang="en-US" sz="1050" dirty="0"/>
          </a:p>
        </p:txBody>
      </p:sp>
      <p:sp>
        <p:nvSpPr>
          <p:cNvPr id="16" name="Text 14"/>
          <p:cNvSpPr txBox="1"/>
          <p:nvPr/>
        </p:nvSpPr>
        <p:spPr>
          <a:xfrm>
            <a:off x="658368" y="4681728"/>
            <a:ext cx="7863840" cy="274320"/>
          </a:xfrm>
          <a:prstGeom prst="rect">
            <a:avLst/>
          </a:prstGeom>
          <a:noFill/>
          <a:ln/>
        </p:spPr>
        <p:txBody>
          <a:bodyPr wrap="square" lIns="0" tIns="0" rIns="0" bIns="0" rtlCol="0" anchor="ctr"/>
          <a:lstStyle/>
          <a:p>
            <a:pPr indent="0" marL="0">
              <a:buNone/>
            </a:pPr>
            <a:r>
              <a:rPr lang="en-US" sz="1100" spc="100" kern="0" dirty="0">
                <a:solidFill>
                  <a:srgbClr val="1B9C86"/>
                </a:solidFill>
                <a:latin typeface="Calibri" pitchFamily="34" charset="0"/>
                <a:ea typeface="Calibri" pitchFamily="34" charset="-122"/>
                <a:cs typeface="Calibri" pitchFamily="34" charset="-120"/>
              </a:rPr>
              <a:t>A caveat a judge finds is worth far less than a caveat we hand them.</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AURA — Adaptive, Application-Aware Cache Management</dc:title>
  <dc:subject>PptxGenJS Presentation</dc:subject>
  <dc:creator>officialayush23</dc:creator>
  <cp:lastModifiedBy>officialayush23</cp:lastModifiedBy>
  <cp:revision>1</cp:revision>
  <dcterms:created xsi:type="dcterms:W3CDTF">2026-09-05T08:10:43Z</dcterms:created>
  <dcterms:modified xsi:type="dcterms:W3CDTF">2026-09-05T08:10:43Z</dcterms:modified>
</cp:coreProperties>
</file>