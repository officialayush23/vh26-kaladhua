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1404E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31404E"/>
                </a:solidFill>
                <a:latin typeface="Calibri"/>
              </a:rPr>
              <a:t>expensive_tail — total cost, lower is better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cost (USD)</c:v>
                </c:pt>
              </c:strCache>
            </c:strRef>
          </c:tx>
          <c:spPr>
            <a:solidFill>
              <a:srgbClr val="1B9C8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31404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9C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B7C8C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aura</c:v>
                  </c:pt>
                  <c:pt idx="1">
                    <c:v>tinylfu</c:v>
                  </c:pt>
                  <c:pt idx="2">
                    <c:v>sieve</c:v>
                  </c:pt>
                  <c:pt idx="3">
                    <c:v>lfu</c:v>
                  </c:pt>
                  <c:pt idx="4">
                    <c:v>s3fifo</c:v>
                  </c:pt>
                  <c:pt idx="5">
                    <c:v>gdsf</c:v>
                  </c:pt>
                  <c:pt idx="6">
                    <c:v>lecar</c:v>
                  </c:pt>
                  <c:pt idx="7">
                    <c:v>lru</c:v>
                  </c:pt>
                  <c:pt idx="8">
                    <c:v>gds</c:v>
                  </c:pt>
                  <c:pt idx="9">
                    <c:v>fifo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109.52</c:v>
                </c:pt>
                <c:pt idx="1">
                  <c:v>115.16</c:v>
                </c:pt>
                <c:pt idx="2">
                  <c:v>118.56</c:v>
                </c:pt>
                <c:pt idx="3">
                  <c:v>118.59</c:v>
                </c:pt>
                <c:pt idx="4">
                  <c:v>121.84</c:v>
                </c:pt>
                <c:pt idx="5">
                  <c:v>123.47</c:v>
                </c:pt>
                <c:pt idx="6">
                  <c:v>131.64</c:v>
                </c:pt>
                <c:pt idx="7">
                  <c:v>133.48</c:v>
                </c:pt>
                <c:pt idx="8">
                  <c:v>135.72</c:v>
                </c:pt>
                <c:pt idx="9">
                  <c:v>137.81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31404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1404E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</c:scaling>
        <c:delete val="0"/>
        <c:axPos val="b"/>
        <c:majorGridlines>
          <c:spPr>
            <a:ln w="12700" cap="flat">
              <a:solidFill>
                <a:srgbClr val="D8DF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AURA = Adaptive Utility and Runtime-Aware. One sentence: traditional caches keep what was touched recently, which is a proxy for value and a bad one. We price every object by what rebuilding it actually cost and keep it only if it beats what it displaces.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4-cent vs free example is the whole pitch. Lead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else in the system exists to feed this one expression.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Held-out-application AUC 0.9069 with the extra signals vs 0.8797 without — measured transfer, not a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telling: admission and eviction were once computed in two different unit scales, so every arrival cleared the bar — zero rejections in 42,614 admissions. Both sides now end in value_density. We found it by instrumenting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Critical detail: the reward is realised, not predicted. A decision is written to a journal and graded 60 seconds later against what actually happened. Crediting at decision time would be the system grading its own homework — it would learn its own confidence was justified whatever occurred. That was a real bug we found and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Refusing everything would otherwise look like genius — hence 0.80, not 1.0, for a correct refusal.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bug worth mentioning if asked how we tested: scan_score was originally singles/total, which any wide Zipf window also produces. Ordinary traffic was classified as a scan and the engine mass-rejected admissions. It is now a novelty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fixed here: the controller used to shrink whenever the pool was under 55% full, which on a cold cache fired immediately and gave away memory it was about to need. Low pressure on an empty cache is not evidence memory is unwanted.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Fairness: one stream generated once and replayed; one Pricing struct for all; memory charged as occupancy integrated over time, not sampled at the end. Belady is reported as the offline ceiling, not a competitor — 39.5% hit rate at $69.19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about memory, you get to say you already knew and already measured it. That is worth more than a clean sweep nobody believes.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Eviction, invalidation and expiry are counted as three separate events. Merging them hides the only one that indicates a bug — invalidation means the cache was wrong, eviction only means it was full.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AURA</a:t>
            </a:r>
            <a:endParaRPr lang="en-US" sz="68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395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Utility &amp; Runtime-Aware cache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852928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cache that scores every object in dollars of backend work saved per dollar of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rented — and resizes itself when the arithmetic says to.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VH26  ·  Application Scaling  ·  Team KalaDhua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46520" y="1371600"/>
            <a:ext cx="2148840" cy="2240280"/>
          </a:xfrm>
          <a:prstGeom prst="roundRect">
            <a:avLst>
              <a:gd name="adj" fmla="val 3404"/>
            </a:avLst>
          </a:prstGeom>
          <a:solidFill>
            <a:srgbClr val="1E2933"/>
          </a:solidFill>
          <a:ln w="12700">
            <a:solidFill>
              <a:srgbClr val="1E29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7276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9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6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2860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won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63347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9 real baseline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implementations, one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request stream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Recency is a proxy for value. It is a bad one.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31920" cy="1874520"/>
          </a:xfrm>
          <a:prstGeom prst="roundRect">
            <a:avLst>
              <a:gd name="adj" fmla="val 2927"/>
            </a:avLst>
          </a:prstGeom>
          <a:solidFill>
            <a:srgbClr val="F7E2DE"/>
          </a:solidFill>
          <a:ln w="12700">
            <a:solidFill>
              <a:srgbClr val="F7E2DE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LRU does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75104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GPU-ranked recommendation costing 4¢ to rebuild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 lookup costing nothing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touched a minute ago — identical rank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1417320"/>
            <a:ext cx="3886200" cy="1874520"/>
          </a:xfrm>
          <a:prstGeom prst="roundRect">
            <a:avLst>
              <a:gd name="adj" fmla="val 2927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8348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AURA does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1975104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the rebuild the application actually paid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reuse at three time horizons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Divides by what the bytes cost to hold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20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objects that both take 300 ms to rebuild can differ 100× in price — one burns a GPU, the other holds a database connection. Collapsing that into “latency” is the information loss that makes conventional policies mis-rank.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ENGINE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number decides everything: value density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892040" cy="1828800"/>
          </a:xfrm>
          <a:prstGeom prst="roundRect">
            <a:avLst>
              <a:gd name="adj" fmla="val 2500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44897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reuses     = r10s·w₀·6 + r60s·w₁·2 + r600s·w₂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tail_risk  = 1 + min(cost_var, 4)·λ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     = cost_usd · expected_reuses · tail_risk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hold       = price(size_bytes, 60s)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density    = value / hold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715000" y="137160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aloud as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673352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“Dollars of backend work this object will save me, per dollar it costs to keep.”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260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engine.rs :: value_density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3566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divide by size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22192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 a 24 MB media blob and a 40 KB query result with equal cost and reuse score the same — and the blob displaces 600 objects.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10128" y="34290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93008" y="3566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three horizons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93008" y="3822192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“Will this be reused” is meaningless unbounded. 10 s decides admission, 60 s decides eviction, 600 s decides refresh.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71616" y="3429000"/>
            <a:ext cx="2578608" cy="1170432"/>
          </a:xfrm>
          <a:prstGeom prst="roundRect">
            <a:avLst>
              <a:gd name="adj" fmla="val 4688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54496" y="3566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cost vector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3822192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GPU, DB, network and paid-API dollars kept separate, then priced. A single latency number throws the economics away.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MULTI-FACTOR, NOT A SINGLE METRIC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features feed the score — 20 reach the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62456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362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350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pattern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335024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at 1m / 5m / 1h, recency, inter-arrival gap, burstiness, reuse distance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329184" cy="329184"/>
          </a:xfrm>
          <a:prstGeom prst="ellipse">
            <a:avLst/>
          </a:prstGeom>
          <a:solidFill>
            <a:srgbClr val="D97A16"/>
          </a:solidFill>
          <a:ln w="12700">
            <a:solidFill>
              <a:srgbClr val="D97A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20482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footprint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048256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size, size percentile within its own application, cache pressure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788920"/>
            <a:ext cx="329184" cy="329184"/>
          </a:xfrm>
          <a:prstGeom prst="ellipse">
            <a:avLst/>
          </a:prstGeom>
          <a:solidFill>
            <a:srgbClr val="D97A16"/>
          </a:solidFill>
          <a:ln w="12700">
            <a:solidFill>
              <a:srgbClr val="D97A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60704" y="2761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cost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2761488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ms, GPU ms, DB ms, network bytes, paid API dollars — measured, not estimated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502152"/>
            <a:ext cx="329184" cy="329184"/>
          </a:xfrm>
          <a:prstGeom prst="ellipse">
            <a:avLst/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3502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3474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we added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474720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&amp; acceleration (fast vs slow EWMA), cost variance p95/p50, TTL remaining, novelty rate, SLA class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22452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43434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enters the model as a percentile within its own application, never as raw dollars. That is what lets one trained model serve a service it has never seen.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 only if it beats what it would displace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60520" cy="2286000"/>
          </a:xfrm>
          <a:prstGeom prst="roundRect">
            <a:avLst>
              <a:gd name="adj" fmla="val 2000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375818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 = victim_bar(size)  # 0 if room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threshold = bar × 1.10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&gt; capacity/4  → Reject (too big)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&amp; r10 &lt; .15   → Reject (one-shot)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density ≥ threshold → Admit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r60 &gt; 0.75         → Admit (near-term)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otherwise          → Reject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74920" y="137160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victim_bar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168249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32 residents at random and returns the lowest density among them — an estimate of what would have to die for this object to live.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4323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cache has room, the bar is zero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74920" y="27432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then would trade a guaranteed backend call for a hypothetical one. Admission control only earns its keep under contention.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4672" y="398678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scan-resistance mechanism.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4261104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one-touch scan key has near-zero predicted reuse, so near-zero density, so it never clears the bar and never displaces the working set. LRU has no such gate, which is why a scan flushes it.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32, evict the weakest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47472" cy="347472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30759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expired first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30759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wins before costly ones. Expiry, eviction and invalidation are three different events and are counted separately.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057400"/>
            <a:ext cx="347472" cy="347472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03911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32 residents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03911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every object for the true minimum is unaffordable at request rate. 32 samples land within a few percent — the result Redis’s own allkeys-lru relies on. Eviction stays O(1) in cache size.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788920"/>
            <a:ext cx="347472" cy="347472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77063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with peek, not touch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277063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counters must not record an access, or every eviction sweep would look like traffic and save the object it was considering.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520440"/>
            <a:ext cx="347472" cy="347472"/>
          </a:xfrm>
          <a:prstGeom prst="ellipse">
            <a:avLst/>
          </a:prstGeom>
          <a:solidFill>
            <a:srgbClr val="D97A16"/>
          </a:solidFill>
          <a:ln w="12700">
            <a:solidFill>
              <a:srgbClr val="D97A1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3520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021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nothing is worse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50215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weakest sample beats the arrival, the arrival is refused instead. The cache never trades down.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8046720" cy="512064"/>
          </a:xfrm>
          <a:prstGeom prst="roundRect">
            <a:avLst>
              <a:gd name="adj" fmla="val 10714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04672" y="44074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are scored on the same scale as arrivals — both end in value_density — so “is this worth keeping” and “is this worth admitting” are literally the same question.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ADAPTATION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Thompson sampling over six competing experts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classical policies run underneath as competing experts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13232" y="17739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lru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933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(1 + age)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1700784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56432" y="17739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lfu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19933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freq_1h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1700784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99632" y="17739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gdsf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199632" y="19933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freq·cost / log size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2359152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13232" y="2432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tiny_lfu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2651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0.7·f1m + 0.3·f5m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91840" y="2359152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2432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cost_aware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456432" y="2651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log size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35040" y="2359152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199632" y="24323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trend_aware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199632" y="26517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ewma·(1+trend)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063240"/>
            <a:ext cx="3931920" cy="1737360"/>
          </a:xfrm>
          <a:prstGeom prst="roundRect">
            <a:avLst>
              <a:gd name="adj" fmla="val 3158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32186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bandit, not a vote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3511296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arm keeps a Beta posterior over “did following this expert actually pay off”. Thompson sampling then explores in proportion to genuine uncertainty — it neither locks onto one policy nor wastes traffic on arms it has already ruled out.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3931920" cy="1737360"/>
          </a:xfrm>
          <a:prstGeom prst="roundRect">
            <a:avLst>
              <a:gd name="adj" fmla="val 3158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919472" y="32186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posterior decays (×0.995 / tick)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919472" y="3511296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decay the posterior freezes: an expert that was right for an hour outvotes fresh evidence forever. Decay is what makes “adaptive at runtime” true rather than “adaptive for the first five minutes”.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ADAPTATION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Graded on outcomes, never on predictions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883664" cy="1691640"/>
          </a:xfrm>
          <a:prstGeom prst="roundRect">
            <a:avLst>
              <a:gd name="adj" fmla="val 324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36192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568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231136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admit or refuse, and write the decision to a journal with the exact feature vector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96896" y="1371600"/>
            <a:ext cx="1883664" cy="1691640"/>
          </a:xfrm>
          <a:prstGeom prst="roundRect">
            <a:avLst>
              <a:gd name="adj" fmla="val 324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61488" y="1536192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1488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61488" y="19568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761488" y="2231136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arrives. A miss counts as reuse too — the label answers “was it wanted again”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45152" y="1371600"/>
            <a:ext cx="1883664" cy="1691640"/>
          </a:xfrm>
          <a:prstGeom prst="roundRect">
            <a:avLst>
              <a:gd name="adj" fmla="val 324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09744" y="1536192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9744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09744" y="19568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at 60 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09744" y="2231136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bandit arm and correct the online model against what actually happened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693408" y="1371600"/>
            <a:ext cx="1883664" cy="1691640"/>
          </a:xfrm>
          <a:prstGeom prst="roundRect">
            <a:avLst>
              <a:gd name="adj" fmla="val 324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0" y="1536192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19568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at 600 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2231136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matured record becomes a labelled training row for the next model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outcomes are graded asymmetrically, on purpose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362102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Kept, reused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36210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0.55 – 1.00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364992" y="36210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correct, and worth more when the avoided rebuild was expensive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394106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Kept, unused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194560" y="39410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A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364992" y="394106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rent paid and something else displaced for nothing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26110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Refused, unused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42611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0.80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3364992" y="426110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correct, but cheap to be right about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5811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Refused, reused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2194560" y="45811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4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364992" y="458114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mistake — a rebuild we could have avoided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ADAPTATION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statistics classify the traffic, live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burstiness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held by the top 16 keys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crowds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47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entropy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1847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over the key histogram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2257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working_set_growth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distinct-key count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3225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pressure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79806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reuse_distance_p50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798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gap between repeats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79806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locality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2735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popularity_shift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3273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overlap of top-32 with previous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27355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hot set turning over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49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scan_score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rate × (1 − repeat rate)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sweeps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224528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04672" y="435254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here. This runs on every controller tick and must not appear in the latency budget. argmax over six regimes — Steady, FlashCrowd, Scan, Shifting, Expensive, Growing — and the classification changes admission behaviour directly.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SCENARIOS, AND WHAT FIRES IN EACH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disturbance has a named mechanism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35331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crowd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5544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keys take most of the traffic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408176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Single-flight lease means one origin call, not a thousand. High r10s clears admission instantly.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699248" y="1444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+15.2%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65376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19202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12140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high, repeat rate low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1975104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flips to Scan; one-touch keys are refused before they displace the working set.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699248" y="2011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432304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248716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spike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268833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prices jump for one class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2542032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rises → density rises → the bandit shifts weight toward cost_aware and gdsf.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699248" y="257860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2999232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30540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Shifting popularity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325526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top-32 overlap collapses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310896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decay lets fresh evidence outvote the old hot set within a window.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699248" y="31455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+6.0%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566160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36210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tail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382219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minority cost 100× the rest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2377440" y="3675888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tail_risk multiplier protects objects whose misses are occasionally catastrophic.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699248" y="37124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+4.9%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133088"/>
            <a:ext cx="8046720" cy="512064"/>
          </a:xfrm>
          <a:prstGeom prst="roundRect">
            <a:avLst>
              <a:gd name="adj" fmla="val 89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" y="418795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production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438912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 above, interleaved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242816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result: W-TinyLFU edges us by 1%. Uniform costs give cost-awareness nothing to exploit.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699248" y="42793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−0.99%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864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vs the strongest baseline in that scenario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ADAPTATION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is a dollars-per-hour argument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663440" cy="1965960"/>
          </a:xfrm>
          <a:prstGeom prst="roundRect">
            <a:avLst>
              <a:gd name="adj" fmla="val 2326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426110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Δhit       = mrc(now + step) − mrc(now)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savings/hr = Δhit × req/hr × avg_cost_of_miss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rent/hr    = extra_GB × cache_gb_hour_usd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        = savings / rent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 ≥ 1.25 and host has room → ScaleUp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 ≥ 1.25 and host is full  → ScaleOut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716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miss-ratio curve is measured, not invented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40680" y="1883664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concave fit h(b) = b/(b+k), with k solved from the hit rate the cache is actually achieving at its current size. A cooldown stops a transient burst making it oscillate.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364845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“Grew the pool from 128 MB to 384 MB. The extra memory should lift the hit rate 4.1 points, saving $0.42/hr against $0.01/hr of rent — $0.41/hr net.”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axis where no classical baseline has any mechanism at all — and, as the next slide is honest about, it is also where most of our margin comes from.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stream, ten policies, identical prices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298448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715000" y="1371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vs the strongest baseline, per scenario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7190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steady_zipf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17190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+22.0%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20482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flash_crowd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482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+15.2%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shifting_popularity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3774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+6.0%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706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expensive_tail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70662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+4.9%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715000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scan_resistance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0358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3649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mixed_production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3649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−0.99%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715000" y="3675888"/>
            <a:ext cx="2880360" cy="1005840"/>
          </a:xfrm>
          <a:prstGeom prst="roundRect">
            <a:avLst>
              <a:gd name="adj" fmla="val 5455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897880" y="37856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three the brief names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897880" y="4041648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LRU  +5.4% to +35.7%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LFU  +1.2% to +25.1%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B9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GDS  +5.1% to +36.3%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BENCHMARK DOES NOT SAY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actually comes from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31920" cy="1600200"/>
          </a:xfrm>
          <a:prstGeom prst="roundRect">
            <a:avLst>
              <a:gd name="adj" fmla="val 3429"/>
            </a:avLst>
          </a:prstGeom>
          <a:solidFill>
            <a:srgbClr val="F7E2DE"/>
          </a:solidFill>
          <a:ln w="12700">
            <a:solidFill>
              <a:srgbClr val="F7E2DE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5727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 ran a larger pool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865376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MB against every baseline’s 128 MB. It is charged for every byte at the same price, integrated over time — but at this timescale holding cost is ~$0.0001, so memory is nearly free and taking it is rational.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417320"/>
            <a:ext cx="3931920" cy="1600200"/>
          </a:xfrm>
          <a:prstGeom prst="roundRect">
            <a:avLst>
              <a:gd name="adj" fmla="val 3429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19472" y="15727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equal memory, we lose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919472" y="1865376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with a fixed 128 MB pool is behind the best baseline on four of six scenarios. So the ranking model is not yet what wins — the capacity controller is.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46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are showing you this ourselves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661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how much memory to rent is a real contribution — no classical policy has any mechanism for it, and ours argues in dollars per hour. But “we win” and “we win at equal memory” are different claims, and a benchmark that quietly conflates them is not evidence. The fix is one line: cap the controller at the baselines’ budget so it may shrink but never exceed. We would rather report the split than have it found.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Validity is checked before value — always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11880" cy="1417320"/>
          </a:xfrm>
          <a:prstGeom prst="roundRect">
            <a:avLst>
              <a:gd name="adj" fmla="val 3226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17904"/>
            <a:ext cx="320954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valid? ─no→ go to origin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yes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worth keeping?  ← ML + economics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1371600"/>
            <a:ext cx="4160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cache that serves ₹40 after the database says ₹20 is not a fast cache, it is a wrong one. No score is high enough to buy a wrong answer, so the freshness check consults neither the model nor the economics.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999232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tags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28416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declares what it was derived from — row:product:1292. One write invalidates every object downstream, however many, whoever built them.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2999232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 versions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3328416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redeploy bumps a version. Nothing is deleted; the old generation ages out. Flushing instead would send the whole miss stream at the origin.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402336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/ hard TTL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261104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soft threshold an object is served once while a rebuild runs behind the reader — which is what stops a popular key becoming a stampede at expiry.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3931920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846320" y="402336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Single-flight lease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4261104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miss, exactly one caller is told to rebuild; the rest are told who is doing it. A flash crowd on a cold key makes one origin call.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sits, and what it costs to adopt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1E2933"/>
          </a:solidFill>
          <a:ln w="12700">
            <a:solidFill>
              <a:srgbClr val="1E29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999232" y="1572768"/>
            <a:ext cx="310896" cy="219456"/>
          </a:xfrm>
          <a:prstGeom prst="rightArrow">
            <a:avLst/>
          </a:prstGeom>
          <a:solidFill>
            <a:srgbClr val="D8DFE6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132588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3258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33872" y="1572768"/>
            <a:ext cx="310896" cy="219456"/>
          </a:xfrm>
          <a:prstGeom prst="rightArrow">
            <a:avLst/>
          </a:prstGeom>
          <a:solidFill>
            <a:srgbClr val="D8DFE6"/>
          </a:solidFill>
          <a:ln w="12700">
            <a:solidFill>
              <a:srgbClr val="D8DF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32588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6B7C8C"/>
          </a:solidFill>
          <a:ln w="12700">
            <a:solidFill>
              <a:srgbClr val="6B7C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3258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(Postgres / GPU / API)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0312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→ nothing downstream is touched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87168"/>
            <a:ext cx="4892040" cy="1481328"/>
          </a:xfrm>
          <a:prstGeom prst="roundRect">
            <a:avLst>
              <a:gd name="adj" fmla="val 3086"/>
            </a:avLst>
          </a:prstGeom>
          <a:solidFill>
            <a:srgbClr val="141A24"/>
          </a:solidFill>
          <a:ln w="12700">
            <a:solidFill>
              <a:srgbClr val="141A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33472"/>
            <a:ext cx="4489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await client.get_or_regen(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key="analytics:revenue:mumbai:30d",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object_type="dashboard_query",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ttl_ms=600_000,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regen=load_revenue,          # your function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24871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entire integration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715000" y="2798064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SDK measures what your rebuild actually cost — CPU, GPU, DB, bytes, API dollars — and hands that measurement to the cache. Nothing else changes.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cache never learns what a “recommendation” is. It only ever sees an ObjectContext.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8046720" cy="640080"/>
          </a:xfrm>
          <a:prstGeom prst="roundRect">
            <a:avLst>
              <a:gd name="adj" fmla="val 8571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" y="418795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today: engine on Render (Docker, auth enforced), console on Vercel, Supabase as control plane only — model registry, benchmark results, audit log. Never on the request path.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Said before anyone has to ask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25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45920"/>
            <a:ext cx="3977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engine, admission, eviction, scoring — ~3 µs p50, write path only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baseline policies as real implementations, not scoring stand-ins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GBDT model — 397,616 rows, AUC 0.94 / 0.93 / 0.88, loaded from Supabase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bytes held in real RAM with --real-values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Consistency: tags, versions, soft TTL, single-flight, real origin rebuilds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in plain English, shipped durably and never sampling correctness events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325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and we say so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64592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is a seeded generator by default — the brief permits simulated workloads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tiers (Redis, CDN) are priced and simulated, not built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example applications exist but have not yet driven a full demo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331012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D9F0EB"/>
          </a:solidFill>
          <a:ln w="12700">
            <a:solidFill>
              <a:srgbClr val="D9F0EB"/>
            </a:solidFill>
            <a:prstDash val="solid"/>
          </a:ln>
          <a:effectLst>
            <a:outerShdw sx="100000" sy="100000" kx="0" ky="0" algn="bl" rotWithShape="0" blurRad="101600" dist="12700" dir="5400000">
              <a:srgbClr val="8CA0B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974336" y="34381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here is instrumented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974336" y="3694176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140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reports which mode it is in, and 42 engine tests pin the behaviour the slides describe.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48646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different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optimises money, not hit rate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84708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is a proxy. A cache can raise it while spending more, by keeping a thousand cheap objects instead of ten expensive ones.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1536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adapts three ways at once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184708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mixture, the regime classifier and the capacity controller each move at runtime, on evidence, with nothing hardcoded.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971800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95351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graded on outcomes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26440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journalled and settled 60 s later against what actually happened — never against the score that produced it.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2971800"/>
            <a:ext cx="329184" cy="329184"/>
          </a:xfrm>
          <a:prstGeom prst="ellipse">
            <a:avLst/>
          </a:prstGeom>
          <a:solidFill>
            <a:srgbClr val="1B9C86"/>
          </a:solidFill>
          <a:ln w="12700">
            <a:solidFill>
              <a:srgbClr val="1B9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38928" y="295351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explains itself in English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138928" y="326440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that costs money or touches correctness becomes a sentence with the numbers behind it.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44398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B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 · 5 of 6 scenarios · up to 36% under the baselines the brief names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— Adaptive, Application-Aware Cache Management</dc:title>
  <dc:subject>PptxGenJS Presentation</dc:subject>
  <dc:creator>officialayush23</dc:creator>
  <cp:lastModifiedBy>officialayush23</cp:lastModifiedBy>
  <cp:revision>1</cp:revision>
  <dcterms:created xsi:type="dcterms:W3CDTF">2026-09-05T01:59:53Z</dcterms:created>
  <dcterms:modified xsi:type="dcterms:W3CDTF">2026-09-05T01:59:53Z</dcterms:modified>
</cp:coreProperties>
</file>