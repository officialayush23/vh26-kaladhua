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charts/chart1.xml" ContentType="application/vnd.openxmlformats-officedocument.drawingml.chart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31404E"/>
                </a:solidFill>
                <a:latin typeface="Calibri"/>
              </a:defRPr>
            </a:pPr>
            <a:r>
              <a:rPr sz="1100" b="0" i="0" u="none" strike="noStrike">
                <a:solidFill>
                  <a:srgbClr val="31404E"/>
                </a:solidFill>
                <a:latin typeface="Calibri"/>
              </a:rPr>
              <a:t>expensive_tail — total cost, lower is better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Total cost (USD)</c:v>
                </c:pt>
              </c:strCache>
            </c:strRef>
          </c:tx>
          <c:spPr>
            <a:solidFill>
              <a:srgbClr val="1B9C86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31404E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B9C86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6B7C8C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6B7C8C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6B7C8C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6B7C8C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6B7C8C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6B7C8C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6B7C8C"/>
              </a:solidFill>
              <a:effectLst/>
            </c:spPr>
          </c:dPt>
          <c:dPt>
            <c:idx val="8"/>
            <c:invertIfNegative val="0"/>
            <c:bubble3D val="0"/>
            <c:spPr>
              <a:solidFill>
                <a:srgbClr val="6B7C8C"/>
              </a:solidFill>
              <a:effectLst/>
            </c:spPr>
          </c:dPt>
          <c:dPt>
            <c:idx val="9"/>
            <c:invertIfNegative val="0"/>
            <c:bubble3D val="0"/>
            <c:spPr>
              <a:solidFill>
                <a:srgbClr val="6B7C8C"/>
              </a:solidFill>
              <a:effectLst/>
            </c:spPr>
          </c:dPt>
          <c:cat>
            <c:multiLvlStrRef>
              <c:f>Sheet1!$A$2:$A$11</c:f>
              <c:multiLvlStrCache>
                <c:ptCount val="10"/>
                <c:lvl>
                  <c:pt idx="0">
                    <c:v>aura</c:v>
                  </c:pt>
                  <c:pt idx="1">
                    <c:v>tinylfu</c:v>
                  </c:pt>
                  <c:pt idx="2">
                    <c:v>sieve</c:v>
                  </c:pt>
                  <c:pt idx="3">
                    <c:v>lfu</c:v>
                  </c:pt>
                  <c:pt idx="4">
                    <c:v>s3fifo</c:v>
                  </c:pt>
                  <c:pt idx="5">
                    <c:v>gdsf</c:v>
                  </c:pt>
                  <c:pt idx="6">
                    <c:v>lecar</c:v>
                  </c:pt>
                  <c:pt idx="7">
                    <c:v>lru</c:v>
                  </c:pt>
                  <c:pt idx="8">
                    <c:v>gds</c:v>
                  </c:pt>
                  <c:pt idx="9">
                    <c:v>fifo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109.52</c:v>
                </c:pt>
                <c:pt idx="1">
                  <c:v>115.16</c:v>
                </c:pt>
                <c:pt idx="2">
                  <c:v>118.56</c:v>
                </c:pt>
                <c:pt idx="3">
                  <c:v>118.59</c:v>
                </c:pt>
                <c:pt idx="4">
                  <c:v>121.84</c:v>
                </c:pt>
                <c:pt idx="5">
                  <c:v>123.47</c:v>
                </c:pt>
                <c:pt idx="6">
                  <c:v>131.64</c:v>
                </c:pt>
                <c:pt idx="7">
                  <c:v>133.48</c:v>
                </c:pt>
                <c:pt idx="8">
                  <c:v>135.72</c:v>
                </c:pt>
                <c:pt idx="9">
                  <c:v>137.81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850" u="none">
                  <a:solidFill>
                    <a:srgbClr val="31404E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31404E"/>
                </a:solidFill>
                <a:latin typeface="Courier New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50"/>
        </c:scaling>
        <c:delete val="0"/>
        <c:axPos val="b"/>
        <c:majorGridlines>
          <c:spPr>
            <a:ln w="12700" cap="flat">
              <a:solidFill>
                <a:srgbClr val="D8DFE6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6B7C8C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AURA = Adaptive Utility and Runtime-Aware. One sentence: traditional caches keep what was touched recently, which is a proxy for value and a bad one. We price every object by what rebuilding it actually cost and keep it only if it beats what it displaces.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4-cent vs free example is the whole pitch. Lead with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Everything else in the system exists to feed this one expression.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Held-out-application AUC 0.9069 with the extra signals vs 0.8797 without — measured transfer, not a claim.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Worth telling: admission and eviction were once computed in two different unit scales, so every arrival cleared the bar — zero rejections in 42,614 admissions. Both sides now end in value_density. We found it by instrumenting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point to make out loud: nothing here is decided once. An object admitted when the pool was empty can be the weakest resident an hour later without any of its own numbers changing.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Floors are per resident application, so they move as applications appear and leave — a fixed per-tenant quota would strand memory the moment a tenant went quiet.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Critical detail: the reward is realised, not predicted. A decision is written to a journal and graded 60 seconds later against what actually happened. Crediting at decision time would be the system grading its own homework — it would learn its own confidence was justified whatever occurred. That was a real bug we found and fixed.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Refusing everything would otherwise look like genius — hence 0.80, not 1.0, for a correct refusal.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bug worth mentioning if asked how we tested: scan_score was originally singles/total, which any wide Zipf window also produces. Ordinary traffic was classified as a scan and the engine mass-rejected admissions. It is now a novelty rate.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Also fixed here: the controller used to shrink whenever the pool was under 55% full, which on a cold cache fired immediately and gave away memory it was about to need. Low pressure on an empty cache is not evidence memory is unwanted.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Δhit comes from the fitted curve, not from a guess: the difference between the hit rate the curve predicts at the next size and the one it predicts at the current size.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Fairness: one stream generated once and replayed; one Pricing struct for all; memory charged as occupancy integrated over time, not sampled at the end. Belady is reported as the offline ceiling, not a competitor — 39.5% hit rate at $69.19 here.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a judge asks about memory, you get to say you already knew and already measured it. That is worth more than a clean sweep nobody believes.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Eviction, invalidation and expiry are counted as three separate events. Merging them hides the only one that indicates a bug — invalidation means the cache was wrong, eviction only means it was full.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freshness class is the eligibility rule, not a hint. A write_bound object never enters L1 however hot it is, because the cost of being wrong about a price is not a cache metric.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a judge asks for proof of adaptation, this is the tab to open: the bandit weights and the pool-size line are the two places where the system visibly changes its mind.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A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417320"/>
            <a:ext cx="5486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0" b="1" spc="300" kern="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AURA</a:t>
            </a:r>
            <a:endParaRPr lang="en-US" sz="680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239572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9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Adaptive Utility &amp; Runtime-Aware cache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2852928"/>
            <a:ext cx="5852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350" dirty="0">
                <a:solidFill>
                  <a:srgbClr val="9AAA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cache that scores every object in dollars of backend work saved per dollar of</a:t>
            </a:r>
            <a:endParaRPr lang="en-US" sz="135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350" dirty="0">
                <a:solidFill>
                  <a:srgbClr val="9AAA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memory rented — and resizes itself when the arithmetic says to.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658368" y="4114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9AAA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VH26  ·  Application Scaling  ·  Team KalaDhua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46520" y="1371600"/>
            <a:ext cx="2148840" cy="2240280"/>
          </a:xfrm>
          <a:prstGeom prst="roundRect">
            <a:avLst>
              <a:gd name="adj" fmla="val 3404"/>
            </a:avLst>
          </a:prstGeom>
          <a:solidFill>
            <a:srgbClr val="1E2933"/>
          </a:solidFill>
          <a:ln w="12700">
            <a:solidFill>
              <a:srgbClr val="1E293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46520" y="1572768"/>
            <a:ext cx="2148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1B9C8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 / 6</a:t>
            </a:r>
            <a:endParaRPr lang="en-US" sz="4600" dirty="0"/>
          </a:p>
        </p:txBody>
      </p:sp>
      <p:sp>
        <p:nvSpPr>
          <p:cNvPr id="8" name="Text 6"/>
          <p:cNvSpPr txBox="1"/>
          <p:nvPr/>
        </p:nvSpPr>
        <p:spPr>
          <a:xfrm>
            <a:off x="6446520" y="228600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scenarios won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6446520" y="2633472"/>
            <a:ext cx="2148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9AAA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against 9 real baseline</a:t>
            </a:r>
            <a:endParaRPr lang="en-US" sz="100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9AAA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implementations, one</a:t>
            </a:r>
            <a:endParaRPr lang="en-US" sz="100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9AAA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identical request stream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B9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41A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Recency is a proxy for value. It is a bad one.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3931920" cy="1874520"/>
          </a:xfrm>
          <a:prstGeom prst="roundRect">
            <a:avLst>
              <a:gd name="adj" fmla="val 2927"/>
            </a:avLst>
          </a:prstGeom>
          <a:solidFill>
            <a:srgbClr val="F7E2DE"/>
          </a:solidFill>
          <a:ln w="12700">
            <a:solidFill>
              <a:srgbClr val="F7E2DE"/>
            </a:solidFill>
            <a:prstDash val="solid"/>
          </a:ln>
          <a:effectLst>
            <a:outerShdw sx="100000" sy="100000" kx="0" ky="0" algn="bl" rotWithShape="0" blurRad="101600" dist="12700" dir="5400000">
              <a:srgbClr val="8CA0B3">
                <a:alpha val="10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22960" y="1627632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34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LRU does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1975104"/>
            <a:ext cx="3429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3140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GPU-ranked recommendation costing 4¢ to rebuild</a:t>
            </a:r>
            <a:endParaRPr lang="en-US" sz="1200" dirty="0"/>
          </a:p>
          <a:p>
            <a:pPr marL="342900" indent="-3429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3140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string lookup costing nothing</a:t>
            </a:r>
            <a:endParaRPr lang="en-US" sz="1200" dirty="0"/>
          </a:p>
          <a:p>
            <a:pPr marL="342900" indent="-3429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3140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touched a minute ago — identical rank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709160" y="1417320"/>
            <a:ext cx="3886200" cy="1874520"/>
          </a:xfrm>
          <a:prstGeom prst="roundRect">
            <a:avLst>
              <a:gd name="adj" fmla="val 2927"/>
            </a:avLst>
          </a:prstGeom>
          <a:solidFill>
            <a:srgbClr val="D9F0EB"/>
          </a:solidFill>
          <a:ln w="12700">
            <a:solidFill>
              <a:srgbClr val="D9F0EB"/>
            </a:solidFill>
            <a:prstDash val="solid"/>
          </a:ln>
          <a:effectLst>
            <a:outerShdw sx="100000" sy="100000" kx="0" ky="0" algn="bl" rotWithShape="0" blurRad="101600" dist="12700" dir="5400000">
              <a:srgbClr val="8CA0B3">
                <a:alpha val="10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4983480" y="1627632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9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AURA does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4983480" y="1975104"/>
            <a:ext cx="33832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3140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Prices the rebuild the application actually paid</a:t>
            </a:r>
            <a:endParaRPr lang="en-US" sz="1200" dirty="0"/>
          </a:p>
          <a:p>
            <a:pPr marL="342900" indent="-3429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3140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Predicts reuse at three time horizons</a:t>
            </a:r>
            <a:endParaRPr lang="en-US" sz="1200" dirty="0"/>
          </a:p>
          <a:p>
            <a:pPr marL="342900" indent="-3429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3140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Divides by what the bytes cost to hold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352044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i="1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objects that both take 300 ms to rebuild can differ 100× in price — one burns a GPU, the other holds a database connection. Collapsing that into “latency” is the information loss that makes conventional policies mis-rank.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8321040" y="4864608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B9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SCORING ENGINE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41A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number decides everything: value density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4892040" cy="1828800"/>
          </a:xfrm>
          <a:prstGeom prst="roundRect">
            <a:avLst>
              <a:gd name="adj" fmla="val 2500"/>
            </a:avLst>
          </a:prstGeom>
          <a:solidFill>
            <a:srgbClr val="141A24"/>
          </a:solidFill>
          <a:ln w="12700">
            <a:solidFill>
              <a:srgbClr val="141A2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49808" y="1517904"/>
            <a:ext cx="4489704" cy="1536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25"/>
              </a:lnSpc>
              <a:buNone/>
            </a:pPr>
            <a:r>
              <a:rPr lang="en-US" sz="115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reuses     = r10s·w₀·6 + r60s·w₁·2 + r600s·w₂</a:t>
            </a:r>
            <a:endParaRPr lang="en-US" sz="1150" dirty="0"/>
          </a:p>
          <a:p>
            <a:pPr indent="0" marL="0">
              <a:lnSpc>
                <a:spcPts val="1725"/>
              </a:lnSpc>
              <a:buNone/>
            </a:pPr>
            <a:r>
              <a:rPr lang="en-US" sz="115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tail_risk  = 1 + min(cost_var, 4)·λ</a:t>
            </a:r>
            <a:endParaRPr lang="en-US" sz="1150" dirty="0"/>
          </a:p>
          <a:p>
            <a:pPr indent="0" marL="0">
              <a:lnSpc>
                <a:spcPts val="1725"/>
              </a:lnSpc>
              <a:buNone/>
            </a:pPr>
            <a:r>
              <a:rPr lang="en-US" sz="115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      = cost_usd · expected_reuses · tail_risk</a:t>
            </a:r>
            <a:endParaRPr lang="en-US" sz="1150" dirty="0"/>
          </a:p>
          <a:p>
            <a:pPr indent="0" marL="0">
              <a:lnSpc>
                <a:spcPts val="1725"/>
              </a:lnSpc>
              <a:buNone/>
            </a:pPr>
            <a:r>
              <a:rPr lang="en-US" sz="115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hold       = price(size_bytes, 60s)</a:t>
            </a:r>
            <a:endParaRPr lang="en-US" sz="1150" dirty="0"/>
          </a:p>
          <a:p>
            <a:pPr indent="0" marL="0">
              <a:lnSpc>
                <a:spcPts val="1725"/>
              </a:lnSpc>
              <a:buNone/>
            </a:pPr>
            <a:endParaRPr lang="en-US" sz="1150" dirty="0"/>
          </a:p>
          <a:p>
            <a:pPr indent="0" marL="0">
              <a:lnSpc>
                <a:spcPts val="1725"/>
              </a:lnSpc>
              <a:buNone/>
            </a:pPr>
            <a:r>
              <a:rPr lang="en-US" sz="115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density    = value / hold</a:t>
            </a:r>
            <a:endParaRPr lang="en-US" sz="1150" dirty="0"/>
          </a:p>
        </p:txBody>
      </p:sp>
      <p:sp>
        <p:nvSpPr>
          <p:cNvPr id="6" name="Text 4"/>
          <p:cNvSpPr txBox="1"/>
          <p:nvPr/>
        </p:nvSpPr>
        <p:spPr>
          <a:xfrm>
            <a:off x="5715000" y="1371600"/>
            <a:ext cx="2880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9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it aloud as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5715000" y="1673352"/>
            <a:ext cx="2880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i="1" dirty="0">
                <a:solidFill>
                  <a:srgbClr val="141A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“Dollars of backend work this object will save me, per dollar it costs to keep.”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5715000" y="2926080"/>
            <a:ext cx="2880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C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engine.rs :: value_density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548640" y="3429000"/>
            <a:ext cx="2578608" cy="1170432"/>
          </a:xfrm>
          <a:prstGeom prst="roundRect">
            <a:avLst>
              <a:gd name="adj" fmla="val 4688"/>
            </a:avLst>
          </a:prstGeom>
          <a:solidFill>
            <a:srgbClr val="F1F4F7"/>
          </a:solidFill>
          <a:ln w="12700">
            <a:solidFill>
              <a:srgbClr val="F1F4F7"/>
            </a:solidFill>
            <a:prstDash val="solid"/>
          </a:ln>
          <a:effectLst>
            <a:outerShdw sx="100000" sy="100000" kx="0" ky="0" algn="bl" rotWithShape="0" blurRad="101600" dist="12700" dir="5400000">
              <a:srgbClr val="8CA0B3">
                <a:alpha val="10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731520" y="3566160"/>
            <a:ext cx="2240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41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divide by size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731520" y="3822192"/>
            <a:ext cx="22402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3140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 it a 24 MB media blob and a 40 KB query result with equal cost and reuse score the same — and the blob displaces 600 objects.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3310128" y="3429000"/>
            <a:ext cx="2578608" cy="1170432"/>
          </a:xfrm>
          <a:prstGeom prst="roundRect">
            <a:avLst>
              <a:gd name="adj" fmla="val 4688"/>
            </a:avLst>
          </a:prstGeom>
          <a:solidFill>
            <a:srgbClr val="F1F4F7"/>
          </a:solidFill>
          <a:ln w="12700">
            <a:solidFill>
              <a:srgbClr val="F1F4F7"/>
            </a:solidFill>
            <a:prstDash val="solid"/>
          </a:ln>
          <a:effectLst>
            <a:outerShdw sx="100000" sy="100000" kx="0" ky="0" algn="bl" rotWithShape="0" blurRad="101600" dist="12700" dir="5400000">
              <a:srgbClr val="8CA0B3">
                <a:alpha val="10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3493008" y="3566160"/>
            <a:ext cx="2240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41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three horizons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3493008" y="3822192"/>
            <a:ext cx="22402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3140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“Will this be reused” is meaningless unbounded. 10 s decides admission, 60 s decides eviction, 600 s decides refresh.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6071616" y="3429000"/>
            <a:ext cx="2578608" cy="1170432"/>
          </a:xfrm>
          <a:prstGeom prst="roundRect">
            <a:avLst>
              <a:gd name="adj" fmla="val 4688"/>
            </a:avLst>
          </a:prstGeom>
          <a:solidFill>
            <a:srgbClr val="F1F4F7"/>
          </a:solidFill>
          <a:ln w="12700">
            <a:solidFill>
              <a:srgbClr val="F1F4F7"/>
            </a:solidFill>
            <a:prstDash val="solid"/>
          </a:ln>
          <a:effectLst>
            <a:outerShdw sx="100000" sy="100000" kx="0" ky="0" algn="bl" rotWithShape="0" blurRad="101600" dist="12700" dir="5400000">
              <a:srgbClr val="8CA0B3">
                <a:alpha val="10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6254496" y="3566160"/>
            <a:ext cx="2240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41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a cost vector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6254496" y="3822192"/>
            <a:ext cx="22402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3140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CPU, GPU, DB, network and paid-API dollars kept separate, then priced. A single latency number throws the economics away.</a:t>
            </a:r>
            <a:endParaRPr lang="en-US" sz="950" dirty="0"/>
          </a:p>
        </p:txBody>
      </p:sp>
      <p:sp>
        <p:nvSpPr>
          <p:cNvPr id="18" name="Text 16"/>
          <p:cNvSpPr txBox="1"/>
          <p:nvPr/>
        </p:nvSpPr>
        <p:spPr>
          <a:xfrm>
            <a:off x="8321040" y="4864608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B9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MULTI-FACTOR, NOT A SINGLE METRIC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41A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24 features feed the score — 20 reach the model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362456"/>
            <a:ext cx="329184" cy="329184"/>
          </a:xfrm>
          <a:prstGeom prst="ellipse">
            <a:avLst/>
          </a:prstGeom>
          <a:solidFill>
            <a:srgbClr val="1B9C86"/>
          </a:solidFill>
          <a:ln w="12700">
            <a:solidFill>
              <a:srgbClr val="1B9C8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66928" y="136245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060704" y="1335024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41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 pattern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3200400" y="1335024"/>
            <a:ext cx="5394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3140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frequency at 1m / 5m / 1h, recency, inter-arrival gap, burstiness, reuse distance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66928" y="2075688"/>
            <a:ext cx="329184" cy="329184"/>
          </a:xfrm>
          <a:prstGeom prst="ellipse">
            <a:avLst/>
          </a:prstGeom>
          <a:solidFill>
            <a:srgbClr val="D97A16"/>
          </a:solidFill>
          <a:ln w="12700">
            <a:solidFill>
              <a:srgbClr val="D97A16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66928" y="20756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060704" y="2048256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41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Resource footprint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3200400" y="2048256"/>
            <a:ext cx="5394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3140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 size, size percentile within its own application, cache pressure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66928" y="2788920"/>
            <a:ext cx="329184" cy="329184"/>
          </a:xfrm>
          <a:prstGeom prst="ellipse">
            <a:avLst/>
          </a:prstGeom>
          <a:solidFill>
            <a:srgbClr val="D97A16"/>
          </a:solidFill>
          <a:ln w="12700">
            <a:solidFill>
              <a:srgbClr val="D97A1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66928" y="27889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060704" y="276148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41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Retrieval cost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3200400" y="2761488"/>
            <a:ext cx="5394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3140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CPU ms, GPU ms, DB ms, network bytes, paid API dollars — measured, not estimated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66928" y="3502152"/>
            <a:ext cx="329184" cy="329184"/>
          </a:xfrm>
          <a:prstGeom prst="ellipse">
            <a:avLst/>
          </a:prstGeom>
          <a:solidFill>
            <a:srgbClr val="141A24"/>
          </a:solidFill>
          <a:ln w="12700">
            <a:solidFill>
              <a:srgbClr val="141A24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66928" y="350215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060704" y="347472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41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Signals we added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3200400" y="3474720"/>
            <a:ext cx="5394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3140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trend &amp; acceleration (fast vs slow EWMA), cost variance p95/p50, TTL remaining, novelty rate, SLA class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48640" y="4224528"/>
            <a:ext cx="8046720" cy="566928"/>
          </a:xfrm>
          <a:prstGeom prst="roundRect">
            <a:avLst>
              <a:gd name="adj" fmla="val 9677"/>
            </a:avLst>
          </a:prstGeom>
          <a:solidFill>
            <a:srgbClr val="D9F0EB"/>
          </a:solidFill>
          <a:ln w="12700">
            <a:solidFill>
              <a:srgbClr val="D9F0EB"/>
            </a:solidFill>
            <a:prstDash val="solid"/>
          </a:ln>
          <a:effectLst>
            <a:outerShdw sx="100000" sy="100000" kx="0" ky="0" algn="bl" rotWithShape="0" blurRad="101600" dist="12700" dir="5400000">
              <a:srgbClr val="8CA0B3">
                <a:alpha val="10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777240" y="4343400"/>
            <a:ext cx="7589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140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enters the model as a percentile within its own application, never as raw dollars. That is what lets one trained model serve a service it has never seen.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321040" y="4864608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B9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ADMISSION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41A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Admit only if it beats what it would displace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4160520" cy="2286000"/>
          </a:xfrm>
          <a:prstGeom prst="roundRect">
            <a:avLst>
              <a:gd name="adj" fmla="val 2000"/>
            </a:avLst>
          </a:prstGeom>
          <a:solidFill>
            <a:srgbClr val="141A24"/>
          </a:solidFill>
          <a:ln w="12700">
            <a:solidFill>
              <a:srgbClr val="141A2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49808" y="1517904"/>
            <a:ext cx="3758184" cy="1993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50"/>
              </a:lnSpc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bar = victim_bar(size)  # 0 if room</a:t>
            </a:r>
            <a:endParaRPr lang="en-US" sz="1100" dirty="0"/>
          </a:p>
          <a:p>
            <a:pPr indent="0" marL="0">
              <a:lnSpc>
                <a:spcPts val="1650"/>
              </a:lnSpc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threshold = bar × 1.10</a:t>
            </a:r>
            <a:endParaRPr lang="en-US" sz="1100" dirty="0"/>
          </a:p>
          <a:p>
            <a:pPr indent="0" marL="0">
              <a:lnSpc>
                <a:spcPts val="1650"/>
              </a:lnSpc>
              <a:buNone/>
            </a:pPr>
            <a:endParaRPr lang="en-US" sz="1100" dirty="0"/>
          </a:p>
          <a:p>
            <a:pPr indent="0" marL="0">
              <a:lnSpc>
                <a:spcPts val="1650"/>
              </a:lnSpc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size &gt; capacity/4  → Reject (too big)</a:t>
            </a:r>
            <a:endParaRPr lang="en-US" sz="1100" dirty="0"/>
          </a:p>
          <a:p>
            <a:pPr indent="0" marL="0">
              <a:lnSpc>
                <a:spcPts val="1650"/>
              </a:lnSpc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scan &amp; r10 &lt; .15   → Reject (one-shot)</a:t>
            </a:r>
            <a:endParaRPr lang="en-US" sz="1100" dirty="0"/>
          </a:p>
          <a:p>
            <a:pPr indent="0" marL="0">
              <a:lnSpc>
                <a:spcPts val="1650"/>
              </a:lnSpc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density ≥ threshold → Admit</a:t>
            </a:r>
            <a:endParaRPr lang="en-US" sz="1100" dirty="0"/>
          </a:p>
          <a:p>
            <a:pPr indent="0" marL="0">
              <a:lnSpc>
                <a:spcPts val="1650"/>
              </a:lnSpc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r60 &gt; 0.75         → Admit (near-term)</a:t>
            </a:r>
            <a:endParaRPr lang="en-US" sz="1100" dirty="0"/>
          </a:p>
          <a:p>
            <a:pPr indent="0" marL="0">
              <a:lnSpc>
                <a:spcPts val="1650"/>
              </a:lnSpc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otherwise          → Reject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074920" y="1371600"/>
            <a:ext cx="3520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9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victim_bar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5074920" y="1682496"/>
            <a:ext cx="3520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3140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Samples 32 residents at random and returns the lowest density among them — an estimate of what would have to die for this object to live.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074920" y="2432304"/>
            <a:ext cx="3520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1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the cache has room, the bar is zero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5074920" y="2743200"/>
            <a:ext cx="3520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3140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Refusing then would trade a guaranteed backend call for a hypothetical one. Admission control only earns its keep under contention.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48640" y="3840480"/>
            <a:ext cx="8046720" cy="960120"/>
          </a:xfrm>
          <a:prstGeom prst="roundRect">
            <a:avLst>
              <a:gd name="adj" fmla="val 5714"/>
            </a:avLst>
          </a:prstGeom>
          <a:solidFill>
            <a:srgbClr val="FBE9D4"/>
          </a:solidFill>
          <a:ln w="12700">
            <a:solidFill>
              <a:srgbClr val="FBE9D4"/>
            </a:solidFill>
            <a:prstDash val="solid"/>
          </a:ln>
          <a:effectLst>
            <a:outerShdw sx="100000" sy="100000" kx="0" ky="0" algn="bl" rotWithShape="0" blurRad="101600" dist="12700" dir="5400000">
              <a:srgbClr val="8CA0B3">
                <a:alpha val="10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804672" y="3986784"/>
            <a:ext cx="7589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7A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the scan-resistance mechanism.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804672" y="4261104"/>
            <a:ext cx="7589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3140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one-touch scan key has near-zero predicted reuse, so near-zero density, so it never clears the bar and never displaces the working set. LRU has no such gate, which is why a scan flushes it.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8321040" y="4864608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B9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EVICTION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41A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Sample 32, evict the weakest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325880"/>
            <a:ext cx="347472" cy="347472"/>
          </a:xfrm>
          <a:prstGeom prst="ellipse">
            <a:avLst/>
          </a:prstGeom>
          <a:solidFill>
            <a:srgbClr val="1B9C86"/>
          </a:solidFill>
          <a:ln w="12700">
            <a:solidFill>
              <a:srgbClr val="1B9C8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66928" y="132588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097280" y="1307592"/>
            <a:ext cx="2606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1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Sweep expired first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3749040" y="1307592"/>
            <a:ext cx="48463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3140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wins before costly ones. Expiry, eviction and invalidation are three different events and are counted separately.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66928" y="2057400"/>
            <a:ext cx="347472" cy="347472"/>
          </a:xfrm>
          <a:prstGeom prst="ellipse">
            <a:avLst/>
          </a:prstGeom>
          <a:solidFill>
            <a:srgbClr val="1B9C86"/>
          </a:solidFill>
          <a:ln w="12700">
            <a:solidFill>
              <a:srgbClr val="1B9C86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66928" y="205740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097280" y="2039112"/>
            <a:ext cx="2606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1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 32 residents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3749040" y="2039112"/>
            <a:ext cx="48463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3140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Scanning every object for the true minimum is unaffordable at request rate. 32 samples land within a few percent — the result Redis’s own allkeys-lru relies on. Eviction stays O(1) in cache size.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66928" y="2788920"/>
            <a:ext cx="347472" cy="347472"/>
          </a:xfrm>
          <a:prstGeom prst="ellipse">
            <a:avLst/>
          </a:prstGeom>
          <a:solidFill>
            <a:srgbClr val="1B9C86"/>
          </a:solidFill>
          <a:ln w="12700">
            <a:solidFill>
              <a:srgbClr val="1B9C8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66928" y="278892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097280" y="2770632"/>
            <a:ext cx="2606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1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with peek, not touch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3749040" y="2770632"/>
            <a:ext cx="48463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3140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counters must not record an access, or every eviction sweep would look like traffic and save the object it was considering.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566928" y="3520440"/>
            <a:ext cx="347472" cy="347472"/>
          </a:xfrm>
          <a:prstGeom prst="ellipse">
            <a:avLst/>
          </a:prstGeom>
          <a:solidFill>
            <a:srgbClr val="D97A16"/>
          </a:solidFill>
          <a:ln w="12700">
            <a:solidFill>
              <a:srgbClr val="D97A16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66928" y="352044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097280" y="3502152"/>
            <a:ext cx="2606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1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Stop when nothing is worse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3749040" y="3502152"/>
            <a:ext cx="48463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3140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the weakest sample beats the arrival, the arrival is refused instead. The cache never trades down.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48640" y="4297680"/>
            <a:ext cx="8046720" cy="512064"/>
          </a:xfrm>
          <a:prstGeom prst="roundRect">
            <a:avLst>
              <a:gd name="adj" fmla="val 10714"/>
            </a:avLst>
          </a:prstGeom>
          <a:solidFill>
            <a:srgbClr val="F1F4F7"/>
          </a:solidFill>
          <a:ln w="12700">
            <a:solidFill>
              <a:srgbClr val="F1F4F7"/>
            </a:solidFill>
            <a:prstDash val="solid"/>
          </a:ln>
          <a:effectLst>
            <a:outerShdw sx="100000" sy="100000" kx="0" ky="0" algn="bl" rotWithShape="0" blurRad="101600" dist="12700" dir="5400000">
              <a:srgbClr val="8CA0B3">
                <a:alpha val="10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804672" y="4407408"/>
            <a:ext cx="7589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140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Residents are scored on the same scale as arrivals — both end in value_density — so “is this worth keeping” and “is this worth admitting” are literally the same question.</a:t>
            </a:r>
            <a:endParaRPr lang="en-US" sz="1000" dirty="0"/>
          </a:p>
        </p:txBody>
      </p:sp>
      <p:sp>
        <p:nvSpPr>
          <p:cNvPr id="22" name="Text 20"/>
          <p:cNvSpPr txBox="1"/>
          <p:nvPr/>
        </p:nvSpPr>
        <p:spPr>
          <a:xfrm>
            <a:off x="8321040" y="4864608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B9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DYNAMIC EVICTION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41A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the score is made of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4709160" cy="1051560"/>
          </a:xfrm>
          <a:prstGeom prst="roundRect">
            <a:avLst>
              <a:gd name="adj" fmla="val 4348"/>
            </a:avLst>
          </a:prstGeom>
          <a:solidFill>
            <a:srgbClr val="141A24"/>
          </a:solidFill>
          <a:ln w="12700">
            <a:solidFill>
              <a:srgbClr val="141A2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49808" y="1517904"/>
            <a:ext cx="430682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75"/>
              </a:lnSpc>
              <a:buNone/>
            </a:pPr>
            <a:r>
              <a:rPr lang="en-US" sz="105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reuses  = blend(r10s, r60s, r600s) × ttl_frac</a:t>
            </a:r>
            <a:endParaRPr lang="en-US" sz="1050" dirty="0"/>
          </a:p>
          <a:p>
            <a:pPr indent="0" marL="0">
              <a:lnSpc>
                <a:spcPts val="1575"/>
              </a:lnSpc>
              <a:buNone/>
            </a:pPr>
            <a:r>
              <a:rPr lang="en-US" sz="105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   = rebuild_cost × reuses × tail_risk</a:t>
            </a:r>
            <a:endParaRPr lang="en-US" sz="1050" dirty="0"/>
          </a:p>
          <a:p>
            <a:pPr indent="0" marL="0">
              <a:lnSpc>
                <a:spcPts val="1575"/>
              </a:lnSpc>
              <a:buNone/>
            </a:pPr>
            <a:r>
              <a:rPr lang="en-US" sz="105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density = value / holding_cost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542032"/>
            <a:ext cx="4709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3140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candidate is scored at eviction time — never at insert time, and never read off a fixed ordering. Expected reuses are blended over three horizons (10 s, 60 s, 600 s) and multiplied by the fraction of TTL still remaining.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5440680" y="1371600"/>
            <a:ext cx="3154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9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Eight signals reach that number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5440680" y="1682496"/>
            <a:ext cx="315468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3140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recency</a:t>
            </a:r>
            <a:endParaRPr lang="en-US" sz="11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3140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frequency</a:t>
            </a:r>
            <a:endParaRPr lang="en-US" sz="11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3140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trend</a:t>
            </a:r>
            <a:endParaRPr lang="en-US" sz="11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3140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rebuild cost</a:t>
            </a:r>
            <a:endParaRPr lang="en-US" sz="11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3140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 size</a:t>
            </a:r>
            <a:endParaRPr lang="en-US" sz="11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3140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TTL remaining</a:t>
            </a:r>
            <a:endParaRPr lang="en-US" sz="11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3140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variance (tail risk)</a:t>
            </a:r>
            <a:endParaRPr lang="en-US" sz="11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3140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cache pressure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48640" y="3547872"/>
            <a:ext cx="3931920" cy="914400"/>
          </a:xfrm>
          <a:prstGeom prst="roundRect">
            <a:avLst>
              <a:gd name="adj" fmla="val 6000"/>
            </a:avLst>
          </a:prstGeom>
          <a:solidFill>
            <a:srgbClr val="F1F4F7"/>
          </a:solidFill>
          <a:ln w="12700">
            <a:solidFill>
              <a:srgbClr val="F1F4F7"/>
            </a:solidFill>
            <a:prstDash val="solid"/>
          </a:ln>
          <a:effectLst>
            <a:outerShdw sx="100000" sy="100000" kx="0" ky="0" algn="bl" rotWithShape="0" blurRad="101600" dist="12700" dir="5400000">
              <a:srgbClr val="8CA0B3">
                <a:alpha val="10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777240" y="3657600"/>
            <a:ext cx="3520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41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Sampled, not scanned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777240" y="3913632"/>
            <a:ext cx="3520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3140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 random residents per pass. That lands within a few percent of the true minimum without the O(n) scan a real request rate cannot afford.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4663440" y="3547872"/>
            <a:ext cx="3931920" cy="914400"/>
          </a:xfrm>
          <a:prstGeom prst="roundRect">
            <a:avLst>
              <a:gd name="adj" fmla="val 6000"/>
            </a:avLst>
          </a:prstGeom>
          <a:solidFill>
            <a:srgbClr val="D9F0EB"/>
          </a:solidFill>
          <a:ln w="12700">
            <a:solidFill>
              <a:srgbClr val="D9F0EB"/>
            </a:solidFill>
            <a:prstDash val="solid"/>
          </a:ln>
          <a:effectLst>
            <a:outerShdw sx="100000" sy="100000" kx="0" ky="0" algn="bl" rotWithShape="0" blurRad="101600" dist="12700" dir="5400000">
              <a:srgbClr val="8CA0B3">
                <a:alpha val="10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4892040" y="3657600"/>
            <a:ext cx="3520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9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Admission is the same number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4892040" y="3913632"/>
            <a:ext cx="3520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3140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arrival must beat victim_bar × 1.10 — the object that would have to be evicted to make room for it — not a running average of arrivals.</a:t>
            </a:r>
            <a:endParaRPr lang="en-US" sz="95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4553712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LRU’s decision is fixed at insert time, by arrival order. This one is recomputed against the pool as it is now.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8321040" y="4864608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B9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PER-APPLICATION FLOORS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41A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Fairness that never turns the cache off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3931920" cy="1828800"/>
          </a:xfrm>
          <a:prstGeom prst="roundRect">
            <a:avLst>
              <a:gd name="adj" fmla="val 3000"/>
            </a:avLst>
          </a:prstGeom>
          <a:solidFill>
            <a:srgbClr val="F7E2DE"/>
          </a:solidFill>
          <a:ln w="12700">
            <a:solidFill>
              <a:srgbClr val="F7E2DE"/>
            </a:solidFill>
            <a:prstDash val="solid"/>
          </a:ln>
          <a:effectLst>
            <a:outerShdw sx="100000" sy="100000" kx="0" ky="0" algn="bl" rotWithShape="0" blurRad="101600" dist="12700" dir="5400000">
              <a:srgbClr val="8CA0B3">
                <a:alpha val="10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04672" y="1517904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34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failure it prevents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804672" y="1810512"/>
            <a:ext cx="34747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140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scan in analytics evicting every recommendation object. Each individual eviction is correct on value density — a scanned row genuinely is worth more than a cold recommendation — and the sum of correct decisions is a cache that has forgotten a tenant.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663440" y="1371600"/>
            <a:ext cx="3931920" cy="868680"/>
          </a:xfrm>
          <a:prstGeom prst="roundRect">
            <a:avLst>
              <a:gd name="adj" fmla="val 5263"/>
            </a:avLst>
          </a:prstGeom>
          <a:solidFill>
            <a:srgbClr val="141A24"/>
          </a:solidFill>
          <a:ln w="12700">
            <a:solidFill>
              <a:srgbClr val="141A2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864608" y="1517904"/>
            <a:ext cx="352958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floor = capacity / resident_apps</a:t>
            </a:r>
            <a:endParaRPr lang="en-US" sz="10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× app_floor_fraction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4663440" y="2377440"/>
            <a:ext cx="3931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140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app_floor_fraction defaults to 0.5. With three resident applications each is guaranteed a sixth of the pool, and the other half of the pool is contested purely on merit.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548640" y="3383280"/>
            <a:ext cx="8046720" cy="960120"/>
          </a:xfrm>
          <a:prstGeom prst="roundRect">
            <a:avLst>
              <a:gd name="adj" fmla="val 5714"/>
            </a:avLst>
          </a:prstGeom>
          <a:solidFill>
            <a:srgbClr val="F1F4F7"/>
          </a:solidFill>
          <a:ln w="12700">
            <a:solidFill>
              <a:srgbClr val="F1F4F7"/>
            </a:solidFill>
            <a:prstDash val="solid"/>
          </a:ln>
          <a:effectLst>
            <a:outerShdw sx="100000" sy="100000" kx="0" ky="0" algn="bl" rotWithShape="0" blurRad="101600" dist="12700" dir="5400000">
              <a:srgbClr val="8CA0B3">
                <a:alpha val="10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804672" y="3511296"/>
            <a:ext cx="7589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41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eviction honours the floor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804672" y="3785616"/>
            <a:ext cx="7589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140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sweep partitions its 32 candidates into protected and unprotected, and prefers the weakest unprotected one. It falls back to a protected candidate only when the whole sample was protected — because the pool still has to fit in its bytes.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452628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9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byte budget is an invariant. Fairness is a preference.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8321040" y="4864608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B9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RUNTIME ADAPTATION ①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41A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Thompson sampling over six competing experts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35024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classical policies run underneath as competing experts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548640" y="1700784"/>
            <a:ext cx="2560320" cy="566928"/>
          </a:xfrm>
          <a:prstGeom prst="roundRect">
            <a:avLst>
              <a:gd name="adj" fmla="val 9677"/>
            </a:avLst>
          </a:prstGeom>
          <a:solidFill>
            <a:srgbClr val="F1F4F7"/>
          </a:solidFill>
          <a:ln w="12700">
            <a:solidFill>
              <a:srgbClr val="F1F4F7"/>
            </a:solidFill>
            <a:prstDash val="solid"/>
          </a:ln>
          <a:effectLst>
            <a:outerShdw sx="100000" sy="100000" kx="0" ky="0" algn="bl" rotWithShape="0" blurRad="101600" dist="12700" dir="5400000">
              <a:srgbClr val="8CA0B3">
                <a:alpha val="10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713232" y="1773936"/>
            <a:ext cx="2194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41A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lru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713232" y="1993392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/ (1 + age)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3291840" y="1700784"/>
            <a:ext cx="2560320" cy="566928"/>
          </a:xfrm>
          <a:prstGeom prst="roundRect">
            <a:avLst>
              <a:gd name="adj" fmla="val 9677"/>
            </a:avLst>
          </a:prstGeom>
          <a:solidFill>
            <a:srgbClr val="F1F4F7"/>
          </a:solidFill>
          <a:ln w="12700">
            <a:solidFill>
              <a:srgbClr val="F1F4F7"/>
            </a:solidFill>
            <a:prstDash val="solid"/>
          </a:ln>
          <a:effectLst>
            <a:outerShdw sx="100000" sy="100000" kx="0" ky="0" algn="bl" rotWithShape="0" blurRad="101600" dist="12700" dir="5400000">
              <a:srgbClr val="8CA0B3">
                <a:alpha val="10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3456432" y="1773936"/>
            <a:ext cx="2194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41A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lfu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3456432" y="1993392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freq_1h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6035040" y="1700784"/>
            <a:ext cx="2560320" cy="566928"/>
          </a:xfrm>
          <a:prstGeom prst="roundRect">
            <a:avLst>
              <a:gd name="adj" fmla="val 9677"/>
            </a:avLst>
          </a:prstGeom>
          <a:solidFill>
            <a:srgbClr val="F1F4F7"/>
          </a:solidFill>
          <a:ln w="12700">
            <a:solidFill>
              <a:srgbClr val="F1F4F7"/>
            </a:solidFill>
            <a:prstDash val="solid"/>
          </a:ln>
          <a:effectLst>
            <a:outerShdw sx="100000" sy="100000" kx="0" ky="0" algn="bl" rotWithShape="0" blurRad="101600" dist="12700" dir="5400000">
              <a:srgbClr val="8CA0B3">
                <a:alpha val="10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6199632" y="1773936"/>
            <a:ext cx="2194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41A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gdsf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6199632" y="1993392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freq·cost / log size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548640" y="2359152"/>
            <a:ext cx="2560320" cy="566928"/>
          </a:xfrm>
          <a:prstGeom prst="roundRect">
            <a:avLst>
              <a:gd name="adj" fmla="val 9677"/>
            </a:avLst>
          </a:prstGeom>
          <a:solidFill>
            <a:srgbClr val="F1F4F7"/>
          </a:solidFill>
          <a:ln w="12700">
            <a:solidFill>
              <a:srgbClr val="F1F4F7"/>
            </a:solidFill>
            <a:prstDash val="solid"/>
          </a:ln>
          <a:effectLst>
            <a:outerShdw sx="100000" sy="100000" kx="0" ky="0" algn="bl" rotWithShape="0" blurRad="101600" dist="12700" dir="5400000">
              <a:srgbClr val="8CA0B3">
                <a:alpha val="10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713232" y="2432304"/>
            <a:ext cx="2194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41A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tiny_lfu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713232" y="2651760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0.7·f1m + 0.3·f5m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3291840" y="2359152"/>
            <a:ext cx="2560320" cy="566928"/>
          </a:xfrm>
          <a:prstGeom prst="roundRect">
            <a:avLst>
              <a:gd name="adj" fmla="val 9677"/>
            </a:avLst>
          </a:prstGeom>
          <a:solidFill>
            <a:srgbClr val="F1F4F7"/>
          </a:solidFill>
          <a:ln w="12700">
            <a:solidFill>
              <a:srgbClr val="F1F4F7"/>
            </a:solidFill>
            <a:prstDash val="solid"/>
          </a:ln>
          <a:effectLst>
            <a:outerShdw sx="100000" sy="100000" kx="0" ky="0" algn="bl" rotWithShape="0" blurRad="101600" dist="12700" dir="5400000">
              <a:srgbClr val="8CA0B3">
                <a:alpha val="10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3456432" y="2432304"/>
            <a:ext cx="2194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41A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cost_aware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3456432" y="2651760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/ log size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6035040" y="2359152"/>
            <a:ext cx="2560320" cy="566928"/>
          </a:xfrm>
          <a:prstGeom prst="roundRect">
            <a:avLst>
              <a:gd name="adj" fmla="val 9677"/>
            </a:avLst>
          </a:prstGeom>
          <a:solidFill>
            <a:srgbClr val="F1F4F7"/>
          </a:solidFill>
          <a:ln w="12700">
            <a:solidFill>
              <a:srgbClr val="F1F4F7"/>
            </a:solidFill>
            <a:prstDash val="solid"/>
          </a:ln>
          <a:effectLst>
            <a:outerShdw sx="100000" sy="100000" kx="0" ky="0" algn="bl" rotWithShape="0" blurRad="101600" dist="12700" dir="5400000">
              <a:srgbClr val="8CA0B3">
                <a:alpha val="10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6199632" y="2432304"/>
            <a:ext cx="2194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41A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trend_aware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6199632" y="2651760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ewma·(1+trend)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548640" y="3063240"/>
            <a:ext cx="3931920" cy="1737360"/>
          </a:xfrm>
          <a:prstGeom prst="roundRect">
            <a:avLst>
              <a:gd name="adj" fmla="val 3158"/>
            </a:avLst>
          </a:prstGeom>
          <a:solidFill>
            <a:srgbClr val="D9F0EB"/>
          </a:solidFill>
          <a:ln w="12700">
            <a:solidFill>
              <a:srgbClr val="D9F0EB"/>
            </a:solidFill>
            <a:prstDash val="solid"/>
          </a:ln>
          <a:effectLst>
            <a:outerShdw sx="100000" sy="100000" kx="0" ky="0" algn="bl" rotWithShape="0" blurRad="101600" dist="12700" dir="5400000">
              <a:srgbClr val="8CA0B3">
                <a:alpha val="10000"/>
              </a:srgbClr>
            </a:outerShdw>
          </a:effectLst>
        </p:spPr>
      </p:sp>
      <p:sp>
        <p:nvSpPr>
          <p:cNvPr id="24" name="Text 22"/>
          <p:cNvSpPr txBox="1"/>
          <p:nvPr/>
        </p:nvSpPr>
        <p:spPr>
          <a:xfrm>
            <a:off x="804672" y="3218688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9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a bandit, not a vote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804672" y="3511296"/>
            <a:ext cx="3474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140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arm keeps a Beta posterior over “did following this expert actually pay off”. Thompson sampling then explores in proportion to genuine uncertainty — it neither locks onto one policy nor wastes traffic on arms it has already ruled out.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4663440" y="3063240"/>
            <a:ext cx="3931920" cy="1737360"/>
          </a:xfrm>
          <a:prstGeom prst="roundRect">
            <a:avLst>
              <a:gd name="adj" fmla="val 3158"/>
            </a:avLst>
          </a:prstGeom>
          <a:solidFill>
            <a:srgbClr val="FBE9D4"/>
          </a:solidFill>
          <a:ln w="12700">
            <a:solidFill>
              <a:srgbClr val="FBE9D4"/>
            </a:solidFill>
            <a:prstDash val="solid"/>
          </a:ln>
          <a:effectLst>
            <a:outerShdw sx="100000" sy="100000" kx="0" ky="0" algn="bl" rotWithShape="0" blurRad="101600" dist="12700" dir="5400000">
              <a:srgbClr val="8CA0B3">
                <a:alpha val="10000"/>
              </a:srgbClr>
            </a:outerShdw>
          </a:effectLst>
        </p:spPr>
      </p:sp>
      <p:sp>
        <p:nvSpPr>
          <p:cNvPr id="27" name="Text 25"/>
          <p:cNvSpPr txBox="1"/>
          <p:nvPr/>
        </p:nvSpPr>
        <p:spPr>
          <a:xfrm>
            <a:off x="4919472" y="3218688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7A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the posterior decays (×0.995 / tick)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4919472" y="3511296"/>
            <a:ext cx="3474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140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 decay the posterior freezes: an expert that was right for an hour outvotes fresh evidence forever. Decay is what makes “adaptive at runtime” true rather than “adaptive for the first five minutes”.</a:t>
            </a:r>
            <a:endParaRPr lang="en-US" sz="1050" dirty="0"/>
          </a:p>
        </p:txBody>
      </p:sp>
      <p:sp>
        <p:nvSpPr>
          <p:cNvPr id="29" name="Text 27"/>
          <p:cNvSpPr txBox="1"/>
          <p:nvPr/>
        </p:nvSpPr>
        <p:spPr>
          <a:xfrm>
            <a:off x="8321040" y="4864608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B9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RUNTIME ADAPTATION ②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41A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Graded on outcomes, never on predictions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1883664" cy="1691640"/>
          </a:xfrm>
          <a:prstGeom prst="roundRect">
            <a:avLst>
              <a:gd name="adj" fmla="val 3243"/>
            </a:avLst>
          </a:prstGeom>
          <a:solidFill>
            <a:srgbClr val="F1F4F7"/>
          </a:solidFill>
          <a:ln w="12700">
            <a:solidFill>
              <a:srgbClr val="F1F4F7"/>
            </a:solidFill>
            <a:prstDash val="solid"/>
          </a:ln>
          <a:effectLst>
            <a:outerShdw sx="100000" sy="100000" kx="0" ky="0" algn="bl" rotWithShape="0" blurRad="101600" dist="12700" dir="5400000">
              <a:srgbClr val="8CA0B3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13232" y="1536192"/>
            <a:ext cx="329184" cy="329184"/>
          </a:xfrm>
          <a:prstGeom prst="ellipse">
            <a:avLst/>
          </a:prstGeom>
          <a:solidFill>
            <a:srgbClr val="1B9C86"/>
          </a:solidFill>
          <a:ln w="12700">
            <a:solidFill>
              <a:srgbClr val="1B9C8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5361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713232" y="1956816"/>
            <a:ext cx="1600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1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Decide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2231136"/>
            <a:ext cx="157276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3140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Score, admit or refuse, and write the decision to a journal with the exact feature vector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2596896" y="1371600"/>
            <a:ext cx="1883664" cy="1691640"/>
          </a:xfrm>
          <a:prstGeom prst="roundRect">
            <a:avLst>
              <a:gd name="adj" fmla="val 3243"/>
            </a:avLst>
          </a:prstGeom>
          <a:solidFill>
            <a:srgbClr val="F1F4F7"/>
          </a:solidFill>
          <a:ln w="12700">
            <a:solidFill>
              <a:srgbClr val="F1F4F7"/>
            </a:solidFill>
            <a:prstDash val="solid"/>
          </a:ln>
          <a:effectLst>
            <a:outerShdw sx="100000" sy="100000" kx="0" ky="0" algn="bl" rotWithShape="0" blurRad="101600" dist="12700" dir="5400000">
              <a:srgbClr val="8CA0B3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761488" y="1536192"/>
            <a:ext cx="329184" cy="329184"/>
          </a:xfrm>
          <a:prstGeom prst="ellipse">
            <a:avLst/>
          </a:prstGeom>
          <a:solidFill>
            <a:srgbClr val="1B9C86"/>
          </a:solidFill>
          <a:ln w="12700">
            <a:solidFill>
              <a:srgbClr val="1B9C8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761488" y="15361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2761488" y="1956816"/>
            <a:ext cx="1600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1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Wait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2761488" y="2231136"/>
            <a:ext cx="157276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3140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future arrives. A miss counts as reuse too — the label answers “was it wanted again”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4645152" y="1371600"/>
            <a:ext cx="1883664" cy="1691640"/>
          </a:xfrm>
          <a:prstGeom prst="roundRect">
            <a:avLst>
              <a:gd name="adj" fmla="val 3243"/>
            </a:avLst>
          </a:prstGeom>
          <a:solidFill>
            <a:srgbClr val="F1F4F7"/>
          </a:solidFill>
          <a:ln w="12700">
            <a:solidFill>
              <a:srgbClr val="F1F4F7"/>
            </a:solidFill>
            <a:prstDash val="solid"/>
          </a:ln>
          <a:effectLst>
            <a:outerShdw sx="100000" sy="100000" kx="0" ky="0" algn="bl" rotWithShape="0" blurRad="101600" dist="12700" dir="5400000">
              <a:srgbClr val="8CA0B3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809744" y="1536192"/>
            <a:ext cx="329184" cy="329184"/>
          </a:xfrm>
          <a:prstGeom prst="ellipse">
            <a:avLst/>
          </a:prstGeom>
          <a:solidFill>
            <a:srgbClr val="1B9C86"/>
          </a:solidFill>
          <a:ln w="12700">
            <a:solidFill>
              <a:srgbClr val="1B9C8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809744" y="15361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4809744" y="1956816"/>
            <a:ext cx="1600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1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Settle at 60 s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4809744" y="2231136"/>
            <a:ext cx="157276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3140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 the bandit arm and correct the online model against what actually happened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6693408" y="1371600"/>
            <a:ext cx="1883664" cy="1691640"/>
          </a:xfrm>
          <a:prstGeom prst="roundRect">
            <a:avLst>
              <a:gd name="adj" fmla="val 3243"/>
            </a:avLst>
          </a:prstGeom>
          <a:solidFill>
            <a:srgbClr val="F1F4F7"/>
          </a:solidFill>
          <a:ln w="12700">
            <a:solidFill>
              <a:srgbClr val="F1F4F7"/>
            </a:solidFill>
            <a:prstDash val="solid"/>
          </a:ln>
          <a:effectLst>
            <a:outerShdw sx="100000" sy="100000" kx="0" ky="0" algn="bl" rotWithShape="0" blurRad="101600" dist="12700" dir="5400000">
              <a:srgbClr val="8CA0B3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858000" y="1536192"/>
            <a:ext cx="329184" cy="329184"/>
          </a:xfrm>
          <a:prstGeom prst="ellipse">
            <a:avLst/>
          </a:prstGeom>
          <a:solidFill>
            <a:srgbClr val="1B9C86"/>
          </a:solidFill>
          <a:ln w="12700">
            <a:solidFill>
              <a:srgbClr val="1B9C8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858000" y="15361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6858000" y="1956816"/>
            <a:ext cx="1600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1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Retire at 600 s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6858000" y="2231136"/>
            <a:ext cx="157276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3140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matured record becomes a labelled training row for the next model</a:t>
            </a:r>
            <a:endParaRPr lang="en-US" sz="950" dirty="0"/>
          </a:p>
        </p:txBody>
      </p:sp>
      <p:sp>
        <p:nvSpPr>
          <p:cNvPr id="24" name="Text 22"/>
          <p:cNvSpPr txBox="1"/>
          <p:nvPr/>
        </p:nvSpPr>
        <p:spPr>
          <a:xfrm>
            <a:off x="548640" y="329184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1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four outcomes are graded asymmetrically, on purpose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566928" y="3621024"/>
            <a:ext cx="1600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41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Kept, reused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2194560" y="3621024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B9C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0.55 – 1.00</a:t>
            </a:r>
            <a:endParaRPr lang="en-US" sz="1050" dirty="0"/>
          </a:p>
        </p:txBody>
      </p:sp>
      <p:sp>
        <p:nvSpPr>
          <p:cNvPr id="27" name="Text 25"/>
          <p:cNvSpPr txBox="1"/>
          <p:nvPr/>
        </p:nvSpPr>
        <p:spPr>
          <a:xfrm>
            <a:off x="3364992" y="3621024"/>
            <a:ext cx="5212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140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correct, and worth more when the avoided rebuild was expensive</a:t>
            </a:r>
            <a:endParaRPr lang="en-US" sz="1050" dirty="0"/>
          </a:p>
        </p:txBody>
      </p:sp>
      <p:sp>
        <p:nvSpPr>
          <p:cNvPr id="28" name="Text 26"/>
          <p:cNvSpPr txBox="1"/>
          <p:nvPr/>
        </p:nvSpPr>
        <p:spPr>
          <a:xfrm>
            <a:off x="566928" y="3941064"/>
            <a:ext cx="1600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41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Kept, unused</a:t>
            </a:r>
            <a:endParaRPr lang="en-US" sz="1050" dirty="0"/>
          </a:p>
        </p:txBody>
      </p:sp>
      <p:sp>
        <p:nvSpPr>
          <p:cNvPr id="29" name="Text 27"/>
          <p:cNvSpPr txBox="1"/>
          <p:nvPr/>
        </p:nvSpPr>
        <p:spPr>
          <a:xfrm>
            <a:off x="2194560" y="3941064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97A1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0.15</a:t>
            </a:r>
            <a:endParaRPr lang="en-US" sz="1050" dirty="0"/>
          </a:p>
        </p:txBody>
      </p:sp>
      <p:sp>
        <p:nvSpPr>
          <p:cNvPr id="30" name="Text 28"/>
          <p:cNvSpPr txBox="1"/>
          <p:nvPr/>
        </p:nvSpPr>
        <p:spPr>
          <a:xfrm>
            <a:off x="3364992" y="3941064"/>
            <a:ext cx="5212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140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wrong — rent paid and something else displaced for nothing</a:t>
            </a:r>
            <a:endParaRPr lang="en-US" sz="1050" dirty="0"/>
          </a:p>
        </p:txBody>
      </p:sp>
      <p:sp>
        <p:nvSpPr>
          <p:cNvPr id="31" name="Text 29"/>
          <p:cNvSpPr txBox="1"/>
          <p:nvPr/>
        </p:nvSpPr>
        <p:spPr>
          <a:xfrm>
            <a:off x="566928" y="4261104"/>
            <a:ext cx="1600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41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Refused, unused</a:t>
            </a:r>
            <a:endParaRPr lang="en-US" sz="1050" dirty="0"/>
          </a:p>
        </p:txBody>
      </p:sp>
      <p:sp>
        <p:nvSpPr>
          <p:cNvPr id="32" name="Text 30"/>
          <p:cNvSpPr txBox="1"/>
          <p:nvPr/>
        </p:nvSpPr>
        <p:spPr>
          <a:xfrm>
            <a:off x="2194560" y="4261104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B9C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0.80</a:t>
            </a:r>
            <a:endParaRPr lang="en-US" sz="1050" dirty="0"/>
          </a:p>
        </p:txBody>
      </p:sp>
      <p:sp>
        <p:nvSpPr>
          <p:cNvPr id="33" name="Text 31"/>
          <p:cNvSpPr txBox="1"/>
          <p:nvPr/>
        </p:nvSpPr>
        <p:spPr>
          <a:xfrm>
            <a:off x="3364992" y="4261104"/>
            <a:ext cx="5212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140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correct, but cheap to be right about</a:t>
            </a:r>
            <a:endParaRPr lang="en-US" sz="1050" dirty="0"/>
          </a:p>
        </p:txBody>
      </p:sp>
      <p:sp>
        <p:nvSpPr>
          <p:cNvPr id="34" name="Text 32"/>
          <p:cNvSpPr txBox="1"/>
          <p:nvPr/>
        </p:nvSpPr>
        <p:spPr>
          <a:xfrm>
            <a:off x="566928" y="4581144"/>
            <a:ext cx="1600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41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Refused, reused</a:t>
            </a:r>
            <a:endParaRPr lang="en-US" sz="1050" dirty="0"/>
          </a:p>
        </p:txBody>
      </p:sp>
      <p:sp>
        <p:nvSpPr>
          <p:cNvPr id="35" name="Text 33"/>
          <p:cNvSpPr txBox="1"/>
          <p:nvPr/>
        </p:nvSpPr>
        <p:spPr>
          <a:xfrm>
            <a:off x="2194560" y="4581144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B340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0.05</a:t>
            </a:r>
            <a:endParaRPr lang="en-US" sz="1050" dirty="0"/>
          </a:p>
        </p:txBody>
      </p:sp>
      <p:sp>
        <p:nvSpPr>
          <p:cNvPr id="36" name="Text 34"/>
          <p:cNvSpPr txBox="1"/>
          <p:nvPr/>
        </p:nvSpPr>
        <p:spPr>
          <a:xfrm>
            <a:off x="3364992" y="4581144"/>
            <a:ext cx="5212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140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expensive mistake — a rebuild we could have avoided</a:t>
            </a:r>
            <a:endParaRPr lang="en-US" sz="1050" dirty="0"/>
          </a:p>
        </p:txBody>
      </p:sp>
      <p:sp>
        <p:nvSpPr>
          <p:cNvPr id="37" name="Text 35"/>
          <p:cNvSpPr txBox="1"/>
          <p:nvPr/>
        </p:nvSpPr>
        <p:spPr>
          <a:xfrm>
            <a:off x="8321040" y="4864608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B9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RUNTIME ADAPTATION ③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41A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Six statistics classify the traffic, live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37160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41A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burstiness</a:t>
            </a:r>
            <a:endParaRPr lang="en-US" sz="1050" dirty="0"/>
          </a:p>
        </p:txBody>
      </p:sp>
      <p:sp>
        <p:nvSpPr>
          <p:cNvPr id="5" name="Text 3"/>
          <p:cNvSpPr txBox="1"/>
          <p:nvPr/>
        </p:nvSpPr>
        <p:spPr>
          <a:xfrm>
            <a:off x="2788920" y="13716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140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held by the top 16 keys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6172200" y="1371600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1B9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flash crowds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1847088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41A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entropy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2788920" y="1847088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140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Shannon entropy over the key histogram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6172200" y="1847088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1B9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concentration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566928" y="2322576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41A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working_set_growth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2788920" y="2322576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140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in distinct-key count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6172200" y="2322576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1B9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capacity pressure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566928" y="2798064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41A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reuse_distance_p50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2788920" y="2798064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140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 gap between repeats</a:t>
            </a:r>
            <a:endParaRPr lang="en-US" sz="1050" dirty="0"/>
          </a:p>
        </p:txBody>
      </p:sp>
      <p:sp>
        <p:nvSpPr>
          <p:cNvPr id="15" name="Text 13"/>
          <p:cNvSpPr txBox="1"/>
          <p:nvPr/>
        </p:nvSpPr>
        <p:spPr>
          <a:xfrm>
            <a:off x="6172200" y="2798064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1B9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temporal locality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566928" y="3273552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41A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popularity_shift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2788920" y="3273552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140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1 − overlap of top-32 with previous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6172200" y="3273552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1B9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hot set turning over</a:t>
            </a:r>
            <a:endParaRPr lang="en-US" sz="1050" dirty="0"/>
          </a:p>
        </p:txBody>
      </p:sp>
      <p:sp>
        <p:nvSpPr>
          <p:cNvPr id="19" name="Text 17"/>
          <p:cNvSpPr txBox="1"/>
          <p:nvPr/>
        </p:nvSpPr>
        <p:spPr>
          <a:xfrm>
            <a:off x="566928" y="374904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41A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scan_score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2788920" y="374904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140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novelty rate × (1 − repeat rate)</a:t>
            </a:r>
            <a:endParaRPr lang="en-US" sz="1050" dirty="0"/>
          </a:p>
        </p:txBody>
      </p:sp>
      <p:sp>
        <p:nvSpPr>
          <p:cNvPr id="21" name="Text 19"/>
          <p:cNvSpPr txBox="1"/>
          <p:nvPr/>
        </p:nvSpPr>
        <p:spPr>
          <a:xfrm>
            <a:off x="6172200" y="3749040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1B9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sequential sweeps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548640" y="4224528"/>
            <a:ext cx="8046720" cy="658368"/>
          </a:xfrm>
          <a:prstGeom prst="roundRect">
            <a:avLst>
              <a:gd name="adj" fmla="val 8333"/>
            </a:avLst>
          </a:prstGeom>
          <a:solidFill>
            <a:srgbClr val="F1F4F7"/>
          </a:solidFill>
          <a:ln w="12700">
            <a:solidFill>
              <a:srgbClr val="F1F4F7"/>
            </a:solidFill>
            <a:prstDash val="solid"/>
          </a:ln>
          <a:effectLst>
            <a:outerShdw sx="100000" sy="100000" kx="0" ky="0" algn="bl" rotWithShape="0" blurRad="101600" dist="12700" dir="5400000">
              <a:srgbClr val="8CA0B3">
                <a:alpha val="10000"/>
              </a:srgbClr>
            </a:outerShdw>
          </a:effectLst>
        </p:spPr>
      </p:sp>
      <p:sp>
        <p:nvSpPr>
          <p:cNvPr id="23" name="Text 21"/>
          <p:cNvSpPr txBox="1"/>
          <p:nvPr/>
        </p:nvSpPr>
        <p:spPr>
          <a:xfrm>
            <a:off x="804672" y="4352544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140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model here. This runs on every controller tick and must not appear in the latency budget. argmax over six regimes — Steady, FlashCrowd, Scan, Shifting, Expensive, Growing — and the classification changes admission behaviour directly.</a:t>
            </a:r>
            <a:endParaRPr lang="en-US" sz="1050" dirty="0"/>
          </a:p>
        </p:txBody>
      </p:sp>
      <p:sp>
        <p:nvSpPr>
          <p:cNvPr id="24" name="Text 22"/>
          <p:cNvSpPr txBox="1"/>
          <p:nvPr/>
        </p:nvSpPr>
        <p:spPr>
          <a:xfrm>
            <a:off x="8321040" y="4864608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B9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SCENARIOS, AND WHAT FIRES IN EACH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41A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disturbance has a named mechanism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298448"/>
            <a:ext cx="8046720" cy="512064"/>
          </a:xfrm>
          <a:prstGeom prst="roundRect">
            <a:avLst>
              <a:gd name="adj" fmla="val 8929"/>
            </a:avLst>
          </a:prstGeom>
          <a:solidFill>
            <a:srgbClr val="F1F4F7"/>
          </a:solidFill>
          <a:ln w="12700">
            <a:solidFill>
              <a:srgbClr val="F1F4F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353312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41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Flash crowd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713232" y="1554480"/>
            <a:ext cx="1737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few keys take most of the traffic</a:t>
            </a:r>
            <a:endParaRPr lang="en-US" sz="800" dirty="0"/>
          </a:p>
        </p:txBody>
      </p:sp>
      <p:sp>
        <p:nvSpPr>
          <p:cNvPr id="7" name="Text 5"/>
          <p:cNvSpPr txBox="1"/>
          <p:nvPr/>
        </p:nvSpPr>
        <p:spPr>
          <a:xfrm>
            <a:off x="2377440" y="1408176"/>
            <a:ext cx="5257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3140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Single-flight lease means one origin call, not a thousand. High r10s clears admission instantly.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7699248" y="1444752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D97A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+15.2%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48640" y="1865376"/>
            <a:ext cx="8046720" cy="512064"/>
          </a:xfrm>
          <a:prstGeom prst="roundRect">
            <a:avLst>
              <a:gd name="adj" fmla="val 8929"/>
            </a:avLst>
          </a:prstGeom>
          <a:solidFill>
            <a:srgbClr val="F1F4F7"/>
          </a:solidFill>
          <a:ln w="12700">
            <a:solidFill>
              <a:srgbClr val="F1F4F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13232" y="192024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41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713232" y="2121408"/>
            <a:ext cx="1737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novelty high, repeat rate low</a:t>
            </a:r>
            <a:endParaRPr lang="en-US" sz="800" dirty="0"/>
          </a:p>
        </p:txBody>
      </p:sp>
      <p:sp>
        <p:nvSpPr>
          <p:cNvPr id="12" name="Text 10"/>
          <p:cNvSpPr txBox="1"/>
          <p:nvPr/>
        </p:nvSpPr>
        <p:spPr>
          <a:xfrm>
            <a:off x="2377440" y="1975104"/>
            <a:ext cx="5257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3140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Regime flips to Scan; one-touch keys are refused before they displace the working set.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7699248" y="201168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B9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+1.5%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48640" y="2432304"/>
            <a:ext cx="8046720" cy="512064"/>
          </a:xfrm>
          <a:prstGeom prst="roundRect">
            <a:avLst>
              <a:gd name="adj" fmla="val 8929"/>
            </a:avLst>
          </a:prstGeom>
          <a:solidFill>
            <a:srgbClr val="F1F4F7"/>
          </a:solidFill>
          <a:ln w="12700">
            <a:solidFill>
              <a:srgbClr val="F1F4F7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13232" y="2487168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41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spike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713232" y="2688336"/>
            <a:ext cx="1737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rebuild prices jump for one class</a:t>
            </a:r>
            <a:endParaRPr lang="en-US" sz="800" dirty="0"/>
          </a:p>
        </p:txBody>
      </p:sp>
      <p:sp>
        <p:nvSpPr>
          <p:cNvPr id="17" name="Text 15"/>
          <p:cNvSpPr txBox="1"/>
          <p:nvPr/>
        </p:nvSpPr>
        <p:spPr>
          <a:xfrm>
            <a:off x="2377440" y="2542032"/>
            <a:ext cx="5257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3140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cost_usd rises → density rises → the bandit shifts weight toward cost_aware and gdsf.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7699248" y="2578608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D97A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48640" y="2999232"/>
            <a:ext cx="8046720" cy="512064"/>
          </a:xfrm>
          <a:prstGeom prst="roundRect">
            <a:avLst>
              <a:gd name="adj" fmla="val 8929"/>
            </a:avLst>
          </a:prstGeom>
          <a:solidFill>
            <a:srgbClr val="F1F4F7"/>
          </a:solidFill>
          <a:ln w="12700">
            <a:solidFill>
              <a:srgbClr val="F1F4F7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13232" y="3054096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41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Shifting popularity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713232" y="3255264"/>
            <a:ext cx="1737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top-32 overlap collapses</a:t>
            </a:r>
            <a:endParaRPr lang="en-US" sz="800" dirty="0"/>
          </a:p>
        </p:txBody>
      </p:sp>
      <p:sp>
        <p:nvSpPr>
          <p:cNvPr id="22" name="Text 20"/>
          <p:cNvSpPr txBox="1"/>
          <p:nvPr/>
        </p:nvSpPr>
        <p:spPr>
          <a:xfrm>
            <a:off x="2377440" y="3108960"/>
            <a:ext cx="5257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3140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Posterior decay lets fresh evidence outvote the old hot set within a window.</a:t>
            </a:r>
            <a:endParaRPr lang="en-US" sz="1000" dirty="0"/>
          </a:p>
        </p:txBody>
      </p:sp>
      <p:sp>
        <p:nvSpPr>
          <p:cNvPr id="23" name="Text 21"/>
          <p:cNvSpPr txBox="1"/>
          <p:nvPr/>
        </p:nvSpPr>
        <p:spPr>
          <a:xfrm>
            <a:off x="7699248" y="3145536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B9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+6.0%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48640" y="3566160"/>
            <a:ext cx="8046720" cy="512064"/>
          </a:xfrm>
          <a:prstGeom prst="roundRect">
            <a:avLst>
              <a:gd name="adj" fmla="val 8929"/>
            </a:avLst>
          </a:prstGeom>
          <a:solidFill>
            <a:srgbClr val="F1F4F7"/>
          </a:solidFill>
          <a:ln w="12700">
            <a:solidFill>
              <a:srgbClr val="F1F4F7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13232" y="362102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41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Expensive tail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713232" y="3822192"/>
            <a:ext cx="1737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minority cost 100× the rest</a:t>
            </a:r>
            <a:endParaRPr lang="en-US" sz="800" dirty="0"/>
          </a:p>
        </p:txBody>
      </p:sp>
      <p:sp>
        <p:nvSpPr>
          <p:cNvPr id="27" name="Text 25"/>
          <p:cNvSpPr txBox="1"/>
          <p:nvPr/>
        </p:nvSpPr>
        <p:spPr>
          <a:xfrm>
            <a:off x="2377440" y="3675888"/>
            <a:ext cx="5257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3140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tail_risk multiplier protects objects whose misses are occasionally catastrophic.</a:t>
            </a:r>
            <a:endParaRPr lang="en-US" sz="1000" dirty="0"/>
          </a:p>
        </p:txBody>
      </p:sp>
      <p:sp>
        <p:nvSpPr>
          <p:cNvPr id="28" name="Text 26"/>
          <p:cNvSpPr txBox="1"/>
          <p:nvPr/>
        </p:nvSpPr>
        <p:spPr>
          <a:xfrm>
            <a:off x="7699248" y="3712464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D97A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+4.9%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548640" y="4133088"/>
            <a:ext cx="8046720" cy="512064"/>
          </a:xfrm>
          <a:prstGeom prst="roundRect">
            <a:avLst>
              <a:gd name="adj" fmla="val 8929"/>
            </a:avLst>
          </a:prstGeom>
          <a:solidFill>
            <a:srgbClr val="F1F4F7"/>
          </a:solidFill>
          <a:ln w="12700">
            <a:solidFill>
              <a:srgbClr val="F1F4F7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713232" y="4187952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41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Mixed production</a:t>
            </a:r>
            <a:endParaRPr lang="en-US" sz="1100" dirty="0"/>
          </a:p>
        </p:txBody>
      </p:sp>
      <p:sp>
        <p:nvSpPr>
          <p:cNvPr id="31" name="Text 29"/>
          <p:cNvSpPr txBox="1"/>
          <p:nvPr/>
        </p:nvSpPr>
        <p:spPr>
          <a:xfrm>
            <a:off x="713232" y="4389120"/>
            <a:ext cx="1737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of the above, interleaved</a:t>
            </a:r>
            <a:endParaRPr lang="en-US" sz="800" dirty="0"/>
          </a:p>
        </p:txBody>
      </p:sp>
      <p:sp>
        <p:nvSpPr>
          <p:cNvPr id="32" name="Text 30"/>
          <p:cNvSpPr txBox="1"/>
          <p:nvPr/>
        </p:nvSpPr>
        <p:spPr>
          <a:xfrm>
            <a:off x="2377440" y="4242816"/>
            <a:ext cx="5257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3140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Honest result: W-TinyLFU edges us by 1%. Uniform costs give cost-awareness nothing to exploit.</a:t>
            </a:r>
            <a:endParaRPr lang="en-US" sz="1000" dirty="0"/>
          </a:p>
        </p:txBody>
      </p:sp>
      <p:sp>
        <p:nvSpPr>
          <p:cNvPr id="33" name="Text 31"/>
          <p:cNvSpPr txBox="1"/>
          <p:nvPr/>
        </p:nvSpPr>
        <p:spPr>
          <a:xfrm>
            <a:off x="7699248" y="4279392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B34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−0.99%</a:t>
            </a:r>
            <a:endParaRPr lang="en-US" sz="1200" dirty="0"/>
          </a:p>
        </p:txBody>
      </p:sp>
      <p:sp>
        <p:nvSpPr>
          <p:cNvPr id="34" name="Text 32"/>
          <p:cNvSpPr txBox="1"/>
          <p:nvPr/>
        </p:nvSpPr>
        <p:spPr>
          <a:xfrm>
            <a:off x="548640" y="4864608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vs the strongest baseline in that scenario</a:t>
            </a:r>
            <a:endParaRPr lang="en-US" sz="850" dirty="0"/>
          </a:p>
        </p:txBody>
      </p:sp>
      <p:sp>
        <p:nvSpPr>
          <p:cNvPr id="35" name="Text 33"/>
          <p:cNvSpPr txBox="1"/>
          <p:nvPr/>
        </p:nvSpPr>
        <p:spPr>
          <a:xfrm>
            <a:off x="8321040" y="4864608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B9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RUNTIME ADAPTATION ④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41A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Scaling is a dollars-per-hour argument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4663440" cy="1965960"/>
          </a:xfrm>
          <a:prstGeom prst="roundRect">
            <a:avLst>
              <a:gd name="adj" fmla="val 2326"/>
            </a:avLst>
          </a:prstGeom>
          <a:solidFill>
            <a:srgbClr val="141A24"/>
          </a:solidFill>
          <a:ln w="12700">
            <a:solidFill>
              <a:srgbClr val="141A2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49808" y="1517904"/>
            <a:ext cx="4261104" cy="1673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75"/>
              </a:lnSpc>
              <a:buNone/>
            </a:pPr>
            <a:r>
              <a:rPr lang="en-US" sz="105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Δhit       = mrc(now + step) − mrc(now)</a:t>
            </a:r>
            <a:endParaRPr lang="en-US" sz="1050" dirty="0"/>
          </a:p>
          <a:p>
            <a:pPr indent="0" marL="0">
              <a:lnSpc>
                <a:spcPts val="1575"/>
              </a:lnSpc>
              <a:buNone/>
            </a:pPr>
            <a:r>
              <a:rPr lang="en-US" sz="105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savings/hr = Δhit × req/hr × avg_cost_of_miss</a:t>
            </a:r>
            <a:endParaRPr lang="en-US" sz="1050" dirty="0"/>
          </a:p>
          <a:p>
            <a:pPr indent="0" marL="0">
              <a:lnSpc>
                <a:spcPts val="1575"/>
              </a:lnSpc>
              <a:buNone/>
            </a:pPr>
            <a:r>
              <a:rPr lang="en-US" sz="105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rent/hr    = extra_GB × cache_gb_hour_usd</a:t>
            </a:r>
            <a:endParaRPr lang="en-US" sz="1050" dirty="0"/>
          </a:p>
          <a:p>
            <a:pPr indent="0" marL="0">
              <a:lnSpc>
                <a:spcPts val="1575"/>
              </a:lnSpc>
              <a:buNone/>
            </a:pPr>
            <a:r>
              <a:rPr lang="en-US" sz="105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roi        = savings / rent</a:t>
            </a:r>
            <a:endParaRPr lang="en-US" sz="1050" dirty="0"/>
          </a:p>
          <a:p>
            <a:pPr indent="0" marL="0">
              <a:lnSpc>
                <a:spcPts val="1575"/>
              </a:lnSpc>
              <a:buNone/>
            </a:pPr>
            <a:endParaRPr lang="en-US" sz="1050" dirty="0"/>
          </a:p>
          <a:p>
            <a:pPr indent="0" marL="0">
              <a:lnSpc>
                <a:spcPts val="1575"/>
              </a:lnSpc>
              <a:buNone/>
            </a:pPr>
            <a:r>
              <a:rPr lang="en-US" sz="105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roi ≥ 1.25 and host has room → ScaleUp</a:t>
            </a:r>
            <a:endParaRPr lang="en-US" sz="1050" dirty="0"/>
          </a:p>
          <a:p>
            <a:pPr indent="0" marL="0">
              <a:lnSpc>
                <a:spcPts val="1575"/>
              </a:lnSpc>
              <a:buNone/>
            </a:pPr>
            <a:r>
              <a:rPr lang="en-US" sz="105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roi ≥ 1.25 and host is full  → ScaleOut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40680" y="1371600"/>
            <a:ext cx="3154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B9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miss-ratio curve is measured, not invented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5440680" y="1883664"/>
            <a:ext cx="31546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140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concave fit h(b) = b/(b+k), with k solved from the hit rate the cache is actually achieving at its current size. A cooldown stops a transient burst making it oscillate.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548640" y="3520440"/>
            <a:ext cx="8046720" cy="658368"/>
          </a:xfrm>
          <a:prstGeom prst="roundRect">
            <a:avLst>
              <a:gd name="adj" fmla="val 8333"/>
            </a:avLst>
          </a:prstGeom>
          <a:solidFill>
            <a:srgbClr val="D9F0EB"/>
          </a:solidFill>
          <a:ln w="12700">
            <a:solidFill>
              <a:srgbClr val="D9F0EB"/>
            </a:solidFill>
            <a:prstDash val="solid"/>
          </a:ln>
          <a:effectLst>
            <a:outerShdw sx="100000" sy="100000" kx="0" ky="0" algn="bl" rotWithShape="0" blurRad="101600" dist="12700" dir="5400000">
              <a:srgbClr val="8CA0B3">
                <a:alpha val="10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804672" y="3648456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i="1" dirty="0">
                <a:solidFill>
                  <a:srgbClr val="141A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“Grew the pool from 128 MB to 384 MB. The extra memory should lift the hit rate 4.1 points, saving $0.42/hr against $0.01/hr of rent — $0.41/hr net.”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434340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the one axis where no classical baseline has any mechanism at all — and, as the next slide is honest about, it is also where most of our margin comes from.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8321040" y="4864608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B9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ADAPTIVE SCALING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41A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purchase decision, not a high-water mark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4023360" cy="1051560"/>
          </a:xfrm>
          <a:prstGeom prst="roundRect">
            <a:avLst>
              <a:gd name="adj" fmla="val 4348"/>
            </a:avLst>
          </a:prstGeom>
          <a:solidFill>
            <a:srgbClr val="141A24"/>
          </a:solidFill>
          <a:ln w="12700">
            <a:solidFill>
              <a:srgbClr val="141A2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49808" y="1517904"/>
            <a:ext cx="362102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75"/>
              </a:lnSpc>
              <a:buNone/>
            </a:pPr>
            <a:r>
              <a:rPr lang="en-US" sz="105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savings = Δhit × req/hr × avg_miss_cost</a:t>
            </a:r>
            <a:endParaRPr lang="en-US" sz="1050" dirty="0"/>
          </a:p>
          <a:p>
            <a:pPr indent="0" marL="0">
              <a:lnSpc>
                <a:spcPts val="1575"/>
              </a:lnSpc>
              <a:buNone/>
            </a:pPr>
            <a:r>
              <a:rPr lang="en-US" sz="105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cost    = extra_GB × $/GB-hour</a:t>
            </a:r>
            <a:endParaRPr lang="en-US" sz="1050" dirty="0"/>
          </a:p>
          <a:p>
            <a:pPr indent="0" marL="0">
              <a:lnSpc>
                <a:spcPts val="1575"/>
              </a:lnSpc>
              <a:buNone/>
            </a:pPr>
            <a:r>
              <a:rPr lang="en-US" sz="105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roi     = savings / cost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542032"/>
            <a:ext cx="4023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140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controller fits a marginal miss-ratio curve from the hit rate it is actually observing, then prices the next block of memory before buying it. It re-runs every 250 ms on the controller tick, with a cooldown so it cannot oscillate.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754880" y="1371600"/>
            <a:ext cx="3840480" cy="914400"/>
          </a:xfrm>
          <a:prstGeom prst="roundRect">
            <a:avLst>
              <a:gd name="adj" fmla="val 6000"/>
            </a:avLst>
          </a:prstGeom>
          <a:solidFill>
            <a:srgbClr val="D9F0EB"/>
          </a:solidFill>
          <a:ln w="12700">
            <a:solidFill>
              <a:srgbClr val="D9F0EB"/>
            </a:solidFill>
            <a:prstDash val="solid"/>
          </a:ln>
          <a:effectLst>
            <a:outerShdw sx="100000" sy="100000" kx="0" ky="0" algn="bl" rotWithShape="0" blurRad="101600" dist="12700" dir="5400000">
              <a:srgbClr val="8CA0B3">
                <a:alpha val="10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4983480" y="1481328"/>
            <a:ext cx="3429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B9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Grows when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4983480" y="1737360"/>
            <a:ext cx="3429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140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roi clears the threshold — 1.25 by default — and the host has headroom to give.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754880" y="2395728"/>
            <a:ext cx="3840480" cy="1243584"/>
          </a:xfrm>
          <a:prstGeom prst="roundRect">
            <a:avLst>
              <a:gd name="adj" fmla="val 4412"/>
            </a:avLst>
          </a:prstGeom>
          <a:solidFill>
            <a:srgbClr val="FBE9D4"/>
          </a:solidFill>
          <a:ln w="12700">
            <a:solidFill>
              <a:srgbClr val="FBE9D4"/>
            </a:solidFill>
            <a:prstDash val="solid"/>
          </a:ln>
          <a:effectLst>
            <a:outerShdw sx="100000" sy="100000" kx="0" ky="0" algn="bl" rotWithShape="0" blurRad="101600" dist="12700" dir="5400000">
              <a:srgbClr val="8CA0B3">
                <a:alpha val="10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4983480" y="2505456"/>
            <a:ext cx="3429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D97A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Shrinks only when all three hold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4983480" y="2779776"/>
            <a:ext cx="3429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3140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pool utilisation below 0.55</a:t>
            </a:r>
            <a:endParaRPr lang="en-US" sz="10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3140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has actually seen evictions</a:t>
            </a:r>
            <a:endParaRPr lang="en-US" sz="10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3140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least 5,000 requests observed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48640" y="3794760"/>
            <a:ext cx="8046720" cy="960120"/>
          </a:xfrm>
          <a:prstGeom prst="roundRect">
            <a:avLst>
              <a:gd name="adj" fmla="val 5714"/>
            </a:avLst>
          </a:prstGeom>
          <a:solidFill>
            <a:srgbClr val="F1F4F7"/>
          </a:solidFill>
          <a:ln w="12700">
            <a:solidFill>
              <a:srgbClr val="F1F4F7"/>
            </a:solidFill>
            <a:prstDash val="solid"/>
          </a:ln>
          <a:effectLst>
            <a:outerShdw sx="100000" sy="100000" kx="0" ky="0" algn="bl" rotWithShape="0" blurRad="101600" dist="12700" dir="5400000">
              <a:srgbClr val="8CA0B3">
                <a:alpha val="10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804672" y="3913632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41A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cache that grows whenever it is full is not scaling. It is failing to evict.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804672" y="4242816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140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three-part shrink guard is what stops the controller mistaking a cold cache for an oversized one: an empty pool is under-utilised and has evicted nothing, and neither fact is evidence that the memory is unwanted.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8321040" y="4864608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B9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41A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stream, ten policies, identical prices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02920" y="1298448"/>
          <a:ext cx="502920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715000" y="1371600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41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vs the strongest baseline, per scenario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5715000" y="1719072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140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steady_zipf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7772400" y="1719072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B9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+22.0%</a:t>
            </a:r>
            <a:endParaRPr lang="en-US" sz="1050" dirty="0"/>
          </a:p>
        </p:txBody>
      </p:sp>
      <p:sp>
        <p:nvSpPr>
          <p:cNvPr id="8" name="Text 5"/>
          <p:cNvSpPr txBox="1"/>
          <p:nvPr/>
        </p:nvSpPr>
        <p:spPr>
          <a:xfrm>
            <a:off x="5715000" y="20482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140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flash_crowd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7772400" y="20482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B9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+15.2%</a:t>
            </a:r>
            <a:endParaRPr lang="en-US" sz="1050" dirty="0"/>
          </a:p>
        </p:txBody>
      </p:sp>
      <p:sp>
        <p:nvSpPr>
          <p:cNvPr id="10" name="Text 7"/>
          <p:cNvSpPr txBox="1"/>
          <p:nvPr/>
        </p:nvSpPr>
        <p:spPr>
          <a:xfrm>
            <a:off x="5715000" y="237744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140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shifting_popularity</a:t>
            </a:r>
            <a:endParaRPr lang="en-US" sz="1000" dirty="0"/>
          </a:p>
        </p:txBody>
      </p:sp>
      <p:sp>
        <p:nvSpPr>
          <p:cNvPr id="11" name="Text 8"/>
          <p:cNvSpPr txBox="1"/>
          <p:nvPr/>
        </p:nvSpPr>
        <p:spPr>
          <a:xfrm>
            <a:off x="7772400" y="2377440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B9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+6.0%</a:t>
            </a:r>
            <a:endParaRPr lang="en-US" sz="1050" dirty="0"/>
          </a:p>
        </p:txBody>
      </p:sp>
      <p:sp>
        <p:nvSpPr>
          <p:cNvPr id="12" name="Text 9"/>
          <p:cNvSpPr txBox="1"/>
          <p:nvPr/>
        </p:nvSpPr>
        <p:spPr>
          <a:xfrm>
            <a:off x="5715000" y="2706624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140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expensive_tail</a:t>
            </a:r>
            <a:endParaRPr lang="en-US" sz="1000" dirty="0"/>
          </a:p>
        </p:txBody>
      </p:sp>
      <p:sp>
        <p:nvSpPr>
          <p:cNvPr id="13" name="Text 10"/>
          <p:cNvSpPr txBox="1"/>
          <p:nvPr/>
        </p:nvSpPr>
        <p:spPr>
          <a:xfrm>
            <a:off x="7772400" y="2706624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B9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+4.9%</a:t>
            </a:r>
            <a:endParaRPr lang="en-US" sz="1050" dirty="0"/>
          </a:p>
        </p:txBody>
      </p:sp>
      <p:sp>
        <p:nvSpPr>
          <p:cNvPr id="14" name="Text 11"/>
          <p:cNvSpPr txBox="1"/>
          <p:nvPr/>
        </p:nvSpPr>
        <p:spPr>
          <a:xfrm>
            <a:off x="5715000" y="3035808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140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scan_resistance</a:t>
            </a:r>
            <a:endParaRPr lang="en-US" sz="1000" dirty="0"/>
          </a:p>
        </p:txBody>
      </p:sp>
      <p:sp>
        <p:nvSpPr>
          <p:cNvPr id="15" name="Text 12"/>
          <p:cNvSpPr txBox="1"/>
          <p:nvPr/>
        </p:nvSpPr>
        <p:spPr>
          <a:xfrm>
            <a:off x="7772400" y="3035808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B9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+1.5%</a:t>
            </a:r>
            <a:endParaRPr lang="en-US" sz="1050" dirty="0"/>
          </a:p>
        </p:txBody>
      </p:sp>
      <p:sp>
        <p:nvSpPr>
          <p:cNvPr id="16" name="Text 13"/>
          <p:cNvSpPr txBox="1"/>
          <p:nvPr/>
        </p:nvSpPr>
        <p:spPr>
          <a:xfrm>
            <a:off x="5715000" y="3364992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140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mixed_production</a:t>
            </a:r>
            <a:endParaRPr lang="en-US" sz="1000" dirty="0"/>
          </a:p>
        </p:txBody>
      </p:sp>
      <p:sp>
        <p:nvSpPr>
          <p:cNvPr id="17" name="Text 14"/>
          <p:cNvSpPr txBox="1"/>
          <p:nvPr/>
        </p:nvSpPr>
        <p:spPr>
          <a:xfrm>
            <a:off x="7772400" y="3364992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B34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−0.99%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5715000" y="3675888"/>
            <a:ext cx="2880360" cy="1005840"/>
          </a:xfrm>
          <a:prstGeom prst="roundRect">
            <a:avLst>
              <a:gd name="adj" fmla="val 5455"/>
            </a:avLst>
          </a:prstGeom>
          <a:solidFill>
            <a:srgbClr val="F1F4F7"/>
          </a:solidFill>
          <a:ln w="12700">
            <a:solidFill>
              <a:srgbClr val="F1F4F7"/>
            </a:solidFill>
            <a:prstDash val="solid"/>
          </a:ln>
          <a:effectLst>
            <a:outerShdw sx="100000" sy="100000" kx="0" ky="0" algn="bl" rotWithShape="0" blurRad="101600" dist="12700" dir="5400000">
              <a:srgbClr val="8CA0B3">
                <a:alpha val="10000"/>
              </a:srgbClr>
            </a:outerShdw>
          </a:effectLst>
        </p:spPr>
      </p:sp>
      <p:sp>
        <p:nvSpPr>
          <p:cNvPr id="19" name="Text 16"/>
          <p:cNvSpPr txBox="1"/>
          <p:nvPr/>
        </p:nvSpPr>
        <p:spPr>
          <a:xfrm>
            <a:off x="5897880" y="3785616"/>
            <a:ext cx="2560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41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Against the three the brief names</a:t>
            </a:r>
            <a:endParaRPr lang="en-US" sz="950" dirty="0"/>
          </a:p>
        </p:txBody>
      </p:sp>
      <p:sp>
        <p:nvSpPr>
          <p:cNvPr id="20" name="Text 17"/>
          <p:cNvSpPr txBox="1"/>
          <p:nvPr/>
        </p:nvSpPr>
        <p:spPr>
          <a:xfrm>
            <a:off x="5897880" y="4041648"/>
            <a:ext cx="25603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1B9C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LRU  +5.4% to +35.7%</a:t>
            </a:r>
            <a:endParaRPr lang="en-US" sz="9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1B9C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LFU  +1.2% to +25.1%</a:t>
            </a:r>
            <a:endParaRPr lang="en-US" sz="9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1B9C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GDS  +5.1% to +36.3%</a:t>
            </a:r>
            <a:endParaRPr lang="en-US" sz="950" dirty="0"/>
          </a:p>
        </p:txBody>
      </p:sp>
      <p:sp>
        <p:nvSpPr>
          <p:cNvPr id="21" name="Text 18"/>
          <p:cNvSpPr txBox="1"/>
          <p:nvPr/>
        </p:nvSpPr>
        <p:spPr>
          <a:xfrm>
            <a:off x="8321040" y="4864608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B34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BENCHMARK DOES NOT SAY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41A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the margin actually comes from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3931920" cy="1600200"/>
          </a:xfrm>
          <a:prstGeom prst="roundRect">
            <a:avLst>
              <a:gd name="adj" fmla="val 3429"/>
            </a:avLst>
          </a:prstGeom>
          <a:solidFill>
            <a:srgbClr val="F7E2DE"/>
          </a:solidFill>
          <a:ln w="12700">
            <a:solidFill>
              <a:srgbClr val="F7E2DE"/>
            </a:solidFill>
            <a:prstDash val="solid"/>
          </a:ln>
          <a:effectLst>
            <a:outerShdw sx="100000" sy="100000" kx="0" ky="0" algn="bl" rotWithShape="0" blurRad="101600" dist="12700" dir="5400000">
              <a:srgbClr val="8CA0B3">
                <a:alpha val="10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04672" y="1572768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34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AURA ran a larger pool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804672" y="1865376"/>
            <a:ext cx="34747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140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512 MB against every baseline’s 128 MB. It is charged for every byte at the same price, integrated over time — but at this timescale holding cost is ~$0.0001, so memory is nearly free and taking it is rational.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663440" y="1417320"/>
            <a:ext cx="3931920" cy="1600200"/>
          </a:xfrm>
          <a:prstGeom prst="roundRect">
            <a:avLst>
              <a:gd name="adj" fmla="val 3429"/>
            </a:avLst>
          </a:prstGeom>
          <a:solidFill>
            <a:srgbClr val="F1F4F7"/>
          </a:solidFill>
          <a:ln w="12700">
            <a:solidFill>
              <a:srgbClr val="F1F4F7"/>
            </a:solidFill>
            <a:prstDash val="solid"/>
          </a:ln>
          <a:effectLst>
            <a:outerShdw sx="100000" sy="100000" kx="0" ky="0" algn="bl" rotWithShape="0" blurRad="101600" dist="12700" dir="5400000">
              <a:srgbClr val="8CA0B3">
                <a:alpha val="10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4919472" y="1572768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1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equal memory, we lose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4919472" y="1865376"/>
            <a:ext cx="34747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140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engine with a fixed 128 MB pool is behind the best baseline on four of six scenarios. So the ranking model is not yet what wins — the capacity controller is.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324612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1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we are showing you this ourselves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3566160"/>
            <a:ext cx="8046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3140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Deciding how much memory to rent is a real contribution — no classical policy has any mechanism for it, and ours argues in dollars per hour. But “we win” and “we win at equal memory” are different claims, and a benchmark that quietly conflates them is not evidence. The fix is one line: cap the controller at the baselines’ budget so it may shrink but never exceed. We would rather report the split than have it found.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8321040" y="4864608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B9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CORRECTNESS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41A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Validity is checked before value — always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3611880" cy="1417320"/>
          </a:xfrm>
          <a:prstGeom prst="roundRect">
            <a:avLst>
              <a:gd name="adj" fmla="val 3226"/>
            </a:avLst>
          </a:prstGeom>
          <a:solidFill>
            <a:srgbClr val="141A24"/>
          </a:solidFill>
          <a:ln w="12700">
            <a:solidFill>
              <a:srgbClr val="141A2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49808" y="1517904"/>
            <a:ext cx="3209544" cy="1124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75"/>
              </a:lnSpc>
              <a:buNone/>
            </a:pPr>
            <a:r>
              <a:rPr lang="en-US" sz="105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request</a:t>
            </a:r>
            <a:endParaRPr lang="en-US" sz="1050" dirty="0"/>
          </a:p>
          <a:p>
            <a:pPr indent="0" marL="0">
              <a:lnSpc>
                <a:spcPts val="1575"/>
              </a:lnSpc>
              <a:buNone/>
            </a:pPr>
            <a:r>
              <a:rPr lang="en-US" sz="105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↓</a:t>
            </a:r>
            <a:endParaRPr lang="en-US" sz="1050" dirty="0"/>
          </a:p>
          <a:p>
            <a:pPr indent="0" marL="0">
              <a:lnSpc>
                <a:spcPts val="1575"/>
              </a:lnSpc>
              <a:buNone/>
            </a:pPr>
            <a:r>
              <a:rPr lang="en-US" sz="105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still valid? ─no→ go to origin</a:t>
            </a:r>
            <a:endParaRPr lang="en-US" sz="1050" dirty="0"/>
          </a:p>
          <a:p>
            <a:pPr indent="0" marL="0">
              <a:lnSpc>
                <a:spcPts val="1575"/>
              </a:lnSpc>
              <a:buNone/>
            </a:pPr>
            <a:r>
              <a:rPr lang="en-US" sz="105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↓ yes</a:t>
            </a:r>
            <a:endParaRPr lang="en-US" sz="1050" dirty="0"/>
          </a:p>
          <a:p>
            <a:pPr indent="0" marL="0">
              <a:lnSpc>
                <a:spcPts val="1575"/>
              </a:lnSpc>
              <a:buNone/>
            </a:pPr>
            <a:r>
              <a:rPr lang="en-US" sz="105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worth keeping?  ← ML + economics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4434840" y="1371600"/>
            <a:ext cx="41605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3140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cache that serves ₹40 after the database says ₹20 is not a fast cache, it is a wrong one. No score is high enough to buy a wrong answer, so the freshness check consults neither the model nor the economics.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48640" y="2999232"/>
            <a:ext cx="3931920" cy="896112"/>
          </a:xfrm>
          <a:prstGeom prst="roundRect">
            <a:avLst>
              <a:gd name="adj" fmla="val 6122"/>
            </a:avLst>
          </a:prstGeom>
          <a:solidFill>
            <a:srgbClr val="F1F4F7"/>
          </a:solidFill>
          <a:ln w="12700">
            <a:solidFill>
              <a:srgbClr val="F1F4F7"/>
            </a:solidFill>
            <a:prstDash val="solid"/>
          </a:ln>
          <a:effectLst>
            <a:outerShdw sx="100000" sy="100000" kx="0" ky="0" algn="bl" rotWithShape="0" blurRad="101600" dist="12700" dir="5400000">
              <a:srgbClr val="8CA0B3">
                <a:alpha val="10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731520" y="3090672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9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Dependency tags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731520" y="3328416"/>
            <a:ext cx="358444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50"/>
              </a:lnSpc>
              <a:buNone/>
            </a:pPr>
            <a:r>
              <a:rPr lang="en-US" sz="900" dirty="0">
                <a:solidFill>
                  <a:srgbClr val="3140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object declares what it was derived from — row:product:1292. One write invalidates every object downstream, however many, whoever built them.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663440" y="2999232"/>
            <a:ext cx="3931920" cy="896112"/>
          </a:xfrm>
          <a:prstGeom prst="roundRect">
            <a:avLst>
              <a:gd name="adj" fmla="val 6122"/>
            </a:avLst>
          </a:prstGeom>
          <a:solidFill>
            <a:srgbClr val="F1F4F7"/>
          </a:solidFill>
          <a:ln w="12700">
            <a:solidFill>
              <a:srgbClr val="F1F4F7"/>
            </a:solidFill>
            <a:prstDash val="solid"/>
          </a:ln>
          <a:effectLst>
            <a:outerShdw sx="100000" sy="100000" kx="0" ky="0" algn="bl" rotWithShape="0" blurRad="101600" dist="12700" dir="5400000">
              <a:srgbClr val="8CA0B3">
                <a:alpha val="10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4846320" y="3090672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9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Namespace versions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846320" y="3328416"/>
            <a:ext cx="358444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50"/>
              </a:lnSpc>
              <a:buNone/>
            </a:pPr>
            <a:r>
              <a:rPr lang="en-US" sz="900" dirty="0">
                <a:solidFill>
                  <a:srgbClr val="3140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model redeploy bumps a version. Nothing is deleted; the old generation ages out. Flushing instead would send the whole miss stream at the origin.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548640" y="3931920"/>
            <a:ext cx="3931920" cy="896112"/>
          </a:xfrm>
          <a:prstGeom prst="roundRect">
            <a:avLst>
              <a:gd name="adj" fmla="val 6122"/>
            </a:avLst>
          </a:prstGeom>
          <a:solidFill>
            <a:srgbClr val="F1F4F7"/>
          </a:solidFill>
          <a:ln w="12700">
            <a:solidFill>
              <a:srgbClr val="F1F4F7"/>
            </a:solidFill>
            <a:prstDash val="solid"/>
          </a:ln>
          <a:effectLst>
            <a:outerShdw sx="100000" sy="100000" kx="0" ky="0" algn="bl" rotWithShape="0" blurRad="101600" dist="12700" dir="5400000">
              <a:srgbClr val="8CA0B3">
                <a:alpha val="10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731520" y="4023360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9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 / hard TTL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731520" y="4261104"/>
            <a:ext cx="358444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50"/>
              </a:lnSpc>
              <a:buNone/>
            </a:pPr>
            <a:r>
              <a:rPr lang="en-US" sz="900" dirty="0">
                <a:solidFill>
                  <a:srgbClr val="3140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the soft threshold an object is served once while a rebuild runs behind the reader — which is what stops a popular key becoming a stampede at expiry.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4663440" y="3931920"/>
            <a:ext cx="3931920" cy="896112"/>
          </a:xfrm>
          <a:prstGeom prst="roundRect">
            <a:avLst>
              <a:gd name="adj" fmla="val 6122"/>
            </a:avLst>
          </a:prstGeom>
          <a:solidFill>
            <a:srgbClr val="F1F4F7"/>
          </a:solidFill>
          <a:ln w="12700">
            <a:solidFill>
              <a:srgbClr val="F1F4F7"/>
            </a:solidFill>
            <a:prstDash val="solid"/>
          </a:ln>
          <a:effectLst>
            <a:outerShdw sx="100000" sy="100000" kx="0" ky="0" algn="bl" rotWithShape="0" blurRad="101600" dist="12700" dir="5400000">
              <a:srgbClr val="8CA0B3">
                <a:alpha val="10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4846320" y="4023360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9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Single-flight lease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4846320" y="4261104"/>
            <a:ext cx="358444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50"/>
              </a:lnSpc>
              <a:buNone/>
            </a:pPr>
            <a:r>
              <a:rPr lang="en-US" sz="900" dirty="0">
                <a:solidFill>
                  <a:srgbClr val="3140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a miss, exactly one caller is told to rebuild; the rest are told who is doing it. A flash crowd on a cold key makes one origin call.</a:t>
            </a:r>
            <a:endParaRPr lang="en-US" sz="900" dirty="0"/>
          </a:p>
        </p:txBody>
      </p:sp>
      <p:sp>
        <p:nvSpPr>
          <p:cNvPr id="19" name="Text 17"/>
          <p:cNvSpPr txBox="1"/>
          <p:nvPr/>
        </p:nvSpPr>
        <p:spPr>
          <a:xfrm>
            <a:off x="8321040" y="4864608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B9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CACHE TOPOLOGY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41A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tiers, and the fast one is deliberately stupid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3931920" cy="1463040"/>
          </a:xfrm>
          <a:prstGeom prst="roundRect">
            <a:avLst>
              <a:gd name="adj" fmla="val 3750"/>
            </a:avLst>
          </a:prstGeom>
          <a:solidFill>
            <a:srgbClr val="F1F4F7"/>
          </a:solidFill>
          <a:ln w="12700">
            <a:solidFill>
              <a:srgbClr val="F1F4F7"/>
            </a:solidFill>
            <a:prstDash val="solid"/>
          </a:ln>
          <a:effectLst>
            <a:outerShdw sx="100000" sy="100000" kx="0" ky="0" algn="bl" rotWithShape="0" blurRad="101600" dist="12700" dir="5400000">
              <a:srgbClr val="8CA0B3">
                <a:alpha val="10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04672" y="1499616"/>
            <a:ext cx="3474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41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L1 — inside each application process</a:t>
            </a:r>
            <a:endParaRPr lang="en-US" sz="1150" dirty="0"/>
          </a:p>
        </p:txBody>
      </p:sp>
      <p:sp>
        <p:nvSpPr>
          <p:cNvPr id="6" name="Text 4"/>
          <p:cNvSpPr txBox="1"/>
          <p:nvPr/>
        </p:nvSpPr>
        <p:spPr>
          <a:xfrm>
            <a:off x="804672" y="1773936"/>
            <a:ext cx="34747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140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plain LRU in Python (apps/common/l1.py), byte-capped, with a TTL that is never longer than 5 seconds. What it removes is a network round trip.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663440" y="1371600"/>
            <a:ext cx="3931920" cy="1463040"/>
          </a:xfrm>
          <a:prstGeom prst="roundRect">
            <a:avLst>
              <a:gd name="adj" fmla="val 3750"/>
            </a:avLst>
          </a:prstGeom>
          <a:solidFill>
            <a:srgbClr val="D9F0EB"/>
          </a:solidFill>
          <a:ln w="12700">
            <a:solidFill>
              <a:srgbClr val="D9F0EB"/>
            </a:solidFill>
            <a:prstDash val="solid"/>
          </a:ln>
          <a:effectLst>
            <a:outerShdw sx="100000" sy="100000" kx="0" ky="0" algn="bl" rotWithShape="0" blurRad="101600" dist="12700" dir="5400000">
              <a:srgbClr val="8CA0B3">
                <a:alpha val="10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4919472" y="1499616"/>
            <a:ext cx="3474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B9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L2 — the AURA engine, shared by the fleet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4919472" y="1773936"/>
            <a:ext cx="34747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140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removes is a rebuild, and it protects the origin across every process at once. Only L2 sees the whole fleet’s demand, so only L2 can reason about value.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548640" y="2944368"/>
            <a:ext cx="8046720" cy="621792"/>
          </a:xfrm>
          <a:prstGeom prst="roundRect">
            <a:avLst>
              <a:gd name="adj" fmla="val 8824"/>
            </a:avLst>
          </a:prstGeom>
          <a:solidFill>
            <a:srgbClr val="FBE9D4"/>
          </a:solidFill>
          <a:ln w="12700">
            <a:solidFill>
              <a:srgbClr val="FBE9D4"/>
            </a:solidFill>
            <a:prstDash val="solid"/>
          </a:ln>
          <a:effectLst>
            <a:outerShdw sx="100000" sy="100000" kx="0" ky="0" algn="bl" rotWithShape="0" blurRad="101600" dist="12700" dir="5400000">
              <a:srgbClr val="8CA0B3">
                <a:alpha val="10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804672" y="3072384"/>
            <a:ext cx="7589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140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L1 does no scoring on purpose: two adaptive policies competing over the same objects would make every measurement ambiguous — neither could be credited for what it saved.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566928" y="3712464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9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L1-eligible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1965960" y="3712464"/>
            <a:ext cx="6629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140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immutable · time_bound · user_state — an object may be held in L1 only if it can tolerate being wrong for a few seconds.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566928" y="4133088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97A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L2 only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1965960" y="4133088"/>
            <a:ext cx="6629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140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write_bound — a price, a balance, a permission. Anything declared with depends_on row tags defaults to write_bound automatically.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566928" y="457200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Invalidating L2 is one message to one service. Invalidating L1 means reaching every process that might hold a copy.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8321040" y="4864608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B9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INTEGRATION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41A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it sits, and what it costs to adopt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325880"/>
            <a:ext cx="2377440" cy="713232"/>
          </a:xfrm>
          <a:prstGeom prst="roundRect">
            <a:avLst>
              <a:gd name="adj" fmla="val 7692"/>
            </a:avLst>
          </a:prstGeom>
          <a:solidFill>
            <a:srgbClr val="1E2933"/>
          </a:solidFill>
          <a:ln w="12700">
            <a:solidFill>
              <a:srgbClr val="1E293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325880"/>
            <a:ext cx="23774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2999232" y="1572768"/>
            <a:ext cx="310896" cy="219456"/>
          </a:xfrm>
          <a:prstGeom prst="rightArrow">
            <a:avLst/>
          </a:prstGeom>
          <a:solidFill>
            <a:srgbClr val="D8DFE6"/>
          </a:solidFill>
          <a:ln w="12700">
            <a:solidFill>
              <a:srgbClr val="D8DFE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383280" y="1325880"/>
            <a:ext cx="2377440" cy="713232"/>
          </a:xfrm>
          <a:prstGeom prst="roundRect">
            <a:avLst>
              <a:gd name="adj" fmla="val 7692"/>
            </a:avLst>
          </a:prstGeom>
          <a:solidFill>
            <a:srgbClr val="1B9C86"/>
          </a:solidFill>
          <a:ln w="12700">
            <a:solidFill>
              <a:srgbClr val="1B9C8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383280" y="1325880"/>
            <a:ext cx="23774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AURA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833872" y="1572768"/>
            <a:ext cx="310896" cy="219456"/>
          </a:xfrm>
          <a:prstGeom prst="rightArrow">
            <a:avLst/>
          </a:prstGeom>
          <a:solidFill>
            <a:srgbClr val="D8DFE6"/>
          </a:solidFill>
          <a:ln w="12700">
            <a:solidFill>
              <a:srgbClr val="D8DFE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217920" y="1325880"/>
            <a:ext cx="2377440" cy="713232"/>
          </a:xfrm>
          <a:prstGeom prst="roundRect">
            <a:avLst>
              <a:gd name="adj" fmla="val 7692"/>
            </a:avLst>
          </a:prstGeom>
          <a:solidFill>
            <a:srgbClr val="6B7C8C"/>
          </a:solidFill>
          <a:ln w="12700">
            <a:solidFill>
              <a:srgbClr val="6B7C8C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217920" y="1325880"/>
            <a:ext cx="23774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(Postgres / GPU / API)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2103120"/>
            <a:ext cx="5212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1B9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hit → nothing downstream is touched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48640" y="2487168"/>
            <a:ext cx="4892040" cy="1481328"/>
          </a:xfrm>
          <a:prstGeom prst="roundRect">
            <a:avLst>
              <a:gd name="adj" fmla="val 3086"/>
            </a:avLst>
          </a:prstGeom>
          <a:solidFill>
            <a:srgbClr val="141A24"/>
          </a:solidFill>
          <a:ln w="12700">
            <a:solidFill>
              <a:srgbClr val="141A2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49808" y="2633472"/>
            <a:ext cx="448970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 = await client.get_or_regen(</a:t>
            </a:r>
            <a:endParaRPr lang="en-US" sz="10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key="analytics:revenue:mumbai:30d",</a:t>
            </a:r>
            <a:endParaRPr lang="en-US" sz="10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object_type="dashboard_query",</a:t>
            </a:r>
            <a:endParaRPr lang="en-US" sz="10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ttl_ms=600_000,</a:t>
            </a:r>
            <a:endParaRPr lang="en-US" sz="10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regen=load_revenue,          # your function</a:t>
            </a:r>
            <a:endParaRPr lang="en-US" sz="10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5715000" y="2487168"/>
            <a:ext cx="2880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9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 is the entire integration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5715000" y="2798064"/>
            <a:ext cx="2880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3140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SDK measures what your rebuild actually cost — CPU, GPU, DB, bytes, API dollars — and hands that measurement to the cache. Nothing else changes.</a:t>
            </a:r>
            <a:endParaRPr lang="en-US" sz="1000" dirty="0"/>
          </a:p>
          <a:p>
            <a:pPr indent="0" marL="0">
              <a:lnSpc>
                <a:spcPts val="1350"/>
              </a:lnSpc>
              <a:buNone/>
            </a:pPr>
            <a:endParaRPr lang="en-US" sz="10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3140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cache never learns what a “recommendation” is. It only ever sees an ObjectContext.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48640" y="4069080"/>
            <a:ext cx="8046720" cy="640080"/>
          </a:xfrm>
          <a:prstGeom prst="roundRect">
            <a:avLst>
              <a:gd name="adj" fmla="val 8571"/>
            </a:avLst>
          </a:prstGeom>
          <a:solidFill>
            <a:srgbClr val="F1F4F7"/>
          </a:solidFill>
          <a:ln w="12700">
            <a:solidFill>
              <a:srgbClr val="F1F4F7"/>
            </a:solidFill>
            <a:prstDash val="solid"/>
          </a:ln>
          <a:effectLst>
            <a:outerShdw sx="100000" sy="100000" kx="0" ky="0" algn="bl" rotWithShape="0" blurRad="101600" dist="12700" dir="5400000">
              <a:srgbClr val="8CA0B3">
                <a:alpha val="10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804672" y="4187952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140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Deployed today: engine on Render (Docker, auth enforced), console on Vercel, Supabase as control plane only — model registry, benchmark results, audit log. Never on the request path.</a:t>
            </a:r>
            <a:endParaRPr lang="en-US" sz="1050" dirty="0"/>
          </a:p>
        </p:txBody>
      </p:sp>
      <p:sp>
        <p:nvSpPr>
          <p:cNvPr id="19" name="Text 17"/>
          <p:cNvSpPr txBox="1"/>
          <p:nvPr/>
        </p:nvSpPr>
        <p:spPr>
          <a:xfrm>
            <a:off x="8321040" y="4864608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B9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DASHBOARD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141A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evidence tab: six charts, six questions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325880"/>
            <a:ext cx="2560320" cy="1298448"/>
          </a:xfrm>
          <a:prstGeom prst="roundRect">
            <a:avLst>
              <a:gd name="adj" fmla="val 4225"/>
            </a:avLst>
          </a:prstGeom>
          <a:solidFill>
            <a:srgbClr val="F1F4F7"/>
          </a:solidFill>
          <a:ln w="12700">
            <a:solidFill>
              <a:srgbClr val="F1F4F7"/>
            </a:solidFill>
            <a:prstDash val="solid"/>
          </a:ln>
          <a:effectLst>
            <a:outerShdw sx="100000" sy="100000" kx="0" ky="0" algn="bl" rotWithShape="0" blurRad="101600" dist="12700" dir="5400000">
              <a:srgbClr val="8CA0B3">
                <a:alpha val="10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31520" y="1453896"/>
            <a:ext cx="22128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b="1" dirty="0">
                <a:solidFill>
                  <a:srgbClr val="D97A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Offered vs arriving load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1837944"/>
            <a:ext cx="223113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50"/>
              </a:lnSpc>
              <a:buNone/>
            </a:pPr>
            <a:r>
              <a:rPr lang="en-US" sz="900" dirty="0">
                <a:solidFill>
                  <a:srgbClr val="3140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lines. A disturbance is the gap between them.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291840" y="1325880"/>
            <a:ext cx="2560320" cy="1298448"/>
          </a:xfrm>
          <a:prstGeom prst="roundRect">
            <a:avLst>
              <a:gd name="adj" fmla="val 4225"/>
            </a:avLst>
          </a:prstGeom>
          <a:solidFill>
            <a:srgbClr val="F1F4F7"/>
          </a:solidFill>
          <a:ln w="12700">
            <a:solidFill>
              <a:srgbClr val="F1F4F7"/>
            </a:solidFill>
            <a:prstDash val="solid"/>
          </a:ln>
          <a:effectLst>
            <a:outerShdw sx="100000" sy="100000" kx="0" ky="0" algn="bl" rotWithShape="0" blurRad="101600" dist="12700" dir="5400000">
              <a:srgbClr val="8CA0B3">
                <a:alpha val="10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3474720" y="1453896"/>
            <a:ext cx="22128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b="1" dirty="0">
                <a:solidFill>
                  <a:srgbClr val="1B9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Admissions, refusals, evictions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3474720" y="1837944"/>
            <a:ext cx="223113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50"/>
              </a:lnSpc>
              <a:buNone/>
            </a:pPr>
            <a:r>
              <a:rPr lang="en-US" sz="900" dirty="0">
                <a:solidFill>
                  <a:srgbClr val="3140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tick, differenced from cumulative counters. Refusals rising while evictions stay flat is the admission gate declining objects instead of throwing better ones out.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6035040" y="1325880"/>
            <a:ext cx="2560320" cy="1298448"/>
          </a:xfrm>
          <a:prstGeom prst="roundRect">
            <a:avLst>
              <a:gd name="adj" fmla="val 4225"/>
            </a:avLst>
          </a:prstGeom>
          <a:solidFill>
            <a:srgbClr val="F1F4F7"/>
          </a:solidFill>
          <a:ln w="12700">
            <a:solidFill>
              <a:srgbClr val="F1F4F7"/>
            </a:solidFill>
            <a:prstDash val="solid"/>
          </a:ln>
          <a:effectLst>
            <a:outerShdw sx="100000" sy="100000" kx="0" ky="0" algn="bl" rotWithShape="0" blurRad="101600" dist="12700" dir="5400000">
              <a:srgbClr val="8CA0B3">
                <a:alpha val="10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6217920" y="1453896"/>
            <a:ext cx="22128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b="1" dirty="0">
                <a:solidFill>
                  <a:srgbClr val="1B9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Running cost vs shadow caches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6217920" y="1837944"/>
            <a:ext cx="223113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50"/>
              </a:lnSpc>
              <a:buNone/>
            </a:pPr>
            <a:r>
              <a:rPr lang="en-US" sz="900" dirty="0">
                <a:solidFill>
                  <a:srgbClr val="3140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LRU, LFU and GDS run live on the same traffic and are charged the same prices.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548640" y="2697480"/>
            <a:ext cx="2560320" cy="1298448"/>
          </a:xfrm>
          <a:prstGeom prst="roundRect">
            <a:avLst>
              <a:gd name="adj" fmla="val 4225"/>
            </a:avLst>
          </a:prstGeom>
          <a:solidFill>
            <a:srgbClr val="F1F4F7"/>
          </a:solidFill>
          <a:ln w="12700">
            <a:solidFill>
              <a:srgbClr val="F1F4F7"/>
            </a:solidFill>
            <a:prstDash val="solid"/>
          </a:ln>
          <a:effectLst>
            <a:outerShdw sx="100000" sy="100000" kx="0" ky="0" algn="bl" rotWithShape="0" blurRad="101600" dist="12700" dir="5400000">
              <a:srgbClr val="8CA0B3">
                <a:alpha val="10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731520" y="2825496"/>
            <a:ext cx="22128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b="1" dirty="0">
                <a:solidFill>
                  <a:srgbClr val="D97A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Pool size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731520" y="3209544"/>
            <a:ext cx="223113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50"/>
              </a:lnSpc>
              <a:buNone/>
            </a:pPr>
            <a:r>
              <a:rPr lang="en-US" sz="900" dirty="0">
                <a:solidFill>
                  <a:srgbClr val="3140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whole curve, with every scale decision marked on it.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3291840" y="2697480"/>
            <a:ext cx="2560320" cy="1298448"/>
          </a:xfrm>
          <a:prstGeom prst="roundRect">
            <a:avLst>
              <a:gd name="adj" fmla="val 4225"/>
            </a:avLst>
          </a:prstGeom>
          <a:solidFill>
            <a:srgbClr val="F1F4F7"/>
          </a:solidFill>
          <a:ln w="12700">
            <a:solidFill>
              <a:srgbClr val="F1F4F7"/>
            </a:solidFill>
            <a:prstDash val="solid"/>
          </a:ln>
          <a:effectLst>
            <a:outerShdw sx="100000" sy="100000" kx="0" ky="0" algn="bl" rotWithShape="0" blurRad="101600" dist="12700" dir="5400000">
              <a:srgbClr val="8CA0B3">
                <a:alpha val="10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3474720" y="2825496"/>
            <a:ext cx="22128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b="1" dirty="0">
                <a:solidFill>
                  <a:srgbClr val="1B9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Bandit posterior weights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3474720" y="3209544"/>
            <a:ext cx="223113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50"/>
              </a:lnSpc>
              <a:buNone/>
            </a:pPr>
            <a:r>
              <a:rPr lang="en-US" sz="900" dirty="0">
                <a:solidFill>
                  <a:srgbClr val="3140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stacked bands over time. The shift when the workload changes IS the adaptation — and nothing about it was configured.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035040" y="2697480"/>
            <a:ext cx="2560320" cy="1298448"/>
          </a:xfrm>
          <a:prstGeom prst="roundRect">
            <a:avLst>
              <a:gd name="adj" fmla="val 4225"/>
            </a:avLst>
          </a:prstGeom>
          <a:solidFill>
            <a:srgbClr val="F1F4F7"/>
          </a:solidFill>
          <a:ln w="12700">
            <a:solidFill>
              <a:srgbClr val="F1F4F7"/>
            </a:solidFill>
            <a:prstDash val="solid"/>
          </a:ln>
          <a:effectLst>
            <a:outerShdw sx="100000" sy="100000" kx="0" ky="0" algn="bl" rotWithShape="0" blurRad="101600" dist="12700" dir="5400000">
              <a:srgbClr val="8CA0B3">
                <a:alpha val="10000"/>
              </a:srgbClr>
            </a:outerShdw>
          </a:effectLst>
        </p:spPr>
      </p:sp>
      <p:sp>
        <p:nvSpPr>
          <p:cNvPr id="20" name="Text 18"/>
          <p:cNvSpPr txBox="1"/>
          <p:nvPr/>
        </p:nvSpPr>
        <p:spPr>
          <a:xfrm>
            <a:off x="6217920" y="2825496"/>
            <a:ext cx="22128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b="1" dirty="0">
                <a:solidFill>
                  <a:srgbClr val="141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Hit rate, per tier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6217920" y="3209544"/>
            <a:ext cx="223113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50"/>
              </a:lnSpc>
              <a:buNone/>
            </a:pPr>
            <a:r>
              <a:rPr lang="en-US" sz="900" dirty="0">
                <a:solidFill>
                  <a:srgbClr val="3140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L1 and L2 reported separately, never added together.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548640" y="4142232"/>
            <a:ext cx="8046720" cy="640080"/>
          </a:xfrm>
          <a:prstGeom prst="roundRect">
            <a:avLst>
              <a:gd name="adj" fmla="val 8571"/>
            </a:avLst>
          </a:prstGeom>
          <a:solidFill>
            <a:srgbClr val="F1F4F7"/>
          </a:solidFill>
          <a:ln w="12700">
            <a:solidFill>
              <a:srgbClr val="F1F4F7"/>
            </a:solidFill>
            <a:prstDash val="solid"/>
          </a:ln>
          <a:effectLst>
            <a:outerShdw sx="100000" sy="100000" kx="0" ky="0" algn="bl" rotWithShape="0" blurRad="101600" dist="12700" dir="5400000">
              <a:srgbClr val="8CA0B3">
                <a:alpha val="10000"/>
              </a:srgbClr>
            </a:outerShdw>
          </a:effectLst>
        </p:spPr>
      </p:sp>
      <p:sp>
        <p:nvSpPr>
          <p:cNvPr id="23" name="Text 21"/>
          <p:cNvSpPr txBox="1"/>
          <p:nvPr/>
        </p:nvSpPr>
        <p:spPr>
          <a:xfrm>
            <a:off x="804672" y="4261104"/>
            <a:ext cx="7589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140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engine keeps no history — it sends a complete snapshot every frame — so these series accumulate in the browser. The charts fill as you watch; nothing is backfilled.</a:t>
            </a:r>
            <a:endParaRPr lang="en-US" sz="1050" dirty="0"/>
          </a:p>
        </p:txBody>
      </p:sp>
      <p:sp>
        <p:nvSpPr>
          <p:cNvPr id="24" name="Text 22"/>
          <p:cNvSpPr txBox="1"/>
          <p:nvPr/>
        </p:nvSpPr>
        <p:spPr>
          <a:xfrm>
            <a:off x="8321040" y="4864608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B9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REAL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41A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Said before anyone has to ask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32588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9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645920"/>
            <a:ext cx="397764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400"/>
              </a:lnSpc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3140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 engine, admission, eviction, scoring — ~3 µs p50, write path only</a:t>
            </a:r>
            <a:endParaRPr lang="en-US" sz="1050" dirty="0"/>
          </a:p>
          <a:p>
            <a:pPr marL="342900" indent="-342900">
              <a:lnSpc>
                <a:spcPts val="1400"/>
              </a:lnSpc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3140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Nine baseline policies as real implementations, not scoring stand-ins</a:t>
            </a:r>
            <a:endParaRPr lang="en-US" sz="1050" dirty="0"/>
          </a:p>
          <a:p>
            <a:pPr marL="342900" indent="-342900">
              <a:lnSpc>
                <a:spcPts val="1400"/>
              </a:lnSpc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3140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Trained GBDT model — 397,616 rows, AUC 0.94 / 0.93 / 0.88, loaded from Supabase</a:t>
            </a:r>
            <a:endParaRPr lang="en-US" sz="1050" dirty="0"/>
          </a:p>
          <a:p>
            <a:pPr marL="342900" indent="-342900">
              <a:lnSpc>
                <a:spcPts val="1400"/>
              </a:lnSpc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3140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Cached bytes held in real RAM with --real-values</a:t>
            </a:r>
            <a:endParaRPr lang="en-US" sz="1050" dirty="0"/>
          </a:p>
          <a:p>
            <a:pPr marL="342900" indent="-342900">
              <a:lnSpc>
                <a:spcPts val="1400"/>
              </a:lnSpc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3140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Consistency: tags, versions, soft TTL, single-flight, real origin rebuilds</a:t>
            </a:r>
            <a:endParaRPr lang="en-US" sz="1050" dirty="0"/>
          </a:p>
          <a:p>
            <a:pPr marL="342900" indent="-342900">
              <a:lnSpc>
                <a:spcPts val="1400"/>
              </a:lnSpc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3140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log in plain English, shipped durably and never sampling correctness events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4754880" y="132588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97A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Simulated, and we say so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4754880" y="1645920"/>
            <a:ext cx="38404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400"/>
              </a:lnSpc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3140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Traffic is a seeded generator by default — the brief permits simulated workloads</a:t>
            </a:r>
            <a:endParaRPr lang="en-US" sz="1050" dirty="0"/>
          </a:p>
          <a:p>
            <a:pPr marL="342900" indent="-342900">
              <a:lnSpc>
                <a:spcPts val="1400"/>
              </a:lnSpc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3140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Downstream tiers (Redis, CDN) are priced and simulated, not built</a:t>
            </a:r>
            <a:endParaRPr lang="en-US" sz="1050" dirty="0"/>
          </a:p>
          <a:p>
            <a:pPr marL="342900" indent="-342900">
              <a:lnSpc>
                <a:spcPts val="1400"/>
              </a:lnSpc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3140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example applications are up — apps/recommendation and apps/analytics, browsable pages driven over real HTTP by a population simulator, with L1 live in the client — but they have not yet driven a full end-to-end run against the deployed engine with an audience watching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754880" y="3703320"/>
            <a:ext cx="3840480" cy="1005840"/>
          </a:xfrm>
          <a:prstGeom prst="roundRect">
            <a:avLst>
              <a:gd name="adj" fmla="val 5455"/>
            </a:avLst>
          </a:prstGeom>
          <a:solidFill>
            <a:srgbClr val="D9F0EB"/>
          </a:solidFill>
          <a:ln w="12700">
            <a:solidFill>
              <a:srgbClr val="D9F0EB"/>
            </a:solidFill>
            <a:prstDash val="solid"/>
          </a:ln>
          <a:effectLst>
            <a:outerShdw sx="100000" sy="100000" kx="0" ky="0" algn="bl" rotWithShape="0" blurRad="101600" dist="12700" dir="5400000">
              <a:srgbClr val="8CA0B3">
                <a:alpha val="10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4974336" y="3831336"/>
            <a:ext cx="3429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9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claim here is instrumented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4974336" y="4087368"/>
            <a:ext cx="3429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3140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dashboard reports which mode it is in, and 116 engine tests — 63 in aura-core, 53 in aura-server — pin the behaviour the slides describe.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8321040" y="4864608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41A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77724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this is different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40080" y="1554480"/>
            <a:ext cx="329184" cy="329184"/>
          </a:xfrm>
          <a:prstGeom prst="ellipse">
            <a:avLst/>
          </a:prstGeom>
          <a:solidFill>
            <a:srgbClr val="1B9C86"/>
          </a:solidFill>
          <a:ln w="12700">
            <a:solidFill>
              <a:srgbClr val="1B9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15544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115568" y="1536192"/>
            <a:ext cx="3429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optimises money, not hit rate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115568" y="1847088"/>
            <a:ext cx="3383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AAA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Hit rate is a proxy. A cache can raise it while spending more, by keeping a thousand cheap objects instead of ten expensive ones.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663440" y="1554480"/>
            <a:ext cx="329184" cy="329184"/>
          </a:xfrm>
          <a:prstGeom prst="ellipse">
            <a:avLst/>
          </a:prstGeom>
          <a:solidFill>
            <a:srgbClr val="1B9C86"/>
          </a:solidFill>
          <a:ln w="12700">
            <a:solidFill>
              <a:srgbClr val="1B9C8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663440" y="15544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5138928" y="1536192"/>
            <a:ext cx="3429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adapts three ways at once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5138928" y="1847088"/>
            <a:ext cx="3383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AAA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policy mixture, the regime classifier and the capacity controller each move at runtime, on evidence, with nothing hardcoded.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40080" y="2971800"/>
            <a:ext cx="329184" cy="329184"/>
          </a:xfrm>
          <a:prstGeom prst="ellipse">
            <a:avLst/>
          </a:prstGeom>
          <a:solidFill>
            <a:srgbClr val="1B9C86"/>
          </a:solidFill>
          <a:ln w="12700">
            <a:solidFill>
              <a:srgbClr val="1B9C8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40080" y="29718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1115568" y="2953512"/>
            <a:ext cx="3429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is graded on outcomes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1115568" y="3264408"/>
            <a:ext cx="3383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AAA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decision is journalled and settled 60 s later against what actually happened — never against the score that produced it.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663440" y="2971800"/>
            <a:ext cx="329184" cy="329184"/>
          </a:xfrm>
          <a:prstGeom prst="ellipse">
            <a:avLst/>
          </a:prstGeom>
          <a:solidFill>
            <a:srgbClr val="1B9C86"/>
          </a:solidFill>
          <a:ln w="12700">
            <a:solidFill>
              <a:srgbClr val="1B9C8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663440" y="29718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5138928" y="2953512"/>
            <a:ext cx="3429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explains itself in English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5138928" y="3264408"/>
            <a:ext cx="3383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AAA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decision that costs money or touches correctness becomes a sentence with the numbers behind it.</a:t>
            </a:r>
            <a:endParaRPr lang="en-US" sz="1050" dirty="0"/>
          </a:p>
        </p:txBody>
      </p:sp>
      <p:sp>
        <p:nvSpPr>
          <p:cNvPr id="19" name="Text 17"/>
          <p:cNvSpPr txBox="1"/>
          <p:nvPr/>
        </p:nvSpPr>
        <p:spPr>
          <a:xfrm>
            <a:off x="640080" y="4443984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1B9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aura · 5 of 6 scenarios · up to 36% under the baselines the brief names</a:t>
            </a:r>
            <a:endParaRPr lang="en-US" sz="11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41A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4008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we would fix next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1207008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A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three things we would rather say ourselves than have found.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329184" cy="329184"/>
          </a:xfrm>
          <a:prstGeom prst="ellipse">
            <a:avLst/>
          </a:prstGeom>
          <a:solidFill>
            <a:srgbClr val="B3402F"/>
          </a:solidFill>
          <a:ln w="12700">
            <a:solidFill>
              <a:srgbClr val="B3402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6916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170432" y="16733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headline benchmark is not an equal-memory comparison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170432" y="196596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AAA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AURA runs a 512 MB pool against every baseline’s 128 MB. The aura_fixed control — the same engine held at equal memory — loses on four of the six scenarios. The ones it still wins are the cost-skewed scenarios, which is exactly what the scoring was built for.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640080" y="2770632"/>
            <a:ext cx="329184" cy="329184"/>
          </a:xfrm>
          <a:prstGeom prst="ellipse">
            <a:avLst/>
          </a:prstGeom>
          <a:solidFill>
            <a:srgbClr val="D97A16"/>
          </a:solidFill>
          <a:ln w="12700">
            <a:solidFill>
              <a:srgbClr val="D97A16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40080" y="277063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170432" y="275234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bandit.kind is a config knob that currently does nothing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170432" y="3044952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AAA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field reads as a choice of algorithm. There is one implementation behind it: arm selection is always Thompson sampling.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40080" y="3849624"/>
            <a:ext cx="329184" cy="329184"/>
          </a:xfrm>
          <a:prstGeom prst="ellipse">
            <a:avLst/>
          </a:prstGeom>
          <a:solidFill>
            <a:srgbClr val="D97A16"/>
          </a:solidFill>
          <a:ln w="12700">
            <a:solidFill>
              <a:srgbClr val="D97A1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0080" y="384962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170432" y="383133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first request after idle takes about 50 seconds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1170432" y="4123944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AAA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Free-tier hosting sleeps. Anything demoed cold pays that once, so the demo needs a warm-up request before anyone is watching.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658368" y="4681728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1B9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caveat a judge finds is worth far less than a caveat we hand them.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AURA — Adaptive, Application-Aware Cache Management</dc:title>
  <dc:subject>PptxGenJS Presentation</dc:subject>
  <dc:creator>officialayush23</dc:creator>
  <cp:lastModifiedBy>officialayush23</cp:lastModifiedBy>
  <cp:revision>1</cp:revision>
  <dcterms:created xsi:type="dcterms:W3CDTF">2026-09-05T07:32:10Z</dcterms:created>
  <dcterms:modified xsi:type="dcterms:W3CDTF">2026-09-05T07:32:10Z</dcterms:modified>
</cp:coreProperties>
</file>